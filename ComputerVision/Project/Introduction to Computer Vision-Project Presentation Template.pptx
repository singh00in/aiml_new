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Lst>
  <p:notesMasterIdLst>
    <p:notesMasterId r:id="rId35"/>
  </p:notesMasterIdLst>
  <p:sldIdLst>
    <p:sldId id="256" r:id="rId3"/>
    <p:sldId id="257" r:id="rId4"/>
    <p:sldId id="258" r:id="rId5"/>
    <p:sldId id="293" r:id="rId6"/>
    <p:sldId id="294" r:id="rId7"/>
    <p:sldId id="259" r:id="rId8"/>
    <p:sldId id="273" r:id="rId9"/>
    <p:sldId id="271" r:id="rId10"/>
    <p:sldId id="292" r:id="rId11"/>
    <p:sldId id="290" r:id="rId12"/>
    <p:sldId id="260" r:id="rId13"/>
    <p:sldId id="261" r:id="rId14"/>
    <p:sldId id="262" r:id="rId15"/>
    <p:sldId id="263" r:id="rId16"/>
    <p:sldId id="279" r:id="rId17"/>
    <p:sldId id="278" r:id="rId18"/>
    <p:sldId id="264" r:id="rId19"/>
    <p:sldId id="280" r:id="rId20"/>
    <p:sldId id="276" r:id="rId21"/>
    <p:sldId id="265" r:id="rId22"/>
    <p:sldId id="281" r:id="rId23"/>
    <p:sldId id="277" r:id="rId24"/>
    <p:sldId id="284" r:id="rId25"/>
    <p:sldId id="266" r:id="rId26"/>
    <p:sldId id="285" r:id="rId27"/>
    <p:sldId id="287" r:id="rId28"/>
    <p:sldId id="282" r:id="rId29"/>
    <p:sldId id="288" r:id="rId30"/>
    <p:sldId id="283" r:id="rId31"/>
    <p:sldId id="291" r:id="rId32"/>
    <p:sldId id="268" r:id="rId33"/>
    <p:sldId id="270" r:id="rId34"/>
  </p:sldIdLst>
  <p:sldSz cx="9144000" cy="5143500" type="screen16x9"/>
  <p:notesSz cx="6858000" cy="9144000"/>
  <p:embeddedFontLst>
    <p:embeddedFont>
      <p:font typeface="Century Gothic" panose="020B0502020202020204" pitchFamily="34" charset="0"/>
      <p:regular r:id="rId36"/>
      <p:bold r:id="rId37"/>
      <p:italic r:id="rId38"/>
      <p:boldItalic r:id="rId39"/>
    </p:embeddedFont>
    <p:embeddedFont>
      <p:font typeface="Montserrat" panose="00000500000000000000" pitchFamily="2" charset="0"/>
      <p:regular r:id="rId40"/>
      <p:bold r:id="rId41"/>
      <p:italic r:id="rId42"/>
      <p:boldItalic r:id="rId43"/>
    </p:embeddedFont>
    <p:embeddedFont>
      <p:font typeface="Nunito" pitchFamily="2" charset="0"/>
      <p:regular r:id="rId44"/>
      <p:bold r:id="rId45"/>
      <p:italic r:id="rId46"/>
      <p:boldItalic r:id="rId47"/>
    </p:embeddedFont>
    <p:embeddedFont>
      <p:font typeface="Nunito ExtraBold" pitchFamily="2" charset="0"/>
      <p:bold r:id="rId48"/>
      <p:boldItalic r:id="rId49"/>
    </p:embeddedFont>
    <p:embeddedFont>
      <p:font typeface="Nunito SemiBold" pitchFamily="2" charset="0"/>
      <p:bold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9E5007-AD58-4979-915D-183D673774C8}" v="426" dt="2026-01-24T21:58:33.591"/>
  </p1510:revLst>
</p1510:revInfo>
</file>

<file path=ppt/tableStyles.xml><?xml version="1.0" encoding="utf-8"?>
<a:tblStyleLst xmlns:a="http://schemas.openxmlformats.org/drawingml/2006/main" def="{A1BBC871-F89B-45A3-A074-B200C202542C}">
  <a:tblStyle styleId="{A1BBC871-F89B-45A3-A074-B200C202542C}"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244" y="2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font" Target="fonts/font16.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8.xml"/><Relationship Id="rId41" Type="http://schemas.openxmlformats.org/officeDocument/2006/relationships/font" Target="fonts/font6.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49" Type="http://schemas.openxmlformats.org/officeDocument/2006/relationships/font" Target="fonts/font14.fntdata"/><Relationship Id="rId57" Type="http://schemas.microsoft.com/office/2015/10/relationships/revisionInfo" Target="revisionInfo.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9.fntdata"/><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pal Singh" userId="1f20a8d43ef8778a" providerId="LiveId" clId="{C993D5B8-D0DD-4E0C-B75D-0B8A442856E0}"/>
    <pc:docChg chg="undo custSel addSld delSld modSld sldOrd">
      <pc:chgData name="Yashpal Singh" userId="1f20a8d43ef8778a" providerId="LiveId" clId="{C993D5B8-D0DD-4E0C-B75D-0B8A442856E0}" dt="2026-01-24T22:14:54.679" v="9760" actId="47"/>
      <pc:docMkLst>
        <pc:docMk/>
      </pc:docMkLst>
      <pc:sldChg chg="addSp modSp mod modNotes">
        <pc:chgData name="Yashpal Singh" userId="1f20a8d43ef8778a" providerId="LiveId" clId="{C993D5B8-D0DD-4E0C-B75D-0B8A442856E0}" dt="2026-01-12T20:50:37.788" v="59" actId="113"/>
        <pc:sldMkLst>
          <pc:docMk/>
          <pc:sldMk cId="0" sldId="256"/>
        </pc:sldMkLst>
        <pc:spChg chg="add mod">
          <ac:chgData name="Yashpal Singh" userId="1f20a8d43ef8778a" providerId="LiveId" clId="{C993D5B8-D0DD-4E0C-B75D-0B8A442856E0}" dt="2026-01-12T20:50:37.788" v="59" actId="113"/>
          <ac:spMkLst>
            <pc:docMk/>
            <pc:sldMk cId="0" sldId="256"/>
            <ac:spMk id="2" creationId="{4C4DDBAE-4064-F951-30D3-00A2013EE200}"/>
          </ac:spMkLst>
        </pc:spChg>
        <pc:spChg chg="mod">
          <ac:chgData name="Yashpal Singh" userId="1f20a8d43ef8778a" providerId="LiveId" clId="{C993D5B8-D0DD-4E0C-B75D-0B8A442856E0}" dt="2026-01-12T20:49:21.506" v="25" actId="20577"/>
          <ac:spMkLst>
            <pc:docMk/>
            <pc:sldMk cId="0" sldId="256"/>
            <ac:spMk id="166" creationId="{00000000-0000-0000-0000-000000000000}"/>
          </ac:spMkLst>
        </pc:spChg>
        <pc:spChg chg="mod">
          <ac:chgData name="Yashpal Singh" userId="1f20a8d43ef8778a" providerId="LiveId" clId="{C993D5B8-D0DD-4E0C-B75D-0B8A442856E0}" dt="2026-01-12T20:49:05.035" v="0"/>
          <ac:spMkLst>
            <pc:docMk/>
            <pc:sldMk cId="0" sldId="256"/>
            <ac:spMk id="167" creationId="{00000000-0000-0000-0000-000000000000}"/>
          </ac:spMkLst>
        </pc:spChg>
        <pc:spChg chg="mod">
          <ac:chgData name="Yashpal Singh" userId="1f20a8d43ef8778a" providerId="LiveId" clId="{C993D5B8-D0DD-4E0C-B75D-0B8A442856E0}" dt="2026-01-12T20:49:47.115" v="40" actId="14100"/>
          <ac:spMkLst>
            <pc:docMk/>
            <pc:sldMk cId="0" sldId="256"/>
            <ac:spMk id="168" creationId="{00000000-0000-0000-0000-000000000000}"/>
          </ac:spMkLst>
        </pc:spChg>
      </pc:sldChg>
      <pc:sldChg chg="addSp modSp mod">
        <pc:chgData name="Yashpal Singh" userId="1f20a8d43ef8778a" providerId="LiveId" clId="{C993D5B8-D0DD-4E0C-B75D-0B8A442856E0}" dt="2026-01-24T21:59:35.518" v="9731" actId="20577"/>
        <pc:sldMkLst>
          <pc:docMk/>
          <pc:sldMk cId="0" sldId="257"/>
        </pc:sldMkLst>
        <pc:spChg chg="add mod">
          <ac:chgData name="Yashpal Singh" userId="1f20a8d43ef8778a" providerId="LiveId" clId="{C993D5B8-D0DD-4E0C-B75D-0B8A442856E0}" dt="2026-01-24T21:59:15.238" v="9701" actId="1035"/>
          <ac:spMkLst>
            <pc:docMk/>
            <pc:sldMk cId="0" sldId="257"/>
            <ac:spMk id="2" creationId="{92B6DF76-DE47-C852-A19A-2362A29EE01E}"/>
          </ac:spMkLst>
        </pc:spChg>
        <pc:spChg chg="add mod">
          <ac:chgData name="Yashpal Singh" userId="1f20a8d43ef8778a" providerId="LiveId" clId="{C993D5B8-D0DD-4E0C-B75D-0B8A442856E0}" dt="2026-01-24T21:59:35.518" v="9731" actId="20577"/>
          <ac:spMkLst>
            <pc:docMk/>
            <pc:sldMk cId="0" sldId="257"/>
            <ac:spMk id="3" creationId="{CF22A9A3-C56C-D285-49F3-2313A4217CFB}"/>
          </ac:spMkLst>
        </pc:spChg>
        <pc:spChg chg="mod">
          <ac:chgData name="Yashpal Singh" userId="1f20a8d43ef8778a" providerId="LiveId" clId="{C993D5B8-D0DD-4E0C-B75D-0B8A442856E0}" dt="2026-01-24T21:58:27.972" v="9656" actId="1076"/>
          <ac:spMkLst>
            <pc:docMk/>
            <pc:sldMk cId="0" sldId="257"/>
            <ac:spMk id="177" creationId="{00000000-0000-0000-0000-000000000000}"/>
          </ac:spMkLst>
        </pc:spChg>
      </pc:sldChg>
      <pc:sldChg chg="addSp delSp modSp mod">
        <pc:chgData name="Yashpal Singh" userId="1f20a8d43ef8778a" providerId="LiveId" clId="{C993D5B8-D0DD-4E0C-B75D-0B8A442856E0}" dt="2026-01-24T22:14:40.888" v="9759" actId="20577"/>
        <pc:sldMkLst>
          <pc:docMk/>
          <pc:sldMk cId="0" sldId="258"/>
        </pc:sldMkLst>
        <pc:spChg chg="add mod">
          <ac:chgData name="Yashpal Singh" userId="1f20a8d43ef8778a" providerId="LiveId" clId="{C993D5B8-D0DD-4E0C-B75D-0B8A442856E0}" dt="2026-01-24T22:14:40.888" v="9759" actId="20577"/>
          <ac:spMkLst>
            <pc:docMk/>
            <pc:sldMk cId="0" sldId="258"/>
            <ac:spMk id="2" creationId="{C226FE30-97CE-1EFA-2002-E36FBCDE2FE8}"/>
          </ac:spMkLst>
        </pc:spChg>
        <pc:spChg chg="mod">
          <ac:chgData name="Yashpal Singh" userId="1f20a8d43ef8778a" providerId="LiveId" clId="{C993D5B8-D0DD-4E0C-B75D-0B8A442856E0}" dt="2026-01-24T21:38:58.918" v="9443" actId="115"/>
          <ac:spMkLst>
            <pc:docMk/>
            <pc:sldMk cId="0" sldId="258"/>
            <ac:spMk id="194" creationId="{00000000-0000-0000-0000-000000000000}"/>
          </ac:spMkLst>
        </pc:spChg>
        <pc:spChg chg="del">
          <ac:chgData name="Yashpal Singh" userId="1f20a8d43ef8778a" providerId="LiveId" clId="{C993D5B8-D0DD-4E0C-B75D-0B8A442856E0}" dt="2026-01-24T21:38:34.203" v="9437" actId="478"/>
          <ac:spMkLst>
            <pc:docMk/>
            <pc:sldMk cId="0" sldId="258"/>
            <ac:spMk id="195" creationId="{00000000-0000-0000-0000-000000000000}"/>
          </ac:spMkLst>
        </pc:spChg>
        <pc:spChg chg="del">
          <ac:chgData name="Yashpal Singh" userId="1f20a8d43ef8778a" providerId="LiveId" clId="{C993D5B8-D0DD-4E0C-B75D-0B8A442856E0}" dt="2026-01-24T21:38:31.257" v="9436" actId="478"/>
          <ac:spMkLst>
            <pc:docMk/>
            <pc:sldMk cId="0" sldId="258"/>
            <ac:spMk id="196" creationId="{00000000-0000-0000-0000-000000000000}"/>
          </ac:spMkLst>
        </pc:spChg>
      </pc:sldChg>
      <pc:sldChg chg="addSp delSp modSp mod">
        <pc:chgData name="Yashpal Singh" userId="1f20a8d43ef8778a" providerId="LiveId" clId="{C993D5B8-D0DD-4E0C-B75D-0B8A442856E0}" dt="2026-01-12T21:12:53.171" v="280" actId="113"/>
        <pc:sldMkLst>
          <pc:docMk/>
          <pc:sldMk cId="0" sldId="259"/>
        </pc:sldMkLst>
        <pc:spChg chg="add mod">
          <ac:chgData name="Yashpal Singh" userId="1f20a8d43ef8778a" providerId="LiveId" clId="{C993D5B8-D0DD-4E0C-B75D-0B8A442856E0}" dt="2026-01-12T21:11:59.724" v="275" actId="14100"/>
          <ac:spMkLst>
            <pc:docMk/>
            <pc:sldMk cId="0" sldId="259"/>
            <ac:spMk id="2" creationId="{F0C46E8E-AA61-BD69-053B-2ED835676DC9}"/>
          </ac:spMkLst>
        </pc:spChg>
        <pc:spChg chg="add mod">
          <ac:chgData name="Yashpal Singh" userId="1f20a8d43ef8778a" providerId="LiveId" clId="{C993D5B8-D0DD-4E0C-B75D-0B8A442856E0}" dt="2026-01-12T21:12:53.171" v="280" actId="113"/>
          <ac:spMkLst>
            <pc:docMk/>
            <pc:sldMk cId="0" sldId="259"/>
            <ac:spMk id="3" creationId="{F59B0B26-9166-3976-1501-F2641D5B2F3E}"/>
          </ac:spMkLst>
        </pc:spChg>
        <pc:spChg chg="mod">
          <ac:chgData name="Yashpal Singh" userId="1f20a8d43ef8778a" providerId="LiveId" clId="{C993D5B8-D0DD-4E0C-B75D-0B8A442856E0}" dt="2026-01-12T21:00:57.308" v="76" actId="20577"/>
          <ac:spMkLst>
            <pc:docMk/>
            <pc:sldMk cId="0" sldId="259"/>
            <ac:spMk id="201" creationId="{00000000-0000-0000-0000-000000000000}"/>
          </ac:spMkLst>
        </pc:spChg>
      </pc:sldChg>
      <pc:sldChg chg="delSp modSp mod ord">
        <pc:chgData name="Yashpal Singh" userId="1f20a8d43ef8778a" providerId="LiveId" clId="{C993D5B8-D0DD-4E0C-B75D-0B8A442856E0}" dt="2026-01-24T21:07:54.918" v="9246"/>
        <pc:sldMkLst>
          <pc:docMk/>
          <pc:sldMk cId="0" sldId="260"/>
        </pc:sldMkLst>
        <pc:spChg chg="mod">
          <ac:chgData name="Yashpal Singh" userId="1f20a8d43ef8778a" providerId="LiveId" clId="{C993D5B8-D0DD-4E0C-B75D-0B8A442856E0}" dt="2026-01-22T06:40:34.959" v="7549" actId="20577"/>
          <ac:spMkLst>
            <pc:docMk/>
            <pc:sldMk cId="0" sldId="260"/>
            <ac:spMk id="213" creationId="{00000000-0000-0000-0000-000000000000}"/>
          </ac:spMkLst>
        </pc:spChg>
      </pc:sldChg>
      <pc:sldChg chg="addSp delSp modSp mod">
        <pc:chgData name="Yashpal Singh" userId="1f20a8d43ef8778a" providerId="LiveId" clId="{C993D5B8-D0DD-4E0C-B75D-0B8A442856E0}" dt="2026-01-24T20:14:31.675" v="8752" actId="20577"/>
        <pc:sldMkLst>
          <pc:docMk/>
          <pc:sldMk cId="0" sldId="261"/>
        </pc:sldMkLst>
        <pc:spChg chg="mod">
          <ac:chgData name="Yashpal Singh" userId="1f20a8d43ef8778a" providerId="LiveId" clId="{C993D5B8-D0DD-4E0C-B75D-0B8A442856E0}" dt="2026-01-24T20:14:31.675" v="8752" actId="20577"/>
          <ac:spMkLst>
            <pc:docMk/>
            <pc:sldMk cId="0" sldId="261"/>
            <ac:spMk id="221" creationId="{00000000-0000-0000-0000-000000000000}"/>
          </ac:spMkLst>
        </pc:spChg>
        <pc:picChg chg="add mod">
          <ac:chgData name="Yashpal Singh" userId="1f20a8d43ef8778a" providerId="LiveId" clId="{C993D5B8-D0DD-4E0C-B75D-0B8A442856E0}" dt="2026-01-22T01:07:48.392" v="6970" actId="14100"/>
          <ac:picMkLst>
            <pc:docMk/>
            <pc:sldMk cId="0" sldId="261"/>
            <ac:picMk id="2" creationId="{C9BBFD5C-C9EA-F0B2-C7DD-A62DE64D768D}"/>
          </ac:picMkLst>
        </pc:picChg>
      </pc:sldChg>
      <pc:sldChg chg="delSp modSp mod">
        <pc:chgData name="Yashpal Singh" userId="1f20a8d43ef8778a" providerId="LiveId" clId="{C993D5B8-D0DD-4E0C-B75D-0B8A442856E0}" dt="2026-01-22T06:43:25.631" v="7558" actId="6549"/>
        <pc:sldMkLst>
          <pc:docMk/>
          <pc:sldMk cId="0" sldId="262"/>
        </pc:sldMkLst>
        <pc:spChg chg="mod">
          <ac:chgData name="Yashpal Singh" userId="1f20a8d43ef8778a" providerId="LiveId" clId="{C993D5B8-D0DD-4E0C-B75D-0B8A442856E0}" dt="2026-01-22T06:43:25.631" v="7558" actId="6549"/>
          <ac:spMkLst>
            <pc:docMk/>
            <pc:sldMk cId="0" sldId="262"/>
            <ac:spMk id="229" creationId="{00000000-0000-0000-0000-000000000000}"/>
          </ac:spMkLst>
        </pc:spChg>
      </pc:sldChg>
      <pc:sldChg chg="addSp delSp modSp mod modNotes">
        <pc:chgData name="Yashpal Singh" userId="1f20a8d43ef8778a" providerId="LiveId" clId="{C993D5B8-D0DD-4E0C-B75D-0B8A442856E0}" dt="2026-01-24T20:30:13.931" v="9089" actId="1076"/>
        <pc:sldMkLst>
          <pc:docMk/>
          <pc:sldMk cId="0" sldId="263"/>
        </pc:sldMkLst>
        <pc:spChg chg="add mod">
          <ac:chgData name="Yashpal Singh" userId="1f20a8d43ef8778a" providerId="LiveId" clId="{C993D5B8-D0DD-4E0C-B75D-0B8A442856E0}" dt="2026-01-24T20:26:48.368" v="9076" actId="115"/>
          <ac:spMkLst>
            <pc:docMk/>
            <pc:sldMk cId="0" sldId="263"/>
            <ac:spMk id="2" creationId="{24967A47-980E-57D1-2347-FA742DAC1177}"/>
          </ac:spMkLst>
        </pc:spChg>
        <pc:spChg chg="add mod">
          <ac:chgData name="Yashpal Singh" userId="1f20a8d43ef8778a" providerId="LiveId" clId="{C993D5B8-D0DD-4E0C-B75D-0B8A442856E0}" dt="2026-01-21T01:39:26.923" v="3960" actId="20577"/>
          <ac:spMkLst>
            <pc:docMk/>
            <pc:sldMk cId="0" sldId="263"/>
            <ac:spMk id="7" creationId="{9A66BE3D-F100-9B33-2CEF-4FFA6D3BF39C}"/>
          </ac:spMkLst>
        </pc:spChg>
        <pc:spChg chg="add mod">
          <ac:chgData name="Yashpal Singh" userId="1f20a8d43ef8778a" providerId="LiveId" clId="{C993D5B8-D0DD-4E0C-B75D-0B8A442856E0}" dt="2026-01-24T20:30:13.931" v="9089" actId="1076"/>
          <ac:spMkLst>
            <pc:docMk/>
            <pc:sldMk cId="0" sldId="263"/>
            <ac:spMk id="10" creationId="{92CBC6D0-8402-CE6C-BB61-2ACFA1C79F67}"/>
          </ac:spMkLst>
        </pc:spChg>
        <pc:spChg chg="add mod">
          <ac:chgData name="Yashpal Singh" userId="1f20a8d43ef8778a" providerId="LiveId" clId="{C993D5B8-D0DD-4E0C-B75D-0B8A442856E0}" dt="2026-01-21T01:37:59.922" v="3930" actId="1076"/>
          <ac:spMkLst>
            <pc:docMk/>
            <pc:sldMk cId="0" sldId="263"/>
            <ac:spMk id="11" creationId="{67A9BD1E-019F-C9EC-E1A7-E58C108AC9D3}"/>
          </ac:spMkLst>
        </pc:spChg>
        <pc:spChg chg="mod">
          <ac:chgData name="Yashpal Singh" userId="1f20a8d43ef8778a" providerId="LiveId" clId="{C993D5B8-D0DD-4E0C-B75D-0B8A442856E0}" dt="2026-01-24T20:19:48.589" v="8763" actId="6549"/>
          <ac:spMkLst>
            <pc:docMk/>
            <pc:sldMk cId="0" sldId="263"/>
            <ac:spMk id="234" creationId="{00000000-0000-0000-0000-000000000000}"/>
          </ac:spMkLst>
        </pc:spChg>
        <pc:picChg chg="add mod">
          <ac:chgData name="Yashpal Singh" userId="1f20a8d43ef8778a" providerId="LiveId" clId="{C993D5B8-D0DD-4E0C-B75D-0B8A442856E0}" dt="2026-01-21T01:36:26.387" v="3925" actId="14100"/>
          <ac:picMkLst>
            <pc:docMk/>
            <pc:sldMk cId="0" sldId="263"/>
            <ac:picMk id="3" creationId="{E0FED368-97E6-188B-7068-869A96B7C176}"/>
          </ac:picMkLst>
        </pc:picChg>
        <pc:picChg chg="add mod">
          <ac:chgData name="Yashpal Singh" userId="1f20a8d43ef8778a" providerId="LiveId" clId="{C993D5B8-D0DD-4E0C-B75D-0B8A442856E0}" dt="2026-01-21T01:37:54.538" v="3929" actId="1076"/>
          <ac:picMkLst>
            <pc:docMk/>
            <pc:sldMk cId="0" sldId="263"/>
            <ac:picMk id="5" creationId="{2CB71D2D-4940-E0FA-ED0E-25D2DE34A457}"/>
          </ac:picMkLst>
        </pc:picChg>
      </pc:sldChg>
      <pc:sldChg chg="addSp delSp modSp mod">
        <pc:chgData name="Yashpal Singh" userId="1f20a8d43ef8778a" providerId="LiveId" clId="{C993D5B8-D0DD-4E0C-B75D-0B8A442856E0}" dt="2026-01-24T20:34:00.313" v="9100" actId="14100"/>
        <pc:sldMkLst>
          <pc:docMk/>
          <pc:sldMk cId="0" sldId="264"/>
        </pc:sldMkLst>
        <pc:spChg chg="add mod">
          <ac:chgData name="Yashpal Singh" userId="1f20a8d43ef8778a" providerId="LiveId" clId="{C993D5B8-D0DD-4E0C-B75D-0B8A442856E0}" dt="2026-01-24T20:34:00.313" v="9100" actId="14100"/>
          <ac:spMkLst>
            <pc:docMk/>
            <pc:sldMk cId="0" sldId="264"/>
            <ac:spMk id="9" creationId="{0C801D0C-20C3-B9C4-959C-1C384494E5C7}"/>
          </ac:spMkLst>
        </pc:spChg>
        <pc:spChg chg="add mod">
          <ac:chgData name="Yashpal Singh" userId="1f20a8d43ef8778a" providerId="LiveId" clId="{C993D5B8-D0DD-4E0C-B75D-0B8A442856E0}" dt="2026-01-23T07:15:44.277" v="7787" actId="1076"/>
          <ac:spMkLst>
            <pc:docMk/>
            <pc:sldMk cId="0" sldId="264"/>
            <ac:spMk id="10" creationId="{B7844BE4-702D-AE41-4DD2-96774907A1B9}"/>
          </ac:spMkLst>
        </pc:spChg>
        <pc:spChg chg="add mod">
          <ac:chgData name="Yashpal Singh" userId="1f20a8d43ef8778a" providerId="LiveId" clId="{C993D5B8-D0DD-4E0C-B75D-0B8A442856E0}" dt="2026-01-21T01:10:04.542" v="3750" actId="20577"/>
          <ac:spMkLst>
            <pc:docMk/>
            <pc:sldMk cId="0" sldId="264"/>
            <ac:spMk id="11" creationId="{E04CEAF0-CF41-2014-3B0A-31073AC17AC2}"/>
          </ac:spMkLst>
        </pc:spChg>
        <pc:spChg chg="mod">
          <ac:chgData name="Yashpal Singh" userId="1f20a8d43ef8778a" providerId="LiveId" clId="{C993D5B8-D0DD-4E0C-B75D-0B8A442856E0}" dt="2026-01-23T07:16:12.620" v="7792" actId="20577"/>
          <ac:spMkLst>
            <pc:docMk/>
            <pc:sldMk cId="0" sldId="264"/>
            <ac:spMk id="244" creationId="{00000000-0000-0000-0000-000000000000}"/>
          </ac:spMkLst>
        </pc:spChg>
        <pc:picChg chg="add mod">
          <ac:chgData name="Yashpal Singh" userId="1f20a8d43ef8778a" providerId="LiveId" clId="{C993D5B8-D0DD-4E0C-B75D-0B8A442856E0}" dt="2026-01-23T07:15:58.353" v="7789" actId="1076"/>
          <ac:picMkLst>
            <pc:docMk/>
            <pc:sldMk cId="0" sldId="264"/>
            <ac:picMk id="4" creationId="{AE995888-AB23-DA0F-BF0B-79DB06D40295}"/>
          </ac:picMkLst>
        </pc:picChg>
        <pc:picChg chg="add mod">
          <ac:chgData name="Yashpal Singh" userId="1f20a8d43ef8778a" providerId="LiveId" clId="{C993D5B8-D0DD-4E0C-B75D-0B8A442856E0}" dt="2026-01-21T01:08:15.796" v="3675" actId="1076"/>
          <ac:picMkLst>
            <pc:docMk/>
            <pc:sldMk cId="0" sldId="264"/>
            <ac:picMk id="6" creationId="{77B98EC1-1E34-BB33-683C-66F8C98026AF}"/>
          </ac:picMkLst>
        </pc:picChg>
        <pc:picChg chg="add mod">
          <ac:chgData name="Yashpal Singh" userId="1f20a8d43ef8778a" providerId="LiveId" clId="{C993D5B8-D0DD-4E0C-B75D-0B8A442856E0}" dt="2026-01-23T07:16:01.196" v="7790" actId="1076"/>
          <ac:picMkLst>
            <pc:docMk/>
            <pc:sldMk cId="0" sldId="264"/>
            <ac:picMk id="8" creationId="{6488564C-60A5-08FD-740C-8E6F9E7A23E0}"/>
          </ac:picMkLst>
        </pc:picChg>
      </pc:sldChg>
      <pc:sldChg chg="addSp delSp modSp mod">
        <pc:chgData name="Yashpal Singh" userId="1f20a8d43ef8778a" providerId="LiveId" clId="{C993D5B8-D0DD-4E0C-B75D-0B8A442856E0}" dt="2026-01-24T20:35:45.989" v="9103" actId="20577"/>
        <pc:sldMkLst>
          <pc:docMk/>
          <pc:sldMk cId="0" sldId="265"/>
        </pc:sldMkLst>
        <pc:spChg chg="add mod">
          <ac:chgData name="Yashpal Singh" userId="1f20a8d43ef8778a" providerId="LiveId" clId="{C993D5B8-D0DD-4E0C-B75D-0B8A442856E0}" dt="2026-01-21T00:30:39.845" v="3364" actId="1076"/>
          <ac:spMkLst>
            <pc:docMk/>
            <pc:sldMk cId="0" sldId="265"/>
            <ac:spMk id="5" creationId="{5537366B-957B-1471-35F4-4032AD2DC521}"/>
          </ac:spMkLst>
        </pc:spChg>
        <pc:spChg chg="add mod">
          <ac:chgData name="Yashpal Singh" userId="1f20a8d43ef8778a" providerId="LiveId" clId="{C993D5B8-D0DD-4E0C-B75D-0B8A442856E0}" dt="2026-01-21T00:47:23.059" v="3402" actId="1076"/>
          <ac:spMkLst>
            <pc:docMk/>
            <pc:sldMk cId="0" sldId="265"/>
            <ac:spMk id="11" creationId="{C4448BD1-46E6-F5C9-91BB-6D5CCAEC6266}"/>
          </ac:spMkLst>
        </pc:spChg>
        <pc:spChg chg="add mod">
          <ac:chgData name="Yashpal Singh" userId="1f20a8d43ef8778a" providerId="LiveId" clId="{C993D5B8-D0DD-4E0C-B75D-0B8A442856E0}" dt="2026-01-24T20:35:45.989" v="9103" actId="20577"/>
          <ac:spMkLst>
            <pc:docMk/>
            <pc:sldMk cId="0" sldId="265"/>
            <ac:spMk id="12" creationId="{84C6D8E6-D34E-4A42-FBC2-142E79E95624}"/>
          </ac:spMkLst>
        </pc:spChg>
        <pc:spChg chg="mod">
          <ac:chgData name="Yashpal Singh" userId="1f20a8d43ef8778a" providerId="LiveId" clId="{C993D5B8-D0DD-4E0C-B75D-0B8A442856E0}" dt="2026-01-24T20:35:12.477" v="9102" actId="6549"/>
          <ac:spMkLst>
            <pc:docMk/>
            <pc:sldMk cId="0" sldId="265"/>
            <ac:spMk id="254" creationId="{00000000-0000-0000-0000-000000000000}"/>
          </ac:spMkLst>
        </pc:spChg>
        <pc:picChg chg="add mod">
          <ac:chgData name="Yashpal Singh" userId="1f20a8d43ef8778a" providerId="LiveId" clId="{C993D5B8-D0DD-4E0C-B75D-0B8A442856E0}" dt="2026-01-21T00:34:34.730" v="3366" actId="1076"/>
          <ac:picMkLst>
            <pc:docMk/>
            <pc:sldMk cId="0" sldId="265"/>
            <ac:picMk id="3" creationId="{53C6858D-61F3-341E-7A48-3D359F834EAA}"/>
          </ac:picMkLst>
        </pc:picChg>
        <pc:picChg chg="add mod">
          <ac:chgData name="Yashpal Singh" userId="1f20a8d43ef8778a" providerId="LiveId" clId="{C993D5B8-D0DD-4E0C-B75D-0B8A442856E0}" dt="2026-01-21T00:45:46.516" v="3370" actId="1076"/>
          <ac:picMkLst>
            <pc:docMk/>
            <pc:sldMk cId="0" sldId="265"/>
            <ac:picMk id="8" creationId="{12C273DE-C096-5497-D415-5CA87E28D9C8}"/>
          </ac:picMkLst>
        </pc:picChg>
        <pc:picChg chg="add mod">
          <ac:chgData name="Yashpal Singh" userId="1f20a8d43ef8778a" providerId="LiveId" clId="{C993D5B8-D0DD-4E0C-B75D-0B8A442856E0}" dt="2026-01-21T00:46:02.074" v="3375" actId="1076"/>
          <ac:picMkLst>
            <pc:docMk/>
            <pc:sldMk cId="0" sldId="265"/>
            <ac:picMk id="10" creationId="{98ADD5E2-C17D-8E2C-2105-B33651ABCF47}"/>
          </ac:picMkLst>
        </pc:picChg>
      </pc:sldChg>
      <pc:sldChg chg="addSp delSp modSp mod">
        <pc:chgData name="Yashpal Singh" userId="1f20a8d43ef8778a" providerId="LiveId" clId="{C993D5B8-D0DD-4E0C-B75D-0B8A442856E0}" dt="2026-01-24T20:57:35.197" v="9164" actId="167"/>
        <pc:sldMkLst>
          <pc:docMk/>
          <pc:sldMk cId="0" sldId="266"/>
        </pc:sldMkLst>
        <pc:spChg chg="add mod">
          <ac:chgData name="Yashpal Singh" userId="1f20a8d43ef8778a" providerId="LiveId" clId="{C993D5B8-D0DD-4E0C-B75D-0B8A442856E0}" dt="2026-01-24T03:07:21.883" v="7952" actId="20577"/>
          <ac:spMkLst>
            <pc:docMk/>
            <pc:sldMk cId="0" sldId="266"/>
            <ac:spMk id="2" creationId="{1605F94B-CDE1-87A7-C371-17E57905062C}"/>
          </ac:spMkLst>
        </pc:spChg>
        <pc:spChg chg="add mod ord">
          <ac:chgData name="Yashpal Singh" userId="1f20a8d43ef8778a" providerId="LiveId" clId="{C993D5B8-D0DD-4E0C-B75D-0B8A442856E0}" dt="2026-01-24T20:57:12.025" v="9161" actId="167"/>
          <ac:spMkLst>
            <pc:docMk/>
            <pc:sldMk cId="0" sldId="266"/>
            <ac:spMk id="3" creationId="{96E8B39B-46B0-686E-FAB0-58EE99534238}"/>
          </ac:spMkLst>
        </pc:spChg>
        <pc:spChg chg="add mod ord">
          <ac:chgData name="Yashpal Singh" userId="1f20a8d43ef8778a" providerId="LiveId" clId="{C993D5B8-D0DD-4E0C-B75D-0B8A442856E0}" dt="2026-01-24T20:57:35.197" v="9164" actId="167"/>
          <ac:spMkLst>
            <pc:docMk/>
            <pc:sldMk cId="0" sldId="266"/>
            <ac:spMk id="4" creationId="{D6EF7173-C1C5-12CE-128B-F03F49B59256}"/>
          </ac:spMkLst>
        </pc:spChg>
        <pc:spChg chg="add mod">
          <ac:chgData name="Yashpal Singh" userId="1f20a8d43ef8778a" providerId="LiveId" clId="{C993D5B8-D0DD-4E0C-B75D-0B8A442856E0}" dt="2026-01-21T00:14:13.167" v="3180" actId="20577"/>
          <ac:spMkLst>
            <pc:docMk/>
            <pc:sldMk cId="0" sldId="266"/>
            <ac:spMk id="15" creationId="{BC02B87A-9823-B911-83A5-A54DF938EEEF}"/>
          </ac:spMkLst>
        </pc:spChg>
        <pc:spChg chg="mod">
          <ac:chgData name="Yashpal Singh" userId="1f20a8d43ef8778a" providerId="LiveId" clId="{C993D5B8-D0DD-4E0C-B75D-0B8A442856E0}" dt="2026-01-24T02:59:27.907" v="7906" actId="20577"/>
          <ac:spMkLst>
            <pc:docMk/>
            <pc:sldMk cId="0" sldId="266"/>
            <ac:spMk id="264" creationId="{00000000-0000-0000-0000-000000000000}"/>
          </ac:spMkLst>
        </pc:spChg>
        <pc:graphicFrameChg chg="add mod modGraphic">
          <ac:chgData name="Yashpal Singh" userId="1f20a8d43ef8778a" providerId="LiveId" clId="{C993D5B8-D0DD-4E0C-B75D-0B8A442856E0}" dt="2026-01-24T20:56:46.493" v="9158" actId="113"/>
          <ac:graphicFrameMkLst>
            <pc:docMk/>
            <pc:sldMk cId="0" sldId="266"/>
            <ac:graphicFrameMk id="14" creationId="{6011B108-4604-656B-91B2-BFB6D8995DD5}"/>
          </ac:graphicFrameMkLst>
        </pc:graphicFrameChg>
        <pc:picChg chg="add mod">
          <ac:chgData name="Yashpal Singh" userId="1f20a8d43ef8778a" providerId="LiveId" clId="{C993D5B8-D0DD-4E0C-B75D-0B8A442856E0}" dt="2026-01-24T02:59:18.245" v="7898" actId="1076"/>
          <ac:picMkLst>
            <pc:docMk/>
            <pc:sldMk cId="0" sldId="266"/>
            <ac:picMk id="13" creationId="{E42B5037-EE22-3367-68DA-4885CB1C0736}"/>
          </ac:picMkLst>
        </pc:picChg>
      </pc:sldChg>
      <pc:sldChg chg="addSp delSp modSp del mod ord">
        <pc:chgData name="Yashpal Singh" userId="1f20a8d43ef8778a" providerId="LiveId" clId="{C993D5B8-D0DD-4E0C-B75D-0B8A442856E0}" dt="2026-01-24T22:14:54.679" v="9760" actId="47"/>
        <pc:sldMkLst>
          <pc:docMk/>
          <pc:sldMk cId="0" sldId="267"/>
        </pc:sldMkLst>
        <pc:spChg chg="add mod">
          <ac:chgData name="Yashpal Singh" userId="1f20a8d43ef8778a" providerId="LiveId" clId="{C993D5B8-D0DD-4E0C-B75D-0B8A442856E0}" dt="2026-01-20T21:32:07.037" v="2268" actId="20577"/>
          <ac:spMkLst>
            <pc:docMk/>
            <pc:sldMk cId="0" sldId="267"/>
            <ac:spMk id="4" creationId="{F460B359-EDBF-594C-B11A-902139999415}"/>
          </ac:spMkLst>
        </pc:spChg>
        <pc:spChg chg="mod">
          <ac:chgData name="Yashpal Singh" userId="1f20a8d43ef8778a" providerId="LiveId" clId="{C993D5B8-D0DD-4E0C-B75D-0B8A442856E0}" dt="2026-01-20T21:31:09.523" v="2176" actId="20577"/>
          <ac:spMkLst>
            <pc:docMk/>
            <pc:sldMk cId="0" sldId="267"/>
            <ac:spMk id="275" creationId="{00000000-0000-0000-0000-000000000000}"/>
          </ac:spMkLst>
        </pc:spChg>
        <pc:picChg chg="add mod">
          <ac:chgData name="Yashpal Singh" userId="1f20a8d43ef8778a" providerId="LiveId" clId="{C993D5B8-D0DD-4E0C-B75D-0B8A442856E0}" dt="2026-01-20T21:35:26.515" v="2275" actId="1076"/>
          <ac:picMkLst>
            <pc:docMk/>
            <pc:sldMk cId="0" sldId="267"/>
            <ac:picMk id="10" creationId="{8D216778-928D-EB92-4510-9B95ACF4FEFE}"/>
          </ac:picMkLst>
        </pc:picChg>
        <pc:picChg chg="add mod">
          <ac:chgData name="Yashpal Singh" userId="1f20a8d43ef8778a" providerId="LiveId" clId="{C993D5B8-D0DD-4E0C-B75D-0B8A442856E0}" dt="2026-01-20T21:36:30.054" v="2336" actId="1036"/>
          <ac:picMkLst>
            <pc:docMk/>
            <pc:sldMk cId="0" sldId="267"/>
            <ac:picMk id="12" creationId="{1583C402-7D6F-85ED-4A62-09C6045704D4}"/>
          </ac:picMkLst>
        </pc:picChg>
      </pc:sldChg>
      <pc:sldChg chg="addSp delSp modSp mod">
        <pc:chgData name="Yashpal Singh" userId="1f20a8d43ef8778a" providerId="LiveId" clId="{C993D5B8-D0DD-4E0C-B75D-0B8A442856E0}" dt="2026-01-24T06:30:38.734" v="8413" actId="113"/>
        <pc:sldMkLst>
          <pc:docMk/>
          <pc:sldMk cId="0" sldId="268"/>
        </pc:sldMkLst>
        <pc:spChg chg="add mod">
          <ac:chgData name="Yashpal Singh" userId="1f20a8d43ef8778a" providerId="LiveId" clId="{C993D5B8-D0DD-4E0C-B75D-0B8A442856E0}" dt="2026-01-24T06:30:38.734" v="8413" actId="113"/>
          <ac:spMkLst>
            <pc:docMk/>
            <pc:sldMk cId="0" sldId="268"/>
            <ac:spMk id="2" creationId="{B597065E-F2DE-19BA-4889-C3A9906EACCB}"/>
          </ac:spMkLst>
        </pc:spChg>
        <pc:spChg chg="mod">
          <ac:chgData name="Yashpal Singh" userId="1f20a8d43ef8778a" providerId="LiveId" clId="{C993D5B8-D0DD-4E0C-B75D-0B8A442856E0}" dt="2026-01-24T06:25:05.346" v="8356" actId="1076"/>
          <ac:spMkLst>
            <pc:docMk/>
            <pc:sldMk cId="0" sldId="268"/>
            <ac:spMk id="286" creationId="{00000000-0000-0000-0000-000000000000}"/>
          </ac:spMkLst>
        </pc:spChg>
        <pc:spChg chg="del">
          <ac:chgData name="Yashpal Singh" userId="1f20a8d43ef8778a" providerId="LiveId" clId="{C993D5B8-D0DD-4E0C-B75D-0B8A442856E0}" dt="2026-01-24T06:24:32.056" v="8330" actId="478"/>
          <ac:spMkLst>
            <pc:docMk/>
            <pc:sldMk cId="0" sldId="268"/>
            <ac:spMk id="287" creationId="{00000000-0000-0000-0000-000000000000}"/>
          </ac:spMkLst>
        </pc:spChg>
        <pc:spChg chg="del">
          <ac:chgData name="Yashpal Singh" userId="1f20a8d43ef8778a" providerId="LiveId" clId="{C993D5B8-D0DD-4E0C-B75D-0B8A442856E0}" dt="2026-01-24T06:24:36.252" v="8331" actId="478"/>
          <ac:spMkLst>
            <pc:docMk/>
            <pc:sldMk cId="0" sldId="268"/>
            <ac:spMk id="288" creationId="{00000000-0000-0000-0000-000000000000}"/>
          </ac:spMkLst>
        </pc:spChg>
      </pc:sldChg>
      <pc:sldChg chg="del">
        <pc:chgData name="Yashpal Singh" userId="1f20a8d43ef8778a" providerId="LiveId" clId="{C993D5B8-D0DD-4E0C-B75D-0B8A442856E0}" dt="2026-01-24T21:28:55.525" v="9435" actId="2696"/>
        <pc:sldMkLst>
          <pc:docMk/>
          <pc:sldMk cId="0" sldId="269"/>
        </pc:sldMkLst>
      </pc:sldChg>
      <pc:sldChg chg="addSp delSp modSp add mod">
        <pc:chgData name="Yashpal Singh" userId="1f20a8d43ef8778a" providerId="LiveId" clId="{C993D5B8-D0DD-4E0C-B75D-0B8A442856E0}" dt="2026-01-24T19:55:32.526" v="8446" actId="20577"/>
        <pc:sldMkLst>
          <pc:docMk/>
          <pc:sldMk cId="2526610053" sldId="271"/>
        </pc:sldMkLst>
        <pc:spChg chg="add mod">
          <ac:chgData name="Yashpal Singh" userId="1f20a8d43ef8778a" providerId="LiveId" clId="{C993D5B8-D0DD-4E0C-B75D-0B8A442856E0}" dt="2026-01-24T19:55:32.526" v="8446" actId="20577"/>
          <ac:spMkLst>
            <pc:docMk/>
            <pc:sldMk cId="2526610053" sldId="271"/>
            <ac:spMk id="2" creationId="{1A6BADEB-CC5B-0A8D-4B01-0AB0440C451F}"/>
          </ac:spMkLst>
        </pc:spChg>
        <pc:spChg chg="mod">
          <ac:chgData name="Yashpal Singh" userId="1f20a8d43ef8778a" providerId="LiveId" clId="{C993D5B8-D0DD-4E0C-B75D-0B8A442856E0}" dt="2026-01-21T22:01:08.483" v="6003" actId="14100"/>
          <ac:spMkLst>
            <pc:docMk/>
            <pc:sldMk cId="2526610053" sldId="271"/>
            <ac:spMk id="201" creationId="{779DD120-C1E1-0BE0-5D4B-937419B18AEF}"/>
          </ac:spMkLst>
        </pc:spChg>
      </pc:sldChg>
      <pc:sldChg chg="addSp delSp modSp add mod">
        <pc:chgData name="Yashpal Singh" userId="1f20a8d43ef8778a" providerId="LiveId" clId="{C993D5B8-D0DD-4E0C-B75D-0B8A442856E0}" dt="2026-01-24T22:06:28.843" v="9754" actId="12"/>
        <pc:sldMkLst>
          <pc:docMk/>
          <pc:sldMk cId="2099967143" sldId="273"/>
        </pc:sldMkLst>
        <pc:spChg chg="mod">
          <ac:chgData name="Yashpal Singh" userId="1f20a8d43ef8778a" providerId="LiveId" clId="{C993D5B8-D0DD-4E0C-B75D-0B8A442856E0}" dt="2026-01-24T22:06:28.843" v="9754" actId="12"/>
          <ac:spMkLst>
            <pc:docMk/>
            <pc:sldMk cId="2099967143" sldId="273"/>
            <ac:spMk id="3" creationId="{9114D62B-E232-CCFD-1278-F60ECA972469}"/>
          </ac:spMkLst>
        </pc:spChg>
      </pc:sldChg>
      <pc:sldChg chg="addSp delSp modSp add del mod">
        <pc:chgData name="Yashpal Singh" userId="1f20a8d43ef8778a" providerId="LiveId" clId="{C993D5B8-D0DD-4E0C-B75D-0B8A442856E0}" dt="2026-01-24T21:28:42.899" v="9434" actId="2696"/>
        <pc:sldMkLst>
          <pc:docMk/>
          <pc:sldMk cId="595820694" sldId="274"/>
        </pc:sldMkLst>
      </pc:sldChg>
      <pc:sldChg chg="addSp delSp modSp add mod">
        <pc:chgData name="Yashpal Singh" userId="1f20a8d43ef8778a" providerId="LiveId" clId="{C993D5B8-D0DD-4E0C-B75D-0B8A442856E0}" dt="2026-01-23T07:15:04.157" v="7782" actId="20577"/>
        <pc:sldMkLst>
          <pc:docMk/>
          <pc:sldMk cId="982982225" sldId="276"/>
        </pc:sldMkLst>
        <pc:spChg chg="add mod">
          <ac:chgData name="Yashpal Singh" userId="1f20a8d43ef8778a" providerId="LiveId" clId="{C993D5B8-D0DD-4E0C-B75D-0B8A442856E0}" dt="2026-01-23T07:15:04.157" v="7782" actId="20577"/>
          <ac:spMkLst>
            <pc:docMk/>
            <pc:sldMk cId="982982225" sldId="276"/>
            <ac:spMk id="3" creationId="{9C3757F1-037D-504D-DF9D-3A6024DB4834}"/>
          </ac:spMkLst>
        </pc:spChg>
        <pc:spChg chg="add mod">
          <ac:chgData name="Yashpal Singh" userId="1f20a8d43ef8778a" providerId="LiveId" clId="{C993D5B8-D0DD-4E0C-B75D-0B8A442856E0}" dt="2026-01-23T07:12:28.526" v="7733" actId="1076"/>
          <ac:spMkLst>
            <pc:docMk/>
            <pc:sldMk cId="982982225" sldId="276"/>
            <ac:spMk id="5" creationId="{8F37A38C-AB26-9CB2-E724-B61744F7052D}"/>
          </ac:spMkLst>
        </pc:spChg>
        <pc:spChg chg="add mod">
          <ac:chgData name="Yashpal Singh" userId="1f20a8d43ef8778a" providerId="LiveId" clId="{C993D5B8-D0DD-4E0C-B75D-0B8A442856E0}" dt="2026-01-23T06:48:43.842" v="7693" actId="1076"/>
          <ac:spMkLst>
            <pc:docMk/>
            <pc:sldMk cId="982982225" sldId="276"/>
            <ac:spMk id="8" creationId="{3BB48905-0180-B40C-9459-E6370F95881C}"/>
          </ac:spMkLst>
        </pc:spChg>
        <pc:spChg chg="mod">
          <ac:chgData name="Yashpal Singh" userId="1f20a8d43ef8778a" providerId="LiveId" clId="{C993D5B8-D0DD-4E0C-B75D-0B8A442856E0}" dt="2026-01-23T07:10:54.207" v="7722" actId="20577"/>
          <ac:spMkLst>
            <pc:docMk/>
            <pc:sldMk cId="982982225" sldId="276"/>
            <ac:spMk id="244" creationId="{F72BDD6C-6AE4-CD6D-985C-089A7BFBCF0A}"/>
          </ac:spMkLst>
        </pc:spChg>
        <pc:picChg chg="add mod">
          <ac:chgData name="Yashpal Singh" userId="1f20a8d43ef8778a" providerId="LiveId" clId="{C993D5B8-D0DD-4E0C-B75D-0B8A442856E0}" dt="2026-01-23T07:12:37.031" v="7736" actId="14100"/>
          <ac:picMkLst>
            <pc:docMk/>
            <pc:sldMk cId="982982225" sldId="276"/>
            <ac:picMk id="2" creationId="{A29F0186-C4F3-ED19-20F4-CF1772E7DCEC}"/>
          </ac:picMkLst>
        </pc:picChg>
        <pc:picChg chg="add mod">
          <ac:chgData name="Yashpal Singh" userId="1f20a8d43ef8778a" providerId="LiveId" clId="{C993D5B8-D0DD-4E0C-B75D-0B8A442856E0}" dt="2026-01-23T07:12:40.262" v="7737" actId="14100"/>
          <ac:picMkLst>
            <pc:docMk/>
            <pc:sldMk cId="982982225" sldId="276"/>
            <ac:picMk id="9" creationId="{A976FEF2-7A57-2B05-9BD5-21C12249E698}"/>
          </ac:picMkLst>
        </pc:picChg>
      </pc:sldChg>
      <pc:sldChg chg="addSp delSp modSp add mod">
        <pc:chgData name="Yashpal Singh" userId="1f20a8d43ef8778a" providerId="LiveId" clId="{C993D5B8-D0DD-4E0C-B75D-0B8A442856E0}" dt="2026-01-24T20:55:22.962" v="9135" actId="1076"/>
        <pc:sldMkLst>
          <pc:docMk/>
          <pc:sldMk cId="319503705" sldId="277"/>
        </pc:sldMkLst>
        <pc:spChg chg="add mod">
          <ac:chgData name="Yashpal Singh" userId="1f20a8d43ef8778a" providerId="LiveId" clId="{C993D5B8-D0DD-4E0C-B75D-0B8A442856E0}" dt="2026-01-24T20:55:22.962" v="9135" actId="1076"/>
          <ac:spMkLst>
            <pc:docMk/>
            <pc:sldMk cId="319503705" sldId="277"/>
            <ac:spMk id="3" creationId="{1627E019-FDC4-B468-E900-AC3D5E40B45A}"/>
          </ac:spMkLst>
        </pc:spChg>
        <pc:spChg chg="add mod">
          <ac:chgData name="Yashpal Singh" userId="1f20a8d43ef8778a" providerId="LiveId" clId="{C993D5B8-D0DD-4E0C-B75D-0B8A442856E0}" dt="2026-01-24T02:49:58.143" v="7881" actId="1076"/>
          <ac:spMkLst>
            <pc:docMk/>
            <pc:sldMk cId="319503705" sldId="277"/>
            <ac:spMk id="5" creationId="{D671279B-E168-80FA-AC0F-207ECC197524}"/>
          </ac:spMkLst>
        </pc:spChg>
        <pc:spChg chg="add mod">
          <ac:chgData name="Yashpal Singh" userId="1f20a8d43ef8778a" providerId="LiveId" clId="{C993D5B8-D0DD-4E0C-B75D-0B8A442856E0}" dt="2026-01-24T02:50:07.893" v="7884" actId="1076"/>
          <ac:spMkLst>
            <pc:docMk/>
            <pc:sldMk cId="319503705" sldId="277"/>
            <ac:spMk id="8" creationId="{DF984E12-6042-20BD-0E52-9B6E3AA81FC4}"/>
          </ac:spMkLst>
        </pc:spChg>
        <pc:spChg chg="mod">
          <ac:chgData name="Yashpal Singh" userId="1f20a8d43ef8778a" providerId="LiveId" clId="{C993D5B8-D0DD-4E0C-B75D-0B8A442856E0}" dt="2026-01-24T20:54:23.237" v="9133" actId="404"/>
          <ac:spMkLst>
            <pc:docMk/>
            <pc:sldMk cId="319503705" sldId="277"/>
            <ac:spMk id="254" creationId="{C0D0B922-3E8C-4DF8-7147-18F962503D28}"/>
          </ac:spMkLst>
        </pc:spChg>
        <pc:picChg chg="add mod">
          <ac:chgData name="Yashpal Singh" userId="1f20a8d43ef8778a" providerId="LiveId" clId="{C993D5B8-D0DD-4E0C-B75D-0B8A442856E0}" dt="2026-01-24T02:50:24.802" v="7888" actId="14100"/>
          <ac:picMkLst>
            <pc:docMk/>
            <pc:sldMk cId="319503705" sldId="277"/>
            <ac:picMk id="2" creationId="{8E51FD2D-FF28-8829-3F0D-D9D1C38FFB90}"/>
          </ac:picMkLst>
        </pc:picChg>
        <pc:picChg chg="add mod">
          <ac:chgData name="Yashpal Singh" userId="1f20a8d43ef8778a" providerId="LiveId" clId="{C993D5B8-D0DD-4E0C-B75D-0B8A442856E0}" dt="2026-01-24T02:50:27.438" v="7890" actId="14100"/>
          <ac:picMkLst>
            <pc:docMk/>
            <pc:sldMk cId="319503705" sldId="277"/>
            <ac:picMk id="9" creationId="{93B5A17A-015A-E3CD-B03E-756DA7F62AA0}"/>
          </ac:picMkLst>
        </pc:picChg>
      </pc:sldChg>
      <pc:sldChg chg="addSp delSp modSp add mod">
        <pc:chgData name="Yashpal Singh" userId="1f20a8d43ef8778a" providerId="LiveId" clId="{C993D5B8-D0DD-4E0C-B75D-0B8A442856E0}" dt="2026-01-24T20:29:01.389" v="9088" actId="6549"/>
        <pc:sldMkLst>
          <pc:docMk/>
          <pc:sldMk cId="815999555" sldId="278"/>
        </pc:sldMkLst>
        <pc:spChg chg="add mod">
          <ac:chgData name="Yashpal Singh" userId="1f20a8d43ef8778a" providerId="LiveId" clId="{C993D5B8-D0DD-4E0C-B75D-0B8A442856E0}" dt="2026-01-22T07:11:52.693" v="7600" actId="1076"/>
          <ac:spMkLst>
            <pc:docMk/>
            <pc:sldMk cId="815999555" sldId="278"/>
            <ac:spMk id="4" creationId="{AEDD0A40-22DC-0EC7-427C-350602B84DB6}"/>
          </ac:spMkLst>
        </pc:spChg>
        <pc:spChg chg="add mod">
          <ac:chgData name="Yashpal Singh" userId="1f20a8d43ef8778a" providerId="LiveId" clId="{C993D5B8-D0DD-4E0C-B75D-0B8A442856E0}" dt="2026-01-24T20:19:04.999" v="8761" actId="6549"/>
          <ac:spMkLst>
            <pc:docMk/>
            <pc:sldMk cId="815999555" sldId="278"/>
            <ac:spMk id="5" creationId="{FB48F31E-E526-076B-2580-A537EFBF602E}"/>
          </ac:spMkLst>
        </pc:spChg>
        <pc:spChg chg="add mod">
          <ac:chgData name="Yashpal Singh" userId="1f20a8d43ef8778a" providerId="LiveId" clId="{C993D5B8-D0DD-4E0C-B75D-0B8A442856E0}" dt="2026-01-22T07:11:59.991" v="7602" actId="1076"/>
          <ac:spMkLst>
            <pc:docMk/>
            <pc:sldMk cId="815999555" sldId="278"/>
            <ac:spMk id="6" creationId="{08055D99-2E3A-C8DB-FFBF-2294366A8F9B}"/>
          </ac:spMkLst>
        </pc:spChg>
        <pc:spChg chg="mod">
          <ac:chgData name="Yashpal Singh" userId="1f20a8d43ef8778a" providerId="LiveId" clId="{C993D5B8-D0DD-4E0C-B75D-0B8A442856E0}" dt="2026-01-24T20:29:01.389" v="9088" actId="6549"/>
          <ac:spMkLst>
            <pc:docMk/>
            <pc:sldMk cId="815999555" sldId="278"/>
            <ac:spMk id="234" creationId="{6B7B6C44-F4C7-BAF6-C80A-AD749FB0792E}"/>
          </ac:spMkLst>
        </pc:spChg>
        <pc:picChg chg="add mod">
          <ac:chgData name="Yashpal Singh" userId="1f20a8d43ef8778a" providerId="LiveId" clId="{C993D5B8-D0DD-4E0C-B75D-0B8A442856E0}" dt="2026-01-22T07:11:56.011" v="7601" actId="1076"/>
          <ac:picMkLst>
            <pc:docMk/>
            <pc:sldMk cId="815999555" sldId="278"/>
            <ac:picMk id="7" creationId="{E5B3B3B7-449B-8E43-AE27-5123B1A299D7}"/>
          </ac:picMkLst>
        </pc:picChg>
        <pc:picChg chg="add mod">
          <ac:chgData name="Yashpal Singh" userId="1f20a8d43ef8778a" providerId="LiveId" clId="{C993D5B8-D0DD-4E0C-B75D-0B8A442856E0}" dt="2026-01-22T07:12:04.612" v="7603" actId="1076"/>
          <ac:picMkLst>
            <pc:docMk/>
            <pc:sldMk cId="815999555" sldId="278"/>
            <ac:picMk id="8" creationId="{9AA7E426-DFC7-7354-5CAE-9C1D98EEAB02}"/>
          </ac:picMkLst>
        </pc:picChg>
      </pc:sldChg>
      <pc:sldChg chg="addSp delSp modSp add mod">
        <pc:chgData name="Yashpal Singh" userId="1f20a8d43ef8778a" providerId="LiveId" clId="{C993D5B8-D0DD-4E0C-B75D-0B8A442856E0}" dt="2026-01-24T20:33:07.488" v="9099" actId="167"/>
        <pc:sldMkLst>
          <pc:docMk/>
          <pc:sldMk cId="4017745984" sldId="279"/>
        </pc:sldMkLst>
        <pc:spChg chg="mod">
          <ac:chgData name="Yashpal Singh" userId="1f20a8d43ef8778a" providerId="LiveId" clId="{C993D5B8-D0DD-4E0C-B75D-0B8A442856E0}" dt="2026-01-19T22:39:07.670" v="1614" actId="1076"/>
          <ac:spMkLst>
            <pc:docMk/>
            <pc:sldMk cId="4017745984" sldId="279"/>
            <ac:spMk id="4" creationId="{A54EBF3E-92DB-BE09-A894-9B89950DD992}"/>
          </ac:spMkLst>
        </pc:spChg>
        <pc:spChg chg="add mod">
          <ac:chgData name="Yashpal Singh" userId="1f20a8d43ef8778a" providerId="LiveId" clId="{C993D5B8-D0DD-4E0C-B75D-0B8A442856E0}" dt="2026-01-24T20:28:28.597" v="9086" actId="255"/>
          <ac:spMkLst>
            <pc:docMk/>
            <pc:sldMk cId="4017745984" sldId="279"/>
            <ac:spMk id="5" creationId="{7F3628F9-7CA8-BBBE-427D-651058692B75}"/>
          </ac:spMkLst>
        </pc:spChg>
        <pc:spChg chg="add mod ord">
          <ac:chgData name="Yashpal Singh" userId="1f20a8d43ef8778a" providerId="LiveId" clId="{C993D5B8-D0DD-4E0C-B75D-0B8A442856E0}" dt="2026-01-24T20:32:22.947" v="9096" actId="167"/>
          <ac:spMkLst>
            <pc:docMk/>
            <pc:sldMk cId="4017745984" sldId="279"/>
            <ac:spMk id="6" creationId="{C10E6D8B-19CB-D055-5266-CFD6930A2C27}"/>
          </ac:spMkLst>
        </pc:spChg>
        <pc:spChg chg="add mod ord">
          <ac:chgData name="Yashpal Singh" userId="1f20a8d43ef8778a" providerId="LiveId" clId="{C993D5B8-D0DD-4E0C-B75D-0B8A442856E0}" dt="2026-01-24T20:33:07.488" v="9099" actId="167"/>
          <ac:spMkLst>
            <pc:docMk/>
            <pc:sldMk cId="4017745984" sldId="279"/>
            <ac:spMk id="7" creationId="{7A0F5327-B08F-238A-DFDB-50840A8D1D6B}"/>
          </ac:spMkLst>
        </pc:spChg>
        <pc:spChg chg="mod">
          <ac:chgData name="Yashpal Singh" userId="1f20a8d43ef8778a" providerId="LiveId" clId="{C993D5B8-D0DD-4E0C-B75D-0B8A442856E0}" dt="2026-01-24T20:30:36.029" v="9091" actId="6549"/>
          <ac:spMkLst>
            <pc:docMk/>
            <pc:sldMk cId="4017745984" sldId="279"/>
            <ac:spMk id="234" creationId="{5B67D748-0E36-0D1E-A5DE-F03FB48DCA09}"/>
          </ac:spMkLst>
        </pc:spChg>
        <pc:graphicFrameChg chg="mod modGraphic">
          <ac:chgData name="Yashpal Singh" userId="1f20a8d43ef8778a" providerId="LiveId" clId="{C993D5B8-D0DD-4E0C-B75D-0B8A442856E0}" dt="2026-01-24T20:31:08.635" v="9092" actId="113"/>
          <ac:graphicFrameMkLst>
            <pc:docMk/>
            <pc:sldMk cId="4017745984" sldId="279"/>
            <ac:graphicFrameMk id="3" creationId="{F94D7C78-5948-D99F-4214-D7ED2B7FB308}"/>
          </ac:graphicFrameMkLst>
        </pc:graphicFrameChg>
        <pc:picChg chg="mod">
          <ac:chgData name="Yashpal Singh" userId="1f20a8d43ef8778a" providerId="LiveId" clId="{C993D5B8-D0DD-4E0C-B75D-0B8A442856E0}" dt="2026-01-22T07:03:46.848" v="7597" actId="1076"/>
          <ac:picMkLst>
            <pc:docMk/>
            <pc:sldMk cId="4017745984" sldId="279"/>
            <ac:picMk id="2" creationId="{71225047-594A-2B6D-E6B0-E4127368CF19}"/>
          </ac:picMkLst>
        </pc:picChg>
      </pc:sldChg>
      <pc:sldChg chg="addSp delSp modSp add mod">
        <pc:chgData name="Yashpal Singh" userId="1f20a8d43ef8778a" providerId="LiveId" clId="{C993D5B8-D0DD-4E0C-B75D-0B8A442856E0}" dt="2026-01-24T20:34:32.541" v="9101" actId="113"/>
        <pc:sldMkLst>
          <pc:docMk/>
          <pc:sldMk cId="2320842257" sldId="280"/>
        </pc:sldMkLst>
        <pc:spChg chg="add del mod">
          <ac:chgData name="Yashpal Singh" userId="1f20a8d43ef8778a" providerId="LiveId" clId="{C993D5B8-D0DD-4E0C-B75D-0B8A442856E0}" dt="2026-01-23T05:50:11.970" v="7643"/>
          <ac:spMkLst>
            <pc:docMk/>
            <pc:sldMk cId="2320842257" sldId="280"/>
            <ac:spMk id="2" creationId="{72BBC454-DF6A-1394-F717-9775FD48F1E9}"/>
          </ac:spMkLst>
        </pc:spChg>
        <pc:spChg chg="add mod">
          <ac:chgData name="Yashpal Singh" userId="1f20a8d43ef8778a" providerId="LiveId" clId="{C993D5B8-D0DD-4E0C-B75D-0B8A442856E0}" dt="2026-01-23T05:50:24.756" v="7645" actId="1076"/>
          <ac:spMkLst>
            <pc:docMk/>
            <pc:sldMk cId="2320842257" sldId="280"/>
            <ac:spMk id="5" creationId="{6BDD01AE-5747-4644-AC6B-A87AE0505B88}"/>
          </ac:spMkLst>
        </pc:spChg>
        <pc:spChg chg="add mod">
          <ac:chgData name="Yashpal Singh" userId="1f20a8d43ef8778a" providerId="LiveId" clId="{C993D5B8-D0DD-4E0C-B75D-0B8A442856E0}" dt="2026-01-23T06:52:40.943" v="7703" actId="2711"/>
          <ac:spMkLst>
            <pc:docMk/>
            <pc:sldMk cId="2320842257" sldId="280"/>
            <ac:spMk id="6" creationId="{5D2F1AAE-906B-7DEC-B6E1-5F5426C8FABC}"/>
          </ac:spMkLst>
        </pc:spChg>
        <pc:spChg chg="mod">
          <ac:chgData name="Yashpal Singh" userId="1f20a8d43ef8778a" providerId="LiveId" clId="{C993D5B8-D0DD-4E0C-B75D-0B8A442856E0}" dt="2026-01-23T07:15:16.248" v="7786" actId="20577"/>
          <ac:spMkLst>
            <pc:docMk/>
            <pc:sldMk cId="2320842257" sldId="280"/>
            <ac:spMk id="244" creationId="{31101E06-9B99-3208-600A-08763FAFD601}"/>
          </ac:spMkLst>
        </pc:spChg>
        <pc:graphicFrameChg chg="add mod modGraphic">
          <ac:chgData name="Yashpal Singh" userId="1f20a8d43ef8778a" providerId="LiveId" clId="{C993D5B8-D0DD-4E0C-B75D-0B8A442856E0}" dt="2026-01-24T20:34:32.541" v="9101" actId="113"/>
          <ac:graphicFrameMkLst>
            <pc:docMk/>
            <pc:sldMk cId="2320842257" sldId="280"/>
            <ac:graphicFrameMk id="3" creationId="{544A520E-A2B8-12C9-FFB0-1AD4B479EDFC}"/>
          </ac:graphicFrameMkLst>
        </pc:graphicFrameChg>
        <pc:picChg chg="add mod">
          <ac:chgData name="Yashpal Singh" userId="1f20a8d43ef8778a" providerId="LiveId" clId="{C993D5B8-D0DD-4E0C-B75D-0B8A442856E0}" dt="2026-01-23T05:50:31.464" v="7647" actId="1076"/>
          <ac:picMkLst>
            <pc:docMk/>
            <pc:sldMk cId="2320842257" sldId="280"/>
            <ac:picMk id="4" creationId="{3AC151E2-1C89-D984-351A-1B8EF984FE52}"/>
          </ac:picMkLst>
        </pc:picChg>
      </pc:sldChg>
      <pc:sldChg chg="addSp delSp modSp add mod">
        <pc:chgData name="Yashpal Singh" userId="1f20a8d43ef8778a" providerId="LiveId" clId="{C993D5B8-D0DD-4E0C-B75D-0B8A442856E0}" dt="2026-01-24T20:38:44.744" v="9116" actId="113"/>
        <pc:sldMkLst>
          <pc:docMk/>
          <pc:sldMk cId="2384355490" sldId="281"/>
        </pc:sldMkLst>
        <pc:spChg chg="add mod">
          <ac:chgData name="Yashpal Singh" userId="1f20a8d43ef8778a" providerId="LiveId" clId="{C993D5B8-D0DD-4E0C-B75D-0B8A442856E0}" dt="2026-01-24T20:38:44.744" v="9116" actId="113"/>
          <ac:spMkLst>
            <pc:docMk/>
            <pc:sldMk cId="2384355490" sldId="281"/>
            <ac:spMk id="2" creationId="{C43C5EB2-C647-7D92-AE64-F7DCFF772895}"/>
          </ac:spMkLst>
        </pc:spChg>
        <pc:spChg chg="add mod">
          <ac:chgData name="Yashpal Singh" userId="1f20a8d43ef8778a" providerId="LiveId" clId="{C993D5B8-D0DD-4E0C-B75D-0B8A442856E0}" dt="2026-01-24T02:36:47.681" v="7800" actId="1076"/>
          <ac:spMkLst>
            <pc:docMk/>
            <pc:sldMk cId="2384355490" sldId="281"/>
            <ac:spMk id="5" creationId="{774548DE-7F8E-769E-9164-494F083854B5}"/>
          </ac:spMkLst>
        </pc:spChg>
        <pc:spChg chg="add mod ord">
          <ac:chgData name="Yashpal Singh" userId="1f20a8d43ef8778a" providerId="LiveId" clId="{C993D5B8-D0DD-4E0C-B75D-0B8A442856E0}" dt="2026-01-24T20:37:06.472" v="9108" actId="167"/>
          <ac:spMkLst>
            <pc:docMk/>
            <pc:sldMk cId="2384355490" sldId="281"/>
            <ac:spMk id="6" creationId="{EF76CBA0-54C6-2387-BCF2-ED12861A0F8E}"/>
          </ac:spMkLst>
        </pc:spChg>
        <pc:spChg chg="add mod ord">
          <ac:chgData name="Yashpal Singh" userId="1f20a8d43ef8778a" providerId="LiveId" clId="{C993D5B8-D0DD-4E0C-B75D-0B8A442856E0}" dt="2026-01-24T20:37:35.397" v="9111" actId="167"/>
          <ac:spMkLst>
            <pc:docMk/>
            <pc:sldMk cId="2384355490" sldId="281"/>
            <ac:spMk id="7" creationId="{B0ED45DC-C40B-A005-EDA5-8E151F2B87DD}"/>
          </ac:spMkLst>
        </pc:spChg>
        <pc:spChg chg="mod">
          <ac:chgData name="Yashpal Singh" userId="1f20a8d43ef8778a" providerId="LiveId" clId="{C993D5B8-D0DD-4E0C-B75D-0B8A442856E0}" dt="2026-01-24T02:36:43.393" v="7799" actId="1076"/>
          <ac:spMkLst>
            <pc:docMk/>
            <pc:sldMk cId="2384355490" sldId="281"/>
            <ac:spMk id="254" creationId="{EC797FF5-C93A-EFF6-A650-1F7734920BE3}"/>
          </ac:spMkLst>
        </pc:spChg>
        <pc:graphicFrameChg chg="mod modGraphic">
          <ac:chgData name="Yashpal Singh" userId="1f20a8d43ef8778a" providerId="LiveId" clId="{C993D5B8-D0DD-4E0C-B75D-0B8A442856E0}" dt="2026-01-24T20:36:11.142" v="9104" actId="113"/>
          <ac:graphicFrameMkLst>
            <pc:docMk/>
            <pc:sldMk cId="2384355490" sldId="281"/>
            <ac:graphicFrameMk id="3" creationId="{6FF50B19-CA9A-9C74-BF7F-DE47E0AF4733}"/>
          </ac:graphicFrameMkLst>
        </pc:graphicFrameChg>
        <pc:picChg chg="add mod">
          <ac:chgData name="Yashpal Singh" userId="1f20a8d43ef8778a" providerId="LiveId" clId="{C993D5B8-D0DD-4E0C-B75D-0B8A442856E0}" dt="2026-01-24T02:36:59.931" v="7804" actId="1076"/>
          <ac:picMkLst>
            <pc:docMk/>
            <pc:sldMk cId="2384355490" sldId="281"/>
            <ac:picMk id="4" creationId="{1EA5C4DF-ED50-F281-9A9C-A5E3D07AD0E9}"/>
          </ac:picMkLst>
        </pc:picChg>
      </pc:sldChg>
      <pc:sldChg chg="addSp delSp modSp add mod">
        <pc:chgData name="Yashpal Singh" userId="1f20a8d43ef8778a" providerId="LiveId" clId="{C993D5B8-D0DD-4E0C-B75D-0B8A442856E0}" dt="2026-01-24T21:03:21.132" v="9202" actId="5793"/>
        <pc:sldMkLst>
          <pc:docMk/>
          <pc:sldMk cId="422392650" sldId="282"/>
        </pc:sldMkLst>
        <pc:spChg chg="add mod">
          <ac:chgData name="Yashpal Singh" userId="1f20a8d43ef8778a" providerId="LiveId" clId="{C993D5B8-D0DD-4E0C-B75D-0B8A442856E0}" dt="2026-01-24T21:03:21.132" v="9202" actId="5793"/>
          <ac:spMkLst>
            <pc:docMk/>
            <pc:sldMk cId="422392650" sldId="282"/>
            <ac:spMk id="4" creationId="{9B852CEB-57AC-1B4D-C5BA-6CDFE3B9250B}"/>
          </ac:spMkLst>
        </pc:spChg>
        <pc:spChg chg="mod">
          <ac:chgData name="Yashpal Singh" userId="1f20a8d43ef8778a" providerId="LiveId" clId="{C993D5B8-D0DD-4E0C-B75D-0B8A442856E0}" dt="2026-01-24T03:24:05.537" v="8022" actId="6549"/>
          <ac:spMkLst>
            <pc:docMk/>
            <pc:sldMk cId="422392650" sldId="282"/>
            <ac:spMk id="274" creationId="{766C38E2-F25F-D023-23FB-4A1AC32A788A}"/>
          </ac:spMkLst>
        </pc:spChg>
        <pc:spChg chg="mod">
          <ac:chgData name="Yashpal Singh" userId="1f20a8d43ef8778a" providerId="LiveId" clId="{C993D5B8-D0DD-4E0C-B75D-0B8A442856E0}" dt="2026-01-24T03:24:29.229" v="8025" actId="207"/>
          <ac:spMkLst>
            <pc:docMk/>
            <pc:sldMk cId="422392650" sldId="282"/>
            <ac:spMk id="275" creationId="{B178F9B8-97D9-425B-AB6D-B4E016B82D6B}"/>
          </ac:spMkLst>
        </pc:spChg>
        <pc:graphicFrameChg chg="add mod modGraphic">
          <ac:chgData name="Yashpal Singh" userId="1f20a8d43ef8778a" providerId="LiveId" clId="{C993D5B8-D0DD-4E0C-B75D-0B8A442856E0}" dt="2026-01-24T03:24:56.819" v="8029" actId="1076"/>
          <ac:graphicFrameMkLst>
            <pc:docMk/>
            <pc:sldMk cId="422392650" sldId="282"/>
            <ac:graphicFrameMk id="5" creationId="{0D5BD32B-17E4-B661-1920-6E181B6BE633}"/>
          </ac:graphicFrameMkLst>
        </pc:graphicFrameChg>
      </pc:sldChg>
      <pc:sldChg chg="addSp delSp modSp add mod">
        <pc:chgData name="Yashpal Singh" userId="1f20a8d43ef8778a" providerId="LiveId" clId="{C993D5B8-D0DD-4E0C-B75D-0B8A442856E0}" dt="2026-01-24T05:58:40.786" v="8283" actId="255"/>
        <pc:sldMkLst>
          <pc:docMk/>
          <pc:sldMk cId="603505802" sldId="283"/>
        </pc:sldMkLst>
        <pc:spChg chg="mod">
          <ac:chgData name="Yashpal Singh" userId="1f20a8d43ef8778a" providerId="LiveId" clId="{C993D5B8-D0DD-4E0C-B75D-0B8A442856E0}" dt="2026-01-20T21:49:37.725" v="2626" actId="113"/>
          <ac:spMkLst>
            <pc:docMk/>
            <pc:sldMk cId="603505802" sldId="283"/>
            <ac:spMk id="4" creationId="{213D31BB-DFA4-C13F-7E3E-2510F2015350}"/>
          </ac:spMkLst>
        </pc:spChg>
        <pc:spChg chg="add del mod">
          <ac:chgData name="Yashpal Singh" userId="1f20a8d43ef8778a" providerId="LiveId" clId="{C993D5B8-D0DD-4E0C-B75D-0B8A442856E0}" dt="2026-01-24T05:51:06.576" v="8244" actId="478"/>
          <ac:spMkLst>
            <pc:docMk/>
            <pc:sldMk cId="603505802" sldId="283"/>
            <ac:spMk id="8" creationId="{76B90AD9-2238-0D7C-857B-93307DFBF84B}"/>
          </ac:spMkLst>
        </pc:spChg>
        <pc:spChg chg="add mod">
          <ac:chgData name="Yashpal Singh" userId="1f20a8d43ef8778a" providerId="LiveId" clId="{C993D5B8-D0DD-4E0C-B75D-0B8A442856E0}" dt="2026-01-24T05:58:40.786" v="8283" actId="255"/>
          <ac:spMkLst>
            <pc:docMk/>
            <pc:sldMk cId="603505802" sldId="283"/>
            <ac:spMk id="9" creationId="{F9F0A4C1-6CCF-65FF-13F6-60A4523E2B97}"/>
          </ac:spMkLst>
        </pc:spChg>
        <pc:spChg chg="mod">
          <ac:chgData name="Yashpal Singh" userId="1f20a8d43ef8778a" providerId="LiveId" clId="{C993D5B8-D0DD-4E0C-B75D-0B8A442856E0}" dt="2026-01-20T21:48:35.238" v="2588" actId="20577"/>
          <ac:spMkLst>
            <pc:docMk/>
            <pc:sldMk cId="603505802" sldId="283"/>
            <ac:spMk id="274" creationId="{2541B213-9966-6397-8342-0606779E4051}"/>
          </ac:spMkLst>
        </pc:spChg>
        <pc:picChg chg="add mod">
          <ac:chgData name="Yashpal Singh" userId="1f20a8d43ef8778a" providerId="LiveId" clId="{C993D5B8-D0DD-4E0C-B75D-0B8A442856E0}" dt="2026-01-20T21:48:42.186" v="2589" actId="1076"/>
          <ac:picMkLst>
            <pc:docMk/>
            <pc:sldMk cId="603505802" sldId="283"/>
            <ac:picMk id="5" creationId="{1C00312E-82C4-2A59-FD1C-EB527E0B9E39}"/>
          </ac:picMkLst>
        </pc:picChg>
        <pc:picChg chg="add del mod">
          <ac:chgData name="Yashpal Singh" userId="1f20a8d43ef8778a" providerId="LiveId" clId="{C993D5B8-D0DD-4E0C-B75D-0B8A442856E0}" dt="2026-01-24T05:51:01.726" v="8243" actId="478"/>
          <ac:picMkLst>
            <pc:docMk/>
            <pc:sldMk cId="603505802" sldId="283"/>
            <ac:picMk id="7" creationId="{4CE02CB1-8FFD-4F34-0CD5-6E8899D24179}"/>
          </ac:picMkLst>
        </pc:picChg>
      </pc:sldChg>
      <pc:sldChg chg="addSp modSp add mod ord">
        <pc:chgData name="Yashpal Singh" userId="1f20a8d43ef8778a" providerId="LiveId" clId="{C993D5B8-D0DD-4E0C-B75D-0B8A442856E0}" dt="2026-01-24T20:56:25.303" v="9157" actId="20577"/>
        <pc:sldMkLst>
          <pc:docMk/>
          <pc:sldMk cId="1832395854" sldId="284"/>
        </pc:sldMkLst>
        <pc:spChg chg="add mod">
          <ac:chgData name="Yashpal Singh" userId="1f20a8d43ef8778a" providerId="LiveId" clId="{C993D5B8-D0DD-4E0C-B75D-0B8A442856E0}" dt="2026-01-20T23:57:01.538" v="2934" actId="113"/>
          <ac:spMkLst>
            <pc:docMk/>
            <pc:sldMk cId="1832395854" sldId="284"/>
            <ac:spMk id="2" creationId="{B749DEAD-0C4E-13D5-07A7-DEA74D5F9A72}"/>
          </ac:spMkLst>
        </pc:spChg>
        <pc:spChg chg="add mod">
          <ac:chgData name="Yashpal Singh" userId="1f20a8d43ef8778a" providerId="LiveId" clId="{C993D5B8-D0DD-4E0C-B75D-0B8A442856E0}" dt="2026-01-20T23:59:40.945" v="2949" actId="1076"/>
          <ac:spMkLst>
            <pc:docMk/>
            <pc:sldMk cId="1832395854" sldId="284"/>
            <ac:spMk id="3" creationId="{A1915F7F-01DF-EF4C-421F-C1D3500599BB}"/>
          </ac:spMkLst>
        </pc:spChg>
        <pc:spChg chg="add mod">
          <ac:chgData name="Yashpal Singh" userId="1f20a8d43ef8778a" providerId="LiveId" clId="{C993D5B8-D0DD-4E0C-B75D-0B8A442856E0}" dt="2026-01-21T00:09:23.597" v="3131" actId="20577"/>
          <ac:spMkLst>
            <pc:docMk/>
            <pc:sldMk cId="1832395854" sldId="284"/>
            <ac:spMk id="4" creationId="{81FAE240-77CB-0598-925D-EFFB4F93C9E2}"/>
          </ac:spMkLst>
        </pc:spChg>
        <pc:spChg chg="add mod">
          <ac:chgData name="Yashpal Singh" userId="1f20a8d43ef8778a" providerId="LiveId" clId="{C993D5B8-D0DD-4E0C-B75D-0B8A442856E0}" dt="2026-01-21T00:09:50.846" v="3132" actId="20577"/>
          <ac:spMkLst>
            <pc:docMk/>
            <pc:sldMk cId="1832395854" sldId="284"/>
            <ac:spMk id="5" creationId="{8F5BDE85-426F-C664-591C-A781B3653D27}"/>
          </ac:spMkLst>
        </pc:spChg>
        <pc:spChg chg="mod">
          <ac:chgData name="Yashpal Singh" userId="1f20a8d43ef8778a" providerId="LiveId" clId="{C993D5B8-D0DD-4E0C-B75D-0B8A442856E0}" dt="2026-01-21T00:08:55.435" v="3130" actId="1076"/>
          <ac:spMkLst>
            <pc:docMk/>
            <pc:sldMk cId="1832395854" sldId="284"/>
            <ac:spMk id="10" creationId="{CD0551BC-0662-40FA-BB31-34D7B6F1D6A4}"/>
          </ac:spMkLst>
        </pc:spChg>
        <pc:spChg chg="mod">
          <ac:chgData name="Yashpal Singh" userId="1f20a8d43ef8778a" providerId="LiveId" clId="{C993D5B8-D0DD-4E0C-B75D-0B8A442856E0}" dt="2026-01-24T20:56:25.303" v="9157" actId="20577"/>
          <ac:spMkLst>
            <pc:docMk/>
            <pc:sldMk cId="1832395854" sldId="284"/>
            <ac:spMk id="264" creationId="{AD8466FC-F32A-7F31-C7D4-68F1CE2EEA01}"/>
          </ac:spMkLst>
        </pc:spChg>
        <pc:picChg chg="mod">
          <ac:chgData name="Yashpal Singh" userId="1f20a8d43ef8778a" providerId="LiveId" clId="{C993D5B8-D0DD-4E0C-B75D-0B8A442856E0}" dt="2026-01-21T00:02:08.743" v="2961" actId="1076"/>
          <ac:picMkLst>
            <pc:docMk/>
            <pc:sldMk cId="1832395854" sldId="284"/>
            <ac:picMk id="7" creationId="{6AA35A3C-8D57-6340-B1D3-27F347D05B64}"/>
          </ac:picMkLst>
        </pc:picChg>
        <pc:picChg chg="mod">
          <ac:chgData name="Yashpal Singh" userId="1f20a8d43ef8778a" providerId="LiveId" clId="{C993D5B8-D0DD-4E0C-B75D-0B8A442856E0}" dt="2026-01-21T00:02:20.272" v="2963" actId="1076"/>
          <ac:picMkLst>
            <pc:docMk/>
            <pc:sldMk cId="1832395854" sldId="284"/>
            <ac:picMk id="9" creationId="{1A2DC768-7449-503D-F077-D2929497E373}"/>
          </ac:picMkLst>
        </pc:picChg>
        <pc:picChg chg="mod">
          <ac:chgData name="Yashpal Singh" userId="1f20a8d43ef8778a" providerId="LiveId" clId="{C993D5B8-D0DD-4E0C-B75D-0B8A442856E0}" dt="2026-01-20T23:59:36.842" v="2948" actId="1076"/>
          <ac:picMkLst>
            <pc:docMk/>
            <pc:sldMk cId="1832395854" sldId="284"/>
            <ac:picMk id="12" creationId="{98D7796B-6F2E-C4C5-1FAA-949C250CEE52}"/>
          </ac:picMkLst>
        </pc:picChg>
      </pc:sldChg>
      <pc:sldChg chg="addSp delSp modSp add mod">
        <pc:chgData name="Yashpal Singh" userId="1f20a8d43ef8778a" providerId="LiveId" clId="{C993D5B8-D0DD-4E0C-B75D-0B8A442856E0}" dt="2026-01-24T21:00:39.118" v="9193" actId="1076"/>
        <pc:sldMkLst>
          <pc:docMk/>
          <pc:sldMk cId="1040362676" sldId="285"/>
        </pc:sldMkLst>
        <pc:spChg chg="add mod">
          <ac:chgData name="Yashpal Singh" userId="1f20a8d43ef8778a" providerId="LiveId" clId="{C993D5B8-D0DD-4E0C-B75D-0B8A442856E0}" dt="2026-01-24T21:00:39.118" v="9193" actId="1076"/>
          <ac:spMkLst>
            <pc:docMk/>
            <pc:sldMk cId="1040362676" sldId="285"/>
            <ac:spMk id="3" creationId="{4CB2F243-31AB-5F91-3A20-1D2658509FE3}"/>
          </ac:spMkLst>
        </pc:spChg>
        <pc:spChg chg="add mod">
          <ac:chgData name="Yashpal Singh" userId="1f20a8d43ef8778a" providerId="LiveId" clId="{C993D5B8-D0DD-4E0C-B75D-0B8A442856E0}" dt="2026-01-24T03:14:51.762" v="7984" actId="1076"/>
          <ac:spMkLst>
            <pc:docMk/>
            <pc:sldMk cId="1040362676" sldId="285"/>
            <ac:spMk id="5" creationId="{E3F684F9-15FA-C25E-6E6C-CAB38E3DB9A0}"/>
          </ac:spMkLst>
        </pc:spChg>
        <pc:spChg chg="mod">
          <ac:chgData name="Yashpal Singh" userId="1f20a8d43ef8778a" providerId="LiveId" clId="{C993D5B8-D0DD-4E0C-B75D-0B8A442856E0}" dt="2026-01-24T21:00:10.542" v="9189" actId="6549"/>
          <ac:spMkLst>
            <pc:docMk/>
            <pc:sldMk cId="1040362676" sldId="285"/>
            <ac:spMk id="15" creationId="{856B3CD8-85B7-9967-5700-420DB517B602}"/>
          </ac:spMkLst>
        </pc:spChg>
        <pc:spChg chg="mod">
          <ac:chgData name="Yashpal Singh" userId="1f20a8d43ef8778a" providerId="LiveId" clId="{C993D5B8-D0DD-4E0C-B75D-0B8A442856E0}" dt="2026-01-24T20:59:56.505" v="9187" actId="404"/>
          <ac:spMkLst>
            <pc:docMk/>
            <pc:sldMk cId="1040362676" sldId="285"/>
            <ac:spMk id="264" creationId="{E62703BF-9F10-4534-1A7B-28D86450562A}"/>
          </ac:spMkLst>
        </pc:spChg>
        <pc:picChg chg="add mod">
          <ac:chgData name="Yashpal Singh" userId="1f20a8d43ef8778a" providerId="LiveId" clId="{C993D5B8-D0DD-4E0C-B75D-0B8A442856E0}" dt="2026-01-24T03:14:36.587" v="7982" actId="14100"/>
          <ac:picMkLst>
            <pc:docMk/>
            <pc:sldMk cId="1040362676" sldId="285"/>
            <ac:picMk id="2" creationId="{2B466B9D-7EB2-29BF-00C0-B8045096B4B8}"/>
          </ac:picMkLst>
        </pc:picChg>
        <pc:picChg chg="add mod">
          <ac:chgData name="Yashpal Singh" userId="1f20a8d43ef8778a" providerId="LiveId" clId="{C993D5B8-D0DD-4E0C-B75D-0B8A442856E0}" dt="2026-01-24T03:14:40.888" v="7983" actId="14100"/>
          <ac:picMkLst>
            <pc:docMk/>
            <pc:sldMk cId="1040362676" sldId="285"/>
            <ac:picMk id="4" creationId="{666FDA0A-FA93-216F-41CE-E06F529C93A6}"/>
          </ac:picMkLst>
        </pc:picChg>
      </pc:sldChg>
      <pc:sldChg chg="addSp delSp modSp add del mod ord">
        <pc:chgData name="Yashpal Singh" userId="1f20a8d43ef8778a" providerId="LiveId" clId="{C993D5B8-D0DD-4E0C-B75D-0B8A442856E0}" dt="2026-01-24T03:23:13.288" v="8019" actId="2696"/>
        <pc:sldMkLst>
          <pc:docMk/>
          <pc:sldMk cId="1504360330" sldId="286"/>
        </pc:sldMkLst>
      </pc:sldChg>
      <pc:sldChg chg="addSp delSp modSp add mod">
        <pc:chgData name="Yashpal Singh" userId="1f20a8d43ef8778a" providerId="LiveId" clId="{C993D5B8-D0DD-4E0C-B75D-0B8A442856E0}" dt="2026-01-24T03:20:39.108" v="8018" actId="14100"/>
        <pc:sldMkLst>
          <pc:docMk/>
          <pc:sldMk cId="1969281076" sldId="287"/>
        </pc:sldMkLst>
        <pc:spChg chg="add mod ord">
          <ac:chgData name="Yashpal Singh" userId="1f20a8d43ef8778a" providerId="LiveId" clId="{C993D5B8-D0DD-4E0C-B75D-0B8A442856E0}" dt="2026-01-24T03:19:22.940" v="8016" actId="167"/>
          <ac:spMkLst>
            <pc:docMk/>
            <pc:sldMk cId="1969281076" sldId="287"/>
            <ac:spMk id="2" creationId="{25C2789E-A5E2-E7FD-3E28-483A3ABFE7B4}"/>
          </ac:spMkLst>
        </pc:spChg>
        <pc:spChg chg="mod">
          <ac:chgData name="Yashpal Singh" userId="1f20a8d43ef8778a" providerId="LiveId" clId="{C993D5B8-D0DD-4E0C-B75D-0B8A442856E0}" dt="2026-01-24T03:17:09.070" v="8001" actId="14100"/>
          <ac:spMkLst>
            <pc:docMk/>
            <pc:sldMk cId="1969281076" sldId="287"/>
            <ac:spMk id="4" creationId="{45AA0CFD-7B78-4D66-76A1-1AEEE7C2A8A3}"/>
          </ac:spMkLst>
        </pc:spChg>
        <pc:spChg chg="add mod">
          <ac:chgData name="Yashpal Singh" userId="1f20a8d43ef8778a" providerId="LiveId" clId="{C993D5B8-D0DD-4E0C-B75D-0B8A442856E0}" dt="2026-01-24T03:16:57.047" v="7998" actId="14100"/>
          <ac:spMkLst>
            <pc:docMk/>
            <pc:sldMk cId="1969281076" sldId="287"/>
            <ac:spMk id="8" creationId="{DE2C8F79-BBD9-7A28-0A41-46CF93302570}"/>
          </ac:spMkLst>
        </pc:spChg>
        <pc:spChg chg="mod">
          <ac:chgData name="Yashpal Singh" userId="1f20a8d43ef8778a" providerId="LiveId" clId="{C993D5B8-D0DD-4E0C-B75D-0B8A442856E0}" dt="2026-01-21T02:44:40.611" v="4572" actId="6549"/>
          <ac:spMkLst>
            <pc:docMk/>
            <pc:sldMk cId="1969281076" sldId="287"/>
            <ac:spMk id="274" creationId="{A3ACA238-4210-AF0E-E324-6C6F160A7965}"/>
          </ac:spMkLst>
        </pc:spChg>
        <pc:graphicFrameChg chg="mod modGraphic">
          <ac:chgData name="Yashpal Singh" userId="1f20a8d43ef8778a" providerId="LiveId" clId="{C993D5B8-D0DD-4E0C-B75D-0B8A442856E0}" dt="2026-01-24T03:20:39.108" v="8018" actId="14100"/>
          <ac:graphicFrameMkLst>
            <pc:docMk/>
            <pc:sldMk cId="1969281076" sldId="287"/>
            <ac:graphicFrameMk id="3" creationId="{75F74CD6-007B-A274-8DF0-91C159DD78D5}"/>
          </ac:graphicFrameMkLst>
        </pc:graphicFrameChg>
        <pc:graphicFrameChg chg="add mod modGraphic">
          <ac:chgData name="Yashpal Singh" userId="1f20a8d43ef8778a" providerId="LiveId" clId="{C993D5B8-D0DD-4E0C-B75D-0B8A442856E0}" dt="2026-01-24T03:18:41.834" v="8013" actId="20577"/>
          <ac:graphicFrameMkLst>
            <pc:docMk/>
            <pc:sldMk cId="1969281076" sldId="287"/>
            <ac:graphicFrameMk id="7" creationId="{A994C83B-441E-5C4C-F88F-1255681B8FC8}"/>
          </ac:graphicFrameMkLst>
        </pc:graphicFrameChg>
      </pc:sldChg>
      <pc:sldChg chg="addSp delSp modSp add mod">
        <pc:chgData name="Yashpal Singh" userId="1f20a8d43ef8778a" providerId="LiveId" clId="{C993D5B8-D0DD-4E0C-B75D-0B8A442856E0}" dt="2026-01-24T21:08:54.745" v="9253" actId="5793"/>
        <pc:sldMkLst>
          <pc:docMk/>
          <pc:sldMk cId="3632156046" sldId="288"/>
        </pc:sldMkLst>
        <pc:spChg chg="add mod">
          <ac:chgData name="Yashpal Singh" userId="1f20a8d43ef8778a" providerId="LiveId" clId="{C993D5B8-D0DD-4E0C-B75D-0B8A442856E0}" dt="2026-01-24T21:08:54.745" v="9253" actId="5793"/>
          <ac:spMkLst>
            <pc:docMk/>
            <pc:sldMk cId="3632156046" sldId="288"/>
            <ac:spMk id="3" creationId="{1627D849-5B00-95B1-34DF-56F10FEFF513}"/>
          </ac:spMkLst>
        </pc:spChg>
        <pc:spChg chg="mod">
          <ac:chgData name="Yashpal Singh" userId="1f20a8d43ef8778a" providerId="LiveId" clId="{C993D5B8-D0DD-4E0C-B75D-0B8A442856E0}" dt="2026-01-24T03:29:56.338" v="8058" actId="6549"/>
          <ac:spMkLst>
            <pc:docMk/>
            <pc:sldMk cId="3632156046" sldId="288"/>
            <ac:spMk id="274" creationId="{F842E4A0-3753-6075-40CE-13816CAAC51E}"/>
          </ac:spMkLst>
        </pc:spChg>
        <pc:spChg chg="mod">
          <ac:chgData name="Yashpal Singh" userId="1f20a8d43ef8778a" providerId="LiveId" clId="{C993D5B8-D0DD-4E0C-B75D-0B8A442856E0}" dt="2026-01-24T03:37:57.100" v="8211" actId="114"/>
          <ac:spMkLst>
            <pc:docMk/>
            <pc:sldMk cId="3632156046" sldId="288"/>
            <ac:spMk id="275" creationId="{2CF33C40-16FB-79B2-546D-DD004460F512}"/>
          </ac:spMkLst>
        </pc:spChg>
        <pc:graphicFrameChg chg="add mod modGraphic">
          <ac:chgData name="Yashpal Singh" userId="1f20a8d43ef8778a" providerId="LiveId" clId="{C993D5B8-D0DD-4E0C-B75D-0B8A442856E0}" dt="2026-01-24T03:38:10.356" v="8219" actId="20577"/>
          <ac:graphicFrameMkLst>
            <pc:docMk/>
            <pc:sldMk cId="3632156046" sldId="288"/>
            <ac:graphicFrameMk id="2" creationId="{6D63CB7E-E60D-CD44-E5B4-026A25B74D83}"/>
          </ac:graphicFrameMkLst>
        </pc:graphicFrameChg>
      </pc:sldChg>
      <pc:sldChg chg="addSp delSp modSp new del mod">
        <pc:chgData name="Yashpal Singh" userId="1f20a8d43ef8778a" providerId="LiveId" clId="{C993D5B8-D0DD-4E0C-B75D-0B8A442856E0}" dt="2026-01-24T03:29:34.746" v="8054" actId="47"/>
        <pc:sldMkLst>
          <pc:docMk/>
          <pc:sldMk cId="3823364864" sldId="289"/>
        </pc:sldMkLst>
      </pc:sldChg>
      <pc:sldChg chg="addSp delSp modSp add mod">
        <pc:chgData name="Yashpal Singh" userId="1f20a8d43ef8778a" providerId="LiveId" clId="{C993D5B8-D0DD-4E0C-B75D-0B8A442856E0}" dt="2026-01-24T21:27:32.189" v="9433" actId="6549"/>
        <pc:sldMkLst>
          <pc:docMk/>
          <pc:sldMk cId="1795705012" sldId="290"/>
        </pc:sldMkLst>
        <pc:spChg chg="del mod">
          <ac:chgData name="Yashpal Singh" userId="1f20a8d43ef8778a" providerId="LiveId" clId="{C993D5B8-D0DD-4E0C-B75D-0B8A442856E0}" dt="2026-01-24T21:12:27.863" v="9254" actId="478"/>
          <ac:spMkLst>
            <pc:docMk/>
            <pc:sldMk cId="1795705012" sldId="290"/>
            <ac:spMk id="2" creationId="{D85B51A1-8AF9-C588-8D65-2B6FD10E7F6F}"/>
          </ac:spMkLst>
        </pc:spChg>
        <pc:spChg chg="add mod">
          <ac:chgData name="Yashpal Singh" userId="1f20a8d43ef8778a" providerId="LiveId" clId="{C993D5B8-D0DD-4E0C-B75D-0B8A442856E0}" dt="2026-01-24T21:12:33.561" v="9255" actId="1076"/>
          <ac:spMkLst>
            <pc:docMk/>
            <pc:sldMk cId="1795705012" sldId="290"/>
            <ac:spMk id="5" creationId="{E92AF23F-2AF1-5724-77E0-503EE53BDF27}"/>
          </ac:spMkLst>
        </pc:spChg>
        <pc:spChg chg="add mod">
          <ac:chgData name="Yashpal Singh" userId="1f20a8d43ef8778a" providerId="LiveId" clId="{C993D5B8-D0DD-4E0C-B75D-0B8A442856E0}" dt="2026-01-22T00:36:25.479" v="6533" actId="12"/>
          <ac:spMkLst>
            <pc:docMk/>
            <pc:sldMk cId="1795705012" sldId="290"/>
            <ac:spMk id="6" creationId="{19004F65-BCA3-9ACF-8C7D-E166AF4CB532}"/>
          </ac:spMkLst>
        </pc:spChg>
        <pc:graphicFrameChg chg="add mod modGraphic">
          <ac:chgData name="Yashpal Singh" userId="1f20a8d43ef8778a" providerId="LiveId" clId="{C993D5B8-D0DD-4E0C-B75D-0B8A442856E0}" dt="2026-01-24T21:27:32.189" v="9433" actId="6549"/>
          <ac:graphicFrameMkLst>
            <pc:docMk/>
            <pc:sldMk cId="1795705012" sldId="290"/>
            <ac:graphicFrameMk id="3" creationId="{AB881C86-8FCC-83D4-531D-B53AA028190A}"/>
          </ac:graphicFrameMkLst>
        </pc:graphicFrameChg>
      </pc:sldChg>
      <pc:sldChg chg="addSp delSp modSp add mod">
        <pc:chgData name="Yashpal Singh" userId="1f20a8d43ef8778a" providerId="LiveId" clId="{C993D5B8-D0DD-4E0C-B75D-0B8A442856E0}" dt="2026-01-24T06:12:54.277" v="8329" actId="478"/>
        <pc:sldMkLst>
          <pc:docMk/>
          <pc:sldMk cId="4221846739" sldId="291"/>
        </pc:sldMkLst>
        <pc:spChg chg="add mod">
          <ac:chgData name="Yashpal Singh" userId="1f20a8d43ef8778a" providerId="LiveId" clId="{C993D5B8-D0DD-4E0C-B75D-0B8A442856E0}" dt="2026-01-24T06:12:45.258" v="8328" actId="12"/>
          <ac:spMkLst>
            <pc:docMk/>
            <pc:sldMk cId="4221846739" sldId="291"/>
            <ac:spMk id="2" creationId="{5C26E5F1-CD76-B46D-5C56-337FAB281777}"/>
          </ac:spMkLst>
        </pc:spChg>
        <pc:spChg chg="del">
          <ac:chgData name="Yashpal Singh" userId="1f20a8d43ef8778a" providerId="LiveId" clId="{C993D5B8-D0DD-4E0C-B75D-0B8A442856E0}" dt="2026-01-24T06:00:15.319" v="8285" actId="478"/>
          <ac:spMkLst>
            <pc:docMk/>
            <pc:sldMk cId="4221846739" sldId="291"/>
            <ac:spMk id="4" creationId="{F741EF40-8AAF-F86F-A925-ED3E7D287E7E}"/>
          </ac:spMkLst>
        </pc:spChg>
        <pc:spChg chg="mod">
          <ac:chgData name="Yashpal Singh" userId="1f20a8d43ef8778a" providerId="LiveId" clId="{C993D5B8-D0DD-4E0C-B75D-0B8A442856E0}" dt="2026-01-24T06:00:41.122" v="8288" actId="1076"/>
          <ac:spMkLst>
            <pc:docMk/>
            <pc:sldMk cId="4221846739" sldId="291"/>
            <ac:spMk id="8" creationId="{55090801-5433-B283-7074-1309098A21F5}"/>
          </ac:spMkLst>
        </pc:spChg>
        <pc:spChg chg="del mod">
          <ac:chgData name="Yashpal Singh" userId="1f20a8d43ef8778a" providerId="LiveId" clId="{C993D5B8-D0DD-4E0C-B75D-0B8A442856E0}" dt="2026-01-24T06:12:54.277" v="8329" actId="478"/>
          <ac:spMkLst>
            <pc:docMk/>
            <pc:sldMk cId="4221846739" sldId="291"/>
            <ac:spMk id="9" creationId="{7E4EE389-3B89-0972-070A-C7531026D6C4}"/>
          </ac:spMkLst>
        </pc:spChg>
        <pc:picChg chg="del">
          <ac:chgData name="Yashpal Singh" userId="1f20a8d43ef8778a" providerId="LiveId" clId="{C993D5B8-D0DD-4E0C-B75D-0B8A442856E0}" dt="2026-01-24T05:59:58.758" v="8284" actId="478"/>
          <ac:picMkLst>
            <pc:docMk/>
            <pc:sldMk cId="4221846739" sldId="291"/>
            <ac:picMk id="5" creationId="{D0450865-597D-98DB-CDEC-56ECB7EF05C5}"/>
          </ac:picMkLst>
        </pc:picChg>
        <pc:picChg chg="mod">
          <ac:chgData name="Yashpal Singh" userId="1f20a8d43ef8778a" providerId="LiveId" clId="{C993D5B8-D0DD-4E0C-B75D-0B8A442856E0}" dt="2026-01-24T06:09:58.851" v="8309" actId="14100"/>
          <ac:picMkLst>
            <pc:docMk/>
            <pc:sldMk cId="4221846739" sldId="291"/>
            <ac:picMk id="7" creationId="{69DF3996-EB8F-6E44-1AE3-2DAD00D9E7E4}"/>
          </ac:picMkLst>
        </pc:picChg>
      </pc:sldChg>
      <pc:sldChg chg="delSp modSp add mod ord">
        <pc:chgData name="Yashpal Singh" userId="1f20a8d43ef8778a" providerId="LiveId" clId="{C993D5B8-D0DD-4E0C-B75D-0B8A442856E0}" dt="2026-01-24T21:08:00.874" v="9248"/>
        <pc:sldMkLst>
          <pc:docMk/>
          <pc:sldMk cId="3712495679" sldId="292"/>
        </pc:sldMkLst>
        <pc:spChg chg="mod">
          <ac:chgData name="Yashpal Singh" userId="1f20a8d43ef8778a" providerId="LiveId" clId="{C993D5B8-D0DD-4E0C-B75D-0B8A442856E0}" dt="2026-01-24T20:13:03.194" v="8743" actId="20577"/>
          <ac:spMkLst>
            <pc:docMk/>
            <pc:sldMk cId="3712495679" sldId="292"/>
            <ac:spMk id="2" creationId="{592E2334-18CC-2D42-00FB-CFA9C0034EF8}"/>
          </ac:spMkLst>
        </pc:spChg>
        <pc:spChg chg="del">
          <ac:chgData name="Yashpal Singh" userId="1f20a8d43ef8778a" providerId="LiveId" clId="{C993D5B8-D0DD-4E0C-B75D-0B8A442856E0}" dt="2026-01-24T19:59:06.262" v="8475" actId="478"/>
          <ac:spMkLst>
            <pc:docMk/>
            <pc:sldMk cId="3712495679" sldId="292"/>
            <ac:spMk id="5" creationId="{012CFBEF-0188-0805-46CC-B3589D87D0D5}"/>
          </ac:spMkLst>
        </pc:spChg>
        <pc:spChg chg="del">
          <ac:chgData name="Yashpal Singh" userId="1f20a8d43ef8778a" providerId="LiveId" clId="{C993D5B8-D0DD-4E0C-B75D-0B8A442856E0}" dt="2026-01-24T20:06:54.320" v="8627" actId="478"/>
          <ac:spMkLst>
            <pc:docMk/>
            <pc:sldMk cId="3712495679" sldId="292"/>
            <ac:spMk id="6" creationId="{2DED299C-2BA5-37C6-3D8A-246E9065DCC4}"/>
          </ac:spMkLst>
        </pc:spChg>
        <pc:graphicFrameChg chg="del">
          <ac:chgData name="Yashpal Singh" userId="1f20a8d43ef8778a" providerId="LiveId" clId="{C993D5B8-D0DD-4E0C-B75D-0B8A442856E0}" dt="2026-01-24T19:59:02.349" v="8474" actId="478"/>
          <ac:graphicFrameMkLst>
            <pc:docMk/>
            <pc:sldMk cId="3712495679" sldId="292"/>
            <ac:graphicFrameMk id="3" creationId="{498A4E78-033F-5349-4169-1791724B6505}"/>
          </ac:graphicFrameMkLst>
        </pc:graphicFrameChg>
      </pc:sldChg>
      <pc:sldChg chg="modSp add mod">
        <pc:chgData name="Yashpal Singh" userId="1f20a8d43ef8778a" providerId="LiveId" clId="{C993D5B8-D0DD-4E0C-B75D-0B8A442856E0}" dt="2026-01-24T22:04:47.377" v="9751" actId="113"/>
        <pc:sldMkLst>
          <pc:docMk/>
          <pc:sldMk cId="1665571773" sldId="293"/>
        </pc:sldMkLst>
        <pc:spChg chg="mod">
          <ac:chgData name="Yashpal Singh" userId="1f20a8d43ef8778a" providerId="LiveId" clId="{C993D5B8-D0DD-4E0C-B75D-0B8A442856E0}" dt="2026-01-24T22:04:47.377" v="9751" actId="113"/>
          <ac:spMkLst>
            <pc:docMk/>
            <pc:sldMk cId="1665571773" sldId="293"/>
            <ac:spMk id="2" creationId="{0EF4DAC6-6EBF-7DCA-EE69-DBB07054275C}"/>
          </ac:spMkLst>
        </pc:spChg>
      </pc:sldChg>
      <pc:sldChg chg="modSp add mod">
        <pc:chgData name="Yashpal Singh" userId="1f20a8d43ef8778a" providerId="LiveId" clId="{C993D5B8-D0DD-4E0C-B75D-0B8A442856E0}" dt="2026-01-24T22:05:35.805" v="9753" actId="113"/>
        <pc:sldMkLst>
          <pc:docMk/>
          <pc:sldMk cId="3239699123" sldId="294"/>
        </pc:sldMkLst>
        <pc:spChg chg="mod">
          <ac:chgData name="Yashpal Singh" userId="1f20a8d43ef8778a" providerId="LiveId" clId="{C993D5B8-D0DD-4E0C-B75D-0B8A442856E0}" dt="2026-01-24T22:05:35.805" v="9753" actId="113"/>
          <ac:spMkLst>
            <pc:docMk/>
            <pc:sldMk cId="3239699123" sldId="294"/>
            <ac:spMk id="2" creationId="{77E273C1-E856-489B-987F-6E824D9712E8}"/>
          </ac:spMkLst>
        </pc:spChg>
      </pc:sldChg>
      <pc:sldMasterChg chg="delSldLayout">
        <pc:chgData name="Yashpal Singh" userId="1f20a8d43ef8778a" providerId="LiveId" clId="{C993D5B8-D0DD-4E0C-B75D-0B8A442856E0}" dt="2026-01-24T03:29:34.746" v="8054" actId="47"/>
        <pc:sldMasterMkLst>
          <pc:docMk/>
          <pc:sldMasterMk cId="0" sldId="2147483681"/>
        </pc:sldMasterMkLst>
        <pc:sldLayoutChg chg="del">
          <pc:chgData name="Yashpal Singh" userId="1f20a8d43ef8778a" providerId="LiveId" clId="{C993D5B8-D0DD-4E0C-B75D-0B8A442856E0}" dt="2026-01-24T03:29:34.746" v="8054" actId="47"/>
          <pc:sldLayoutMkLst>
            <pc:docMk/>
            <pc:sldMasterMk cId="0" sldId="2147483681"/>
            <pc:sldLayoutMk cId="0"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71" name="Google Shape;17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2" name="Google Shape;1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42B50D79-9F96-FB24-4B94-02288FDBB17F}"/>
            </a:ext>
          </a:extLst>
        </p:cNvPr>
        <p:cNvGrpSpPr/>
        <p:nvPr/>
      </p:nvGrpSpPr>
      <p:grpSpPr>
        <a:xfrm>
          <a:off x="0" y="0"/>
          <a:ext cx="0" cy="0"/>
          <a:chOff x="0" y="0"/>
          <a:chExt cx="0" cy="0"/>
        </a:xfrm>
      </p:grpSpPr>
      <p:sp>
        <p:nvSpPr>
          <p:cNvPr id="191" name="Google Shape;191;p3:notes">
            <a:extLst>
              <a:ext uri="{FF2B5EF4-FFF2-40B4-BE49-F238E27FC236}">
                <a16:creationId xmlns:a16="http://schemas.microsoft.com/office/drawing/2014/main" id="{273A2B5C-3697-A54A-83A8-6037ACCDDA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2" name="Google Shape;192;p3:notes">
            <a:extLst>
              <a:ext uri="{FF2B5EF4-FFF2-40B4-BE49-F238E27FC236}">
                <a16:creationId xmlns:a16="http://schemas.microsoft.com/office/drawing/2014/main" id="{FA378C53-27AA-C719-5D17-417BB1D97C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77054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5114ACA3-AC9D-EC8B-18CC-8F1CB3DBC266}"/>
            </a:ext>
          </a:extLst>
        </p:cNvPr>
        <p:cNvGrpSpPr/>
        <p:nvPr/>
      </p:nvGrpSpPr>
      <p:grpSpPr>
        <a:xfrm>
          <a:off x="0" y="0"/>
          <a:ext cx="0" cy="0"/>
          <a:chOff x="0" y="0"/>
          <a:chExt cx="0" cy="0"/>
        </a:xfrm>
      </p:grpSpPr>
      <p:sp>
        <p:nvSpPr>
          <p:cNvPr id="191" name="Google Shape;191;p3:notes">
            <a:extLst>
              <a:ext uri="{FF2B5EF4-FFF2-40B4-BE49-F238E27FC236}">
                <a16:creationId xmlns:a16="http://schemas.microsoft.com/office/drawing/2014/main" id="{7E477BC2-A7E8-8C38-E404-BFF6B6BD35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2" name="Google Shape;192;p3:notes">
            <a:extLst>
              <a:ext uri="{FF2B5EF4-FFF2-40B4-BE49-F238E27FC236}">
                <a16:creationId xmlns:a16="http://schemas.microsoft.com/office/drawing/2014/main" id="{B88889BE-0B60-4FFC-C6C9-2C42EA26DD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77120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9" name="Google Shape;1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9DF7F01D-1DE0-6C5D-DFE1-CEF32035DD10}"/>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A7D3F2EE-E7F5-B30E-B645-DFADBCE114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9" name="Google Shape;199;p4:notes">
            <a:extLst>
              <a:ext uri="{FF2B5EF4-FFF2-40B4-BE49-F238E27FC236}">
                <a16:creationId xmlns:a16="http://schemas.microsoft.com/office/drawing/2014/main" id="{72818618-F481-B7A6-7485-679520F9BD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329848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8B02A491-63C6-BC67-FD3E-2E563BB66F40}"/>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4386FBAF-1EB6-2DBA-71CA-1485F1D9A0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9" name="Google Shape;199;p4:notes">
            <a:extLst>
              <a:ext uri="{FF2B5EF4-FFF2-40B4-BE49-F238E27FC236}">
                <a16:creationId xmlns:a16="http://schemas.microsoft.com/office/drawing/2014/main" id="{58B003FC-C29B-E0DB-5663-8C5CD57A76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05376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D2B08299-D529-60B9-711A-FD799D84F9C4}"/>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FE8CA3EF-8919-9768-F7D3-90F0167BB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9" name="Google Shape;199;p4:notes">
            <a:extLst>
              <a:ext uri="{FF2B5EF4-FFF2-40B4-BE49-F238E27FC236}">
                <a16:creationId xmlns:a16="http://schemas.microsoft.com/office/drawing/2014/main" id="{8CABDC30-4557-C229-5B88-7E6016CA5B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2053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2C2F2AC0-221E-C4B5-00D1-7BDD5B0B7DA1}"/>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45EDBDBD-6157-0FC8-EAF9-F3020FB055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9" name="Google Shape;199;p4:notes">
            <a:extLst>
              <a:ext uri="{FF2B5EF4-FFF2-40B4-BE49-F238E27FC236}">
                <a16:creationId xmlns:a16="http://schemas.microsoft.com/office/drawing/2014/main" id="{73409026-774E-31B1-09E1-49F06D1E01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879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41ce4f0ee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16" name="Google Shape;216;g341ce4f0eed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41ce4f0ee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24" name="Google Shape;224;g341ce4f0eed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41ce4f0eed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2" name="Google Shape;232;g341ce4f0eed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B72FE10-F2A6-D23D-8C3B-7BA146635C58}"/>
            </a:ext>
          </a:extLst>
        </p:cNvPr>
        <p:cNvGrpSpPr/>
        <p:nvPr/>
      </p:nvGrpSpPr>
      <p:grpSpPr>
        <a:xfrm>
          <a:off x="0" y="0"/>
          <a:ext cx="0" cy="0"/>
          <a:chOff x="0" y="0"/>
          <a:chExt cx="0" cy="0"/>
        </a:xfrm>
      </p:grpSpPr>
      <p:sp>
        <p:nvSpPr>
          <p:cNvPr id="231" name="Google Shape;231;g341ce4f0eed_0_32:notes">
            <a:extLst>
              <a:ext uri="{FF2B5EF4-FFF2-40B4-BE49-F238E27FC236}">
                <a16:creationId xmlns:a16="http://schemas.microsoft.com/office/drawing/2014/main" id="{7F4117F0-99DB-6F09-3EC3-156C305A96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2" name="Google Shape;232;g341ce4f0eed_0_32:notes">
            <a:extLst>
              <a:ext uri="{FF2B5EF4-FFF2-40B4-BE49-F238E27FC236}">
                <a16:creationId xmlns:a16="http://schemas.microsoft.com/office/drawing/2014/main" id="{A69D10B8-613B-DD39-4C71-F0DAD3119C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0432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F4DDD68-A0AB-ACD7-2CED-EF4C5235361A}"/>
            </a:ext>
          </a:extLst>
        </p:cNvPr>
        <p:cNvGrpSpPr/>
        <p:nvPr/>
      </p:nvGrpSpPr>
      <p:grpSpPr>
        <a:xfrm>
          <a:off x="0" y="0"/>
          <a:ext cx="0" cy="0"/>
          <a:chOff x="0" y="0"/>
          <a:chExt cx="0" cy="0"/>
        </a:xfrm>
      </p:grpSpPr>
      <p:sp>
        <p:nvSpPr>
          <p:cNvPr id="231" name="Google Shape;231;g341ce4f0eed_0_32:notes">
            <a:extLst>
              <a:ext uri="{FF2B5EF4-FFF2-40B4-BE49-F238E27FC236}">
                <a16:creationId xmlns:a16="http://schemas.microsoft.com/office/drawing/2014/main" id="{13AED006-3287-C77A-87C2-9D13B85E5D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2" name="Google Shape;232;g341ce4f0eed_0_32:notes">
            <a:extLst>
              <a:ext uri="{FF2B5EF4-FFF2-40B4-BE49-F238E27FC236}">
                <a16:creationId xmlns:a16="http://schemas.microsoft.com/office/drawing/2014/main" id="{3740CA04-406F-F475-283F-F0FD667F55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1189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41ce4f0eed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2" name="Google Shape;242;g341ce4f0eed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F09D2823-8D75-17A1-F838-8E145B266FE3}"/>
            </a:ext>
          </a:extLst>
        </p:cNvPr>
        <p:cNvGrpSpPr/>
        <p:nvPr/>
      </p:nvGrpSpPr>
      <p:grpSpPr>
        <a:xfrm>
          <a:off x="0" y="0"/>
          <a:ext cx="0" cy="0"/>
          <a:chOff x="0" y="0"/>
          <a:chExt cx="0" cy="0"/>
        </a:xfrm>
      </p:grpSpPr>
      <p:sp>
        <p:nvSpPr>
          <p:cNvPr id="241" name="Google Shape;241;g341ce4f0eed_0_38:notes">
            <a:extLst>
              <a:ext uri="{FF2B5EF4-FFF2-40B4-BE49-F238E27FC236}">
                <a16:creationId xmlns:a16="http://schemas.microsoft.com/office/drawing/2014/main" id="{C1471174-5253-FCBC-F0CB-702DC86413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2" name="Google Shape;242;g341ce4f0eed_0_38:notes">
            <a:extLst>
              <a:ext uri="{FF2B5EF4-FFF2-40B4-BE49-F238E27FC236}">
                <a16:creationId xmlns:a16="http://schemas.microsoft.com/office/drawing/2014/main" id="{76FFEBAB-467F-080D-3C42-4AB8F60E5F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956910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A3E05358-3217-D642-5BA7-3302EB377B2E}"/>
            </a:ext>
          </a:extLst>
        </p:cNvPr>
        <p:cNvGrpSpPr/>
        <p:nvPr/>
      </p:nvGrpSpPr>
      <p:grpSpPr>
        <a:xfrm>
          <a:off x="0" y="0"/>
          <a:ext cx="0" cy="0"/>
          <a:chOff x="0" y="0"/>
          <a:chExt cx="0" cy="0"/>
        </a:xfrm>
      </p:grpSpPr>
      <p:sp>
        <p:nvSpPr>
          <p:cNvPr id="241" name="Google Shape;241;g341ce4f0eed_0_38:notes">
            <a:extLst>
              <a:ext uri="{FF2B5EF4-FFF2-40B4-BE49-F238E27FC236}">
                <a16:creationId xmlns:a16="http://schemas.microsoft.com/office/drawing/2014/main" id="{4F507536-1A02-AE4C-6BA3-FE22FAA656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2" name="Google Shape;242;g341ce4f0eed_0_38:notes">
            <a:extLst>
              <a:ext uri="{FF2B5EF4-FFF2-40B4-BE49-F238E27FC236}">
                <a16:creationId xmlns:a16="http://schemas.microsoft.com/office/drawing/2014/main" id="{AB12B43F-65CF-D6FA-9EBE-1B874ACF35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91279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4a9c7eef1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52" name="Google Shape;252;g34a9c7eef1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741A1AE0-90C7-182D-ABAB-4D5A278AE536}"/>
            </a:ext>
          </a:extLst>
        </p:cNvPr>
        <p:cNvGrpSpPr/>
        <p:nvPr/>
      </p:nvGrpSpPr>
      <p:grpSpPr>
        <a:xfrm>
          <a:off x="0" y="0"/>
          <a:ext cx="0" cy="0"/>
          <a:chOff x="0" y="0"/>
          <a:chExt cx="0" cy="0"/>
        </a:xfrm>
      </p:grpSpPr>
      <p:sp>
        <p:nvSpPr>
          <p:cNvPr id="251" name="Google Shape;251;g34a9c7eef16_0_0:notes">
            <a:extLst>
              <a:ext uri="{FF2B5EF4-FFF2-40B4-BE49-F238E27FC236}">
                <a16:creationId xmlns:a16="http://schemas.microsoft.com/office/drawing/2014/main" id="{3844B5DA-A4B0-16F0-889A-C3E562D00E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52" name="Google Shape;252;g34a9c7eef16_0_0:notes">
            <a:extLst>
              <a:ext uri="{FF2B5EF4-FFF2-40B4-BE49-F238E27FC236}">
                <a16:creationId xmlns:a16="http://schemas.microsoft.com/office/drawing/2014/main" id="{6B5FF832-DF37-673D-A302-5A22CED9CE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2449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65D7AF7E-10A3-D643-C8E6-F5EBEB68B7CD}"/>
            </a:ext>
          </a:extLst>
        </p:cNvPr>
        <p:cNvGrpSpPr/>
        <p:nvPr/>
      </p:nvGrpSpPr>
      <p:grpSpPr>
        <a:xfrm>
          <a:off x="0" y="0"/>
          <a:ext cx="0" cy="0"/>
          <a:chOff x="0" y="0"/>
          <a:chExt cx="0" cy="0"/>
        </a:xfrm>
      </p:grpSpPr>
      <p:sp>
        <p:nvSpPr>
          <p:cNvPr id="251" name="Google Shape;251;g34a9c7eef16_0_0:notes">
            <a:extLst>
              <a:ext uri="{FF2B5EF4-FFF2-40B4-BE49-F238E27FC236}">
                <a16:creationId xmlns:a16="http://schemas.microsoft.com/office/drawing/2014/main" id="{97F873A7-91F1-6051-1C4F-99F89D38E7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52" name="Google Shape;252;g34a9c7eef16_0_0:notes">
            <a:extLst>
              <a:ext uri="{FF2B5EF4-FFF2-40B4-BE49-F238E27FC236}">
                <a16:creationId xmlns:a16="http://schemas.microsoft.com/office/drawing/2014/main" id="{45F97B96-0F51-8932-619A-F965ABB4F7F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73744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7C316516-277F-AC03-B9F3-6271C3B05546}"/>
            </a:ext>
          </a:extLst>
        </p:cNvPr>
        <p:cNvGrpSpPr/>
        <p:nvPr/>
      </p:nvGrpSpPr>
      <p:grpSpPr>
        <a:xfrm>
          <a:off x="0" y="0"/>
          <a:ext cx="0" cy="0"/>
          <a:chOff x="0" y="0"/>
          <a:chExt cx="0" cy="0"/>
        </a:xfrm>
      </p:grpSpPr>
      <p:sp>
        <p:nvSpPr>
          <p:cNvPr id="261" name="Google Shape;261;g34a9c7eef16_0_11:notes">
            <a:extLst>
              <a:ext uri="{FF2B5EF4-FFF2-40B4-BE49-F238E27FC236}">
                <a16:creationId xmlns:a16="http://schemas.microsoft.com/office/drawing/2014/main" id="{CB9FF0D0-82C4-BC9B-9284-34F433E89C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62" name="Google Shape;262;g34a9c7eef16_0_11:notes">
            <a:extLst>
              <a:ext uri="{FF2B5EF4-FFF2-40B4-BE49-F238E27FC236}">
                <a16:creationId xmlns:a16="http://schemas.microsoft.com/office/drawing/2014/main" id="{CE580515-7A75-0A93-B574-1060A3E717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75341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4a9c7eef1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62" name="Google Shape;262;g34a9c7eef1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45960B7F-A701-D63B-4D22-EDE5EBFBD3D5}"/>
            </a:ext>
          </a:extLst>
        </p:cNvPr>
        <p:cNvGrpSpPr/>
        <p:nvPr/>
      </p:nvGrpSpPr>
      <p:grpSpPr>
        <a:xfrm>
          <a:off x="0" y="0"/>
          <a:ext cx="0" cy="0"/>
          <a:chOff x="0" y="0"/>
          <a:chExt cx="0" cy="0"/>
        </a:xfrm>
      </p:grpSpPr>
      <p:sp>
        <p:nvSpPr>
          <p:cNvPr id="261" name="Google Shape;261;g34a9c7eef16_0_11:notes">
            <a:extLst>
              <a:ext uri="{FF2B5EF4-FFF2-40B4-BE49-F238E27FC236}">
                <a16:creationId xmlns:a16="http://schemas.microsoft.com/office/drawing/2014/main" id="{9F9E56F9-FC58-E8D5-5532-68D9721A4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62" name="Google Shape;262;g34a9c7eef16_0_11:notes">
            <a:extLst>
              <a:ext uri="{FF2B5EF4-FFF2-40B4-BE49-F238E27FC236}">
                <a16:creationId xmlns:a16="http://schemas.microsoft.com/office/drawing/2014/main" id="{B121D154-F963-2A9B-E8FD-DE00180D6B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2070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EB0131DD-BFCB-73AA-9CE4-D84BD59C5BFB}"/>
            </a:ext>
          </a:extLst>
        </p:cNvPr>
        <p:cNvGrpSpPr/>
        <p:nvPr/>
      </p:nvGrpSpPr>
      <p:grpSpPr>
        <a:xfrm>
          <a:off x="0" y="0"/>
          <a:ext cx="0" cy="0"/>
          <a:chOff x="0" y="0"/>
          <a:chExt cx="0" cy="0"/>
        </a:xfrm>
      </p:grpSpPr>
      <p:sp>
        <p:nvSpPr>
          <p:cNvPr id="271" name="Google Shape;271;g34a9c7eef16_0_22:notes">
            <a:extLst>
              <a:ext uri="{FF2B5EF4-FFF2-40B4-BE49-F238E27FC236}">
                <a16:creationId xmlns:a16="http://schemas.microsoft.com/office/drawing/2014/main" id="{384775DF-2591-2A81-344D-34259804C8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72" name="Google Shape;272;g34a9c7eef16_0_22:notes">
            <a:extLst>
              <a:ext uri="{FF2B5EF4-FFF2-40B4-BE49-F238E27FC236}">
                <a16:creationId xmlns:a16="http://schemas.microsoft.com/office/drawing/2014/main" id="{49B2CB03-ECE3-8A82-6B93-A4E3A5E576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004423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D731E4D3-93A2-4B5E-3FFF-64DB7A5EE586}"/>
            </a:ext>
          </a:extLst>
        </p:cNvPr>
        <p:cNvGrpSpPr/>
        <p:nvPr/>
      </p:nvGrpSpPr>
      <p:grpSpPr>
        <a:xfrm>
          <a:off x="0" y="0"/>
          <a:ext cx="0" cy="0"/>
          <a:chOff x="0" y="0"/>
          <a:chExt cx="0" cy="0"/>
        </a:xfrm>
      </p:grpSpPr>
      <p:sp>
        <p:nvSpPr>
          <p:cNvPr id="271" name="Google Shape;271;g34a9c7eef16_0_22:notes">
            <a:extLst>
              <a:ext uri="{FF2B5EF4-FFF2-40B4-BE49-F238E27FC236}">
                <a16:creationId xmlns:a16="http://schemas.microsoft.com/office/drawing/2014/main" id="{D50A9967-40F5-BA18-EAF1-7BE4241B8F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72" name="Google Shape;272;g34a9c7eef16_0_22:notes">
            <a:extLst>
              <a:ext uri="{FF2B5EF4-FFF2-40B4-BE49-F238E27FC236}">
                <a16:creationId xmlns:a16="http://schemas.microsoft.com/office/drawing/2014/main" id="{34913788-CA1A-D4A4-816B-AD67489928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897928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740D44AF-EBB5-8E0C-CC2C-A654A7DC04C2}"/>
            </a:ext>
          </a:extLst>
        </p:cNvPr>
        <p:cNvGrpSpPr/>
        <p:nvPr/>
      </p:nvGrpSpPr>
      <p:grpSpPr>
        <a:xfrm>
          <a:off x="0" y="0"/>
          <a:ext cx="0" cy="0"/>
          <a:chOff x="0" y="0"/>
          <a:chExt cx="0" cy="0"/>
        </a:xfrm>
      </p:grpSpPr>
      <p:sp>
        <p:nvSpPr>
          <p:cNvPr id="271" name="Google Shape;271;g34a9c7eef16_0_22:notes">
            <a:extLst>
              <a:ext uri="{FF2B5EF4-FFF2-40B4-BE49-F238E27FC236}">
                <a16:creationId xmlns:a16="http://schemas.microsoft.com/office/drawing/2014/main" id="{DB3BEC50-B08A-9FAD-7580-61775D6266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72" name="Google Shape;272;g34a9c7eef16_0_22:notes">
            <a:extLst>
              <a:ext uri="{FF2B5EF4-FFF2-40B4-BE49-F238E27FC236}">
                <a16:creationId xmlns:a16="http://schemas.microsoft.com/office/drawing/2014/main" id="{78BD656D-7CA9-4901-6288-53A9265F85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345650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0948CD7D-AB49-69C4-D21A-919F49C3B3DD}"/>
            </a:ext>
          </a:extLst>
        </p:cNvPr>
        <p:cNvGrpSpPr/>
        <p:nvPr/>
      </p:nvGrpSpPr>
      <p:grpSpPr>
        <a:xfrm>
          <a:off x="0" y="0"/>
          <a:ext cx="0" cy="0"/>
          <a:chOff x="0" y="0"/>
          <a:chExt cx="0" cy="0"/>
        </a:xfrm>
      </p:grpSpPr>
      <p:sp>
        <p:nvSpPr>
          <p:cNvPr id="271" name="Google Shape;271;g34a9c7eef16_0_22:notes">
            <a:extLst>
              <a:ext uri="{FF2B5EF4-FFF2-40B4-BE49-F238E27FC236}">
                <a16:creationId xmlns:a16="http://schemas.microsoft.com/office/drawing/2014/main" id="{DE680735-7759-394A-C27C-605F843474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72" name="Google Shape;272;g34a9c7eef16_0_22:notes">
            <a:extLst>
              <a:ext uri="{FF2B5EF4-FFF2-40B4-BE49-F238E27FC236}">
                <a16:creationId xmlns:a16="http://schemas.microsoft.com/office/drawing/2014/main" id="{32251153-DBFA-4324-2DD5-ED5BA2D72E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82542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7402811B-CCD2-9CE7-2CCB-802A2AAD2218}"/>
            </a:ext>
          </a:extLst>
        </p:cNvPr>
        <p:cNvGrpSpPr/>
        <p:nvPr/>
      </p:nvGrpSpPr>
      <p:grpSpPr>
        <a:xfrm>
          <a:off x="0" y="0"/>
          <a:ext cx="0" cy="0"/>
          <a:chOff x="0" y="0"/>
          <a:chExt cx="0" cy="0"/>
        </a:xfrm>
      </p:grpSpPr>
      <p:sp>
        <p:nvSpPr>
          <p:cNvPr id="271" name="Google Shape;271;g34a9c7eef16_0_22:notes">
            <a:extLst>
              <a:ext uri="{FF2B5EF4-FFF2-40B4-BE49-F238E27FC236}">
                <a16:creationId xmlns:a16="http://schemas.microsoft.com/office/drawing/2014/main" id="{F4DA1043-A195-FB7D-438C-F3DBF082C2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72" name="Google Shape;272;g34a9c7eef16_0_22:notes">
            <a:extLst>
              <a:ext uri="{FF2B5EF4-FFF2-40B4-BE49-F238E27FC236}">
                <a16:creationId xmlns:a16="http://schemas.microsoft.com/office/drawing/2014/main" id="{9BD2CC33-D841-5CB8-AB62-CB20162C71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0828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84" name="Google Shape;28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99" name="Google Shape;299;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32</a:t>
            </a:fld>
            <a:endParaRPr sz="1200" b="0" i="0" u="none" strike="noStrike" cap="none">
              <a:solidFill>
                <a:schemeClr val="dk1"/>
              </a:solidFill>
              <a:latin typeface="Calibri"/>
              <a:ea typeface="Calibri"/>
              <a:cs typeface="Calibri"/>
              <a:sym typeface="Calibri"/>
            </a:endParaRPr>
          </a:p>
        </p:txBody>
      </p:sp>
      <p:sp>
        <p:nvSpPr>
          <p:cNvPr id="300" name="Google Shape;300;p13: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6" name="Google Shape;16;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7" name="Google Shape;17;p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{A1BBC871-F89B-45A3-A074-B200C202542C}</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6" b="19151"/>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55" name="Google Shape;55;p12"/>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56" name="Google Shape;56;p12"/>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7" name="Google Shape;57;p12"/>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8" name="Google Shape;58;p12"/>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9"/>
        <p:cNvGrpSpPr/>
        <p:nvPr/>
      </p:nvGrpSpPr>
      <p:grpSpPr>
        <a:xfrm>
          <a:off x="0" y="0"/>
          <a:ext cx="0" cy="0"/>
          <a:chOff x="0" y="0"/>
          <a:chExt cx="0" cy="0"/>
        </a:xfrm>
      </p:grpSpPr>
      <p:sp>
        <p:nvSpPr>
          <p:cNvPr id="60" name="Google Shape;60;p13"/>
          <p:cNvSpPr txBox="1">
            <a:spLocks noGrp="1"/>
          </p:cNvSpPr>
          <p:nvPr>
            <p:ph type="dt" idx="10"/>
          </p:nvPr>
        </p:nvSpPr>
        <p:spPr>
          <a:xfrm>
            <a:off x="457200" y="4857749"/>
            <a:ext cx="21336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1" name="Google Shape;61;p13"/>
          <p:cNvSpPr txBox="1">
            <a:spLocks noGrp="1"/>
          </p:cNvSpPr>
          <p:nvPr>
            <p:ph type="ftr" idx="11"/>
          </p:nvPr>
        </p:nvSpPr>
        <p:spPr>
          <a:xfrm>
            <a:off x="2640596" y="4857749"/>
            <a:ext cx="55077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3"/>
          <p:cNvSpPr txBox="1">
            <a:spLocks noGrp="1"/>
          </p:cNvSpPr>
          <p:nvPr>
            <p:ph type="sldNum" idx="12"/>
          </p:nvPr>
        </p:nvSpPr>
        <p:spPr>
          <a:xfrm>
            <a:off x="8204396" y="4857749"/>
            <a:ext cx="733800" cy="2058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5" name="Google Shape;65;p14"/>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66" name="Google Shape;66;p14"/>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 name="Google Shape;68;p14"/>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1" name="Google Shape;71;p15"/>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3" name="Google Shape;73;p15"/>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16"/>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7" name="Google Shape;77;p1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8" name="Google Shape;78;p16"/>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90424" y="497078"/>
            <a:ext cx="8363100" cy="452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800" b="0"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1" name="Google Shape;81;p17"/>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2" name="Google Shape;82;p1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3" name="Google Shape;83;p17"/>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84"/>
        <p:cNvGrpSpPr/>
        <p:nvPr/>
      </p:nvGrpSpPr>
      <p:grpSpPr>
        <a:xfrm>
          <a:off x="0" y="0"/>
          <a:ext cx="0" cy="0"/>
          <a:chOff x="0" y="0"/>
          <a:chExt cx="0" cy="0"/>
        </a:xfrm>
      </p:grpSpPr>
      <p:sp>
        <p:nvSpPr>
          <p:cNvPr id="85" name="Google Shape;85;p18"/>
          <p:cNvSpPr txBox="1">
            <a:spLocks noGrp="1"/>
          </p:cNvSpPr>
          <p:nvPr>
            <p:ph type="ctrTitle"/>
          </p:nvPr>
        </p:nvSpPr>
        <p:spPr>
          <a:xfrm>
            <a:off x="2938259" y="1851799"/>
            <a:ext cx="3267600" cy="818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5200" b="0" i="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6" name="Google Shape;86;p18"/>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a:endParaRPr/>
          </a:p>
        </p:txBody>
      </p:sp>
      <p:sp>
        <p:nvSpPr>
          <p:cNvPr id="87" name="Google Shape;87;p18"/>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8" name="Google Shape;88;p1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9" name="Google Shape;89;p18"/>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92" name="Google Shape;92;p19"/>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1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4" name="Google Shape;94;p19"/>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95"/>
        <p:cNvGrpSpPr/>
        <p:nvPr/>
      </p:nvGrpSpPr>
      <p:grpSpPr>
        <a:xfrm>
          <a:off x="0" y="0"/>
          <a:ext cx="0" cy="0"/>
          <a:chOff x="0" y="0"/>
          <a:chExt cx="0" cy="0"/>
        </a:xfrm>
      </p:grpSpPr>
      <p:sp>
        <p:nvSpPr>
          <p:cNvPr id="96" name="Google Shape;96;p20"/>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7" name="Google Shape;97;p2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20"/>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1" name="Google Shape;101;p21"/>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02" name="Google Shape;102;p21"/>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03" name="Google Shape;103;p2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2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21"/>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8" name="Google Shape;108;p22"/>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22"/>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0" name="Google Shape;110;p22"/>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111"/>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112"/>
        <p:cNvGrpSpPr/>
        <p:nvPr/>
      </p:nvGrpSpPr>
      <p:grpSpPr>
        <a:xfrm>
          <a:off x="0" y="0"/>
          <a:ext cx="0" cy="0"/>
          <a:chOff x="0" y="0"/>
          <a:chExt cx="0" cy="0"/>
        </a:xfrm>
      </p:grpSpPr>
      <p:sp>
        <p:nvSpPr>
          <p:cNvPr id="113" name="Google Shape;113;p24"/>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23"/>
        <p:cNvGrpSpPr/>
        <p:nvPr/>
      </p:nvGrpSpPr>
      <p:grpSpPr>
        <a:xfrm>
          <a:off x="0" y="0"/>
          <a:ext cx="0" cy="0"/>
          <a:chOff x="0" y="0"/>
          <a:chExt cx="0" cy="0"/>
        </a:xfrm>
      </p:grpSpPr>
      <p:sp>
        <p:nvSpPr>
          <p:cNvPr id="124" name="Google Shape;124;p26"/>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25" name="Google Shape;125;p26" descr="A close up of a logo&#10;&#10;Description automatically generated"/>
          <p:cNvPicPr preferRelativeResize="0"/>
          <p:nvPr/>
        </p:nvPicPr>
        <p:blipFill rotWithShape="1">
          <a:blip r:embed="rId2">
            <a:alphaModFix/>
          </a:blip>
          <a:srcRect l="42816" t="18358" r="37296" b="19151"/>
          <a:stretch/>
        </p:blipFill>
        <p:spPr>
          <a:xfrm>
            <a:off x="6052536" y="514443"/>
            <a:ext cx="2095112" cy="3703320"/>
          </a:xfrm>
          <a:prstGeom prst="rect">
            <a:avLst/>
          </a:prstGeom>
          <a:noFill/>
          <a:ln>
            <a:noFill/>
          </a:ln>
        </p:spPr>
      </p:pic>
      <p:sp>
        <p:nvSpPr>
          <p:cNvPr id="126" name="Google Shape;126;p26"/>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27" name="Google Shape;127;p26"/>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a:solidFill>
                  <a:schemeClr val="lt1"/>
                </a:solidFill>
                <a:latin typeface="Nunito ExtraBold"/>
                <a:ea typeface="Nunito ExtraBold"/>
                <a:cs typeface="Nunito ExtraBold"/>
                <a:sym typeface="Nunito ExtraBold"/>
              </a:rPr>
              <a:t>Power Ahead</a:t>
            </a:r>
            <a:r>
              <a:rPr lang="en" sz="3300" b="0" i="0" u="none" strike="noStrike" cap="none">
                <a:solidFill>
                  <a:schemeClr val="lt1"/>
                </a:solidFill>
                <a:latin typeface="Nunito ExtraBold"/>
                <a:ea typeface="Nunito ExtraBold"/>
                <a:cs typeface="Nunito ExtraBold"/>
                <a:sym typeface="Nunito ExtraBold"/>
              </a:rPr>
              <a:t>!</a:t>
            </a:r>
            <a:endParaRPr sz="3300" b="0" i="0" u="none" strike="noStrike" cap="none">
              <a:solidFill>
                <a:schemeClr val="lt1"/>
              </a:solidFill>
              <a:latin typeface="Nunito ExtraBold"/>
              <a:ea typeface="Nunito ExtraBold"/>
              <a:cs typeface="Nunito ExtraBold"/>
              <a:sym typeface="Nunito ExtraBold"/>
            </a:endParaRPr>
          </a:p>
        </p:txBody>
      </p:sp>
      <p:pic>
        <p:nvPicPr>
          <p:cNvPr id="128" name="Google Shape;128;p26"/>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9"/>
        <p:cNvGrpSpPr/>
        <p:nvPr/>
      </p:nvGrpSpPr>
      <p:grpSpPr>
        <a:xfrm>
          <a:off x="0" y="0"/>
          <a:ext cx="0" cy="0"/>
          <a:chOff x="0" y="0"/>
          <a:chExt cx="0" cy="0"/>
        </a:xfrm>
      </p:grpSpPr>
      <p:sp>
        <p:nvSpPr>
          <p:cNvPr id="130" name="Google Shape;130;p27"/>
          <p:cNvSpPr txBox="1">
            <a:spLocks noGrp="1"/>
          </p:cNvSpPr>
          <p:nvPr>
            <p:ph type="ctrTitle"/>
          </p:nvPr>
        </p:nvSpPr>
        <p:spPr>
          <a:xfrm>
            <a:off x="1260908" y="717750"/>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31" name="Google Shape;131;p27"/>
          <p:cNvSpPr txBox="1">
            <a:spLocks noGrp="1"/>
          </p:cNvSpPr>
          <p:nvPr>
            <p:ph type="subTitle" idx="1"/>
          </p:nvPr>
        </p:nvSpPr>
        <p:spPr>
          <a:xfrm>
            <a:off x="1260902" y="2770350"/>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2"/>
        <p:cNvGrpSpPr/>
        <p:nvPr/>
      </p:nvGrpSpPr>
      <p:grpSpPr>
        <a:xfrm>
          <a:off x="0" y="0"/>
          <a:ext cx="0" cy="0"/>
          <a:chOff x="0" y="0"/>
          <a:chExt cx="0" cy="0"/>
        </a:xfrm>
      </p:grpSpPr>
      <p:sp>
        <p:nvSpPr>
          <p:cNvPr id="133" name="Google Shape;133;p2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34" name="Google Shape;134;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5"/>
        <p:cNvGrpSpPr/>
        <p:nvPr/>
      </p:nvGrpSpPr>
      <p:grpSpPr>
        <a:xfrm>
          <a:off x="0" y="0"/>
          <a:ext cx="0" cy="0"/>
          <a:chOff x="0" y="0"/>
          <a:chExt cx="0" cy="0"/>
        </a:xfrm>
      </p:grpSpPr>
      <p:sp>
        <p:nvSpPr>
          <p:cNvPr id="136" name="Google Shape;136;p2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7" name="Google Shape;137;p2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38" name="Google Shape;138;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41" name="Google Shape;141;p30"/>
          <p:cNvGraphicFramePr/>
          <p:nvPr/>
        </p:nvGraphicFramePr>
        <p:xfrm>
          <a:off x="201942" y="833662"/>
          <a:ext cx="3000000" cy="3000000"/>
        </p:xfrm>
        <a:graphic>
          <a:graphicData uri="http://schemas.openxmlformats.org/drawingml/2006/table">
            <a:tbl>
              <a:tblPr firstRow="1" bandRow="1">
                <a:noFill/>
                <a:tableStyleId>{A1BBC871-F89B-45A3-A074-B200C202542C}</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42" name="Google Shape;142;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3"/>
        <p:cNvGrpSpPr/>
        <p:nvPr/>
      </p:nvGrpSpPr>
      <p:grpSpPr>
        <a:xfrm>
          <a:off x="0" y="0"/>
          <a:ext cx="0" cy="0"/>
          <a:chOff x="0" y="0"/>
          <a:chExt cx="0" cy="0"/>
        </a:xfrm>
      </p:grpSpPr>
      <p:sp>
        <p:nvSpPr>
          <p:cNvPr id="144" name="Google Shape;144;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45" name="Google Shape;145;p3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6" name="Google Shape;146;p3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7" name="Google Shape;147;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8"/>
        <p:cNvGrpSpPr/>
        <p:nvPr/>
      </p:nvGrpSpPr>
      <p:grpSpPr>
        <a:xfrm>
          <a:off x="0" y="0"/>
          <a:ext cx="0" cy="0"/>
          <a:chOff x="0" y="0"/>
          <a:chExt cx="0" cy="0"/>
        </a:xfrm>
      </p:grpSpPr>
      <p:sp>
        <p:nvSpPr>
          <p:cNvPr id="149" name="Google Shape;149;p3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50" name="Google Shape;150;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1"/>
        <p:cNvGrpSpPr/>
        <p:nvPr/>
      </p:nvGrpSpPr>
      <p:grpSpPr>
        <a:xfrm>
          <a:off x="0" y="0"/>
          <a:ext cx="0" cy="0"/>
          <a:chOff x="0" y="0"/>
          <a:chExt cx="0" cy="0"/>
        </a:xfrm>
      </p:grpSpPr>
      <p:sp>
        <p:nvSpPr>
          <p:cNvPr id="152" name="Google Shape;152;p3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53" name="Google Shape;15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4"/>
        <p:cNvGrpSpPr/>
        <p:nvPr/>
      </p:nvGrpSpPr>
      <p:grpSpPr>
        <a:xfrm>
          <a:off x="0" y="0"/>
          <a:ext cx="0" cy="0"/>
          <a:chOff x="0" y="0"/>
          <a:chExt cx="0" cy="0"/>
        </a:xfrm>
      </p:grpSpPr>
      <p:sp>
        <p:nvSpPr>
          <p:cNvPr id="155" name="Google Shape;155;p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57" name="Google Shape;157;p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8" name="Google Shape;158;p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59" name="Google Shape;159;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0"/>
        <p:cNvGrpSpPr/>
        <p:nvPr/>
      </p:nvGrpSpPr>
      <p:grpSpPr>
        <a:xfrm>
          <a:off x="0" y="0"/>
          <a:ext cx="0" cy="0"/>
          <a:chOff x="0" y="0"/>
          <a:chExt cx="0" cy="0"/>
        </a:xfrm>
      </p:grpSpPr>
      <p:sp>
        <p:nvSpPr>
          <p:cNvPr id="161" name="Google Shape;161;p3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image" Target="../media/image1.pn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2.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24">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4"/>
        <p:cNvGrpSpPr/>
        <p:nvPr/>
      </p:nvGrpSpPr>
      <p:grpSpPr>
        <a:xfrm>
          <a:off x="0" y="0"/>
          <a:ext cx="0" cy="0"/>
          <a:chOff x="0" y="0"/>
          <a:chExt cx="0" cy="0"/>
        </a:xfrm>
      </p:grpSpPr>
      <p:sp>
        <p:nvSpPr>
          <p:cNvPr id="115" name="Google Shape;115;p2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16" name="Google Shape;116;p25"/>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17" name="Google Shape;117;p25"/>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18" name="Google Shape;118;p2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19" name="Google Shape;119;p25"/>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20" name="Google Shape;120;p25"/>
          <p:cNvGrpSpPr/>
          <p:nvPr/>
        </p:nvGrpSpPr>
        <p:grpSpPr>
          <a:xfrm>
            <a:off x="6593" y="10"/>
            <a:ext cx="175500" cy="709221"/>
            <a:chOff x="6593" y="10"/>
            <a:chExt cx="175500" cy="709221"/>
          </a:xfrm>
        </p:grpSpPr>
        <p:sp>
          <p:nvSpPr>
            <p:cNvPr id="121" name="Google Shape;121;p25"/>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25"/>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6"/>
          <p:cNvSpPr txBox="1"/>
          <p:nvPr/>
        </p:nvSpPr>
        <p:spPr>
          <a:xfrm>
            <a:off x="1632725" y="1227550"/>
            <a:ext cx="5411100" cy="815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100"/>
              <a:buFont typeface="Arial"/>
              <a:buNone/>
            </a:pPr>
            <a:r>
              <a:rPr lang="en-US" sz="4100" b="1" i="0" u="none" strike="noStrike" cap="none" dirty="0" err="1">
                <a:solidFill>
                  <a:srgbClr val="0E39A9"/>
                </a:solidFill>
                <a:latin typeface="Nunito"/>
                <a:ea typeface="Nunito"/>
                <a:cs typeface="Nunito"/>
                <a:sym typeface="Nunito"/>
              </a:rPr>
              <a:t>HelmNet</a:t>
            </a:r>
            <a:endParaRPr sz="4100" b="1" i="0" u="none" strike="noStrike" cap="none" dirty="0">
              <a:solidFill>
                <a:srgbClr val="0E39A9"/>
              </a:solidFill>
              <a:latin typeface="Nunito"/>
              <a:ea typeface="Nunito"/>
              <a:cs typeface="Nunito"/>
              <a:sym typeface="Nunito"/>
            </a:endParaRPr>
          </a:p>
        </p:txBody>
      </p:sp>
      <p:sp>
        <p:nvSpPr>
          <p:cNvPr id="167" name="Google Shape;167;p36"/>
          <p:cNvSpPr txBox="1"/>
          <p:nvPr/>
        </p:nvSpPr>
        <p:spPr>
          <a:xfrm>
            <a:off x="1632725" y="1940550"/>
            <a:ext cx="5199300" cy="631200"/>
          </a:xfrm>
          <a:prstGeom prst="rect">
            <a:avLst/>
          </a:prstGeom>
          <a:noFill/>
          <a:ln>
            <a:noFill/>
          </a:ln>
        </p:spPr>
        <p:txBody>
          <a:bodyPr spcFirstLastPara="1" wrap="square" lIns="91425" tIns="91425" rIns="91425" bIns="91425" anchor="t" anchorCtr="0">
            <a:spAutoFit/>
          </a:bodyPr>
          <a:lstStyle/>
          <a:p>
            <a:pPr lvl="0">
              <a:buSzPts val="2900"/>
            </a:pPr>
            <a:r>
              <a:rPr lang="en-US" sz="2900" dirty="0">
                <a:solidFill>
                  <a:srgbClr val="0E39A9"/>
                </a:solidFill>
                <a:latin typeface="Nunito"/>
                <a:ea typeface="Nunito"/>
                <a:cs typeface="Nunito"/>
                <a:sym typeface="Nunito"/>
              </a:rPr>
              <a:t>PGP-AIML-BA-UTA-Jun25-D</a:t>
            </a:r>
          </a:p>
        </p:txBody>
      </p:sp>
      <p:sp>
        <p:nvSpPr>
          <p:cNvPr id="168" name="Google Shape;168;p36"/>
          <p:cNvSpPr txBox="1"/>
          <p:nvPr/>
        </p:nvSpPr>
        <p:spPr>
          <a:xfrm>
            <a:off x="1632725" y="2586175"/>
            <a:ext cx="2186800" cy="52319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dirty="0">
                <a:solidFill>
                  <a:srgbClr val="0E39A9"/>
                </a:solidFill>
                <a:latin typeface="Nunito"/>
                <a:ea typeface="Nunito"/>
                <a:cs typeface="Nunito"/>
                <a:sym typeface="Nunito"/>
              </a:rPr>
              <a:t>01/12/2026</a:t>
            </a:r>
            <a:endParaRPr sz="2200" b="0" i="0" u="none" strike="noStrike" cap="none" dirty="0">
              <a:solidFill>
                <a:srgbClr val="0E39A9"/>
              </a:solidFill>
              <a:latin typeface="Nunito"/>
              <a:ea typeface="Nunito"/>
              <a:cs typeface="Nunito"/>
              <a:sym typeface="Nunito"/>
            </a:endParaRPr>
          </a:p>
        </p:txBody>
      </p:sp>
      <p:sp>
        <p:nvSpPr>
          <p:cNvPr id="2" name="TextBox 1">
            <a:extLst>
              <a:ext uri="{FF2B5EF4-FFF2-40B4-BE49-F238E27FC236}">
                <a16:creationId xmlns:a16="http://schemas.microsoft.com/office/drawing/2014/main" id="{4C4DDBAE-4064-F951-30D3-00A2013EE200}"/>
              </a:ext>
            </a:extLst>
          </p:cNvPr>
          <p:cNvSpPr txBox="1"/>
          <p:nvPr/>
        </p:nvSpPr>
        <p:spPr>
          <a:xfrm>
            <a:off x="5915025" y="4286250"/>
            <a:ext cx="2647950" cy="369332"/>
          </a:xfrm>
          <a:prstGeom prst="rect">
            <a:avLst/>
          </a:prstGeom>
          <a:noFill/>
        </p:spPr>
        <p:txBody>
          <a:bodyPr wrap="square" rtlCol="0">
            <a:spAutoFit/>
          </a:bodyPr>
          <a:lstStyle/>
          <a:p>
            <a:pPr>
              <a:buSzPts val="2200"/>
            </a:pPr>
            <a:r>
              <a:rPr lang="en-US" sz="1800" b="1" i="1" dirty="0">
                <a:solidFill>
                  <a:srgbClr val="0E39A9"/>
                </a:solidFill>
                <a:latin typeface="Nunito"/>
              </a:rPr>
              <a:t>Yashpal Singh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Contents / Agenda</a:t>
            </a:r>
            <a:endParaRPr sz="2400">
              <a:solidFill>
                <a:srgbClr val="0E39A9"/>
              </a:solidFill>
            </a:endParaRPr>
          </a:p>
        </p:txBody>
      </p:sp>
      <p:sp>
        <p:nvSpPr>
          <p:cNvPr id="174" name="Google Shape;174;p37"/>
          <p:cNvSpPr/>
          <p:nvPr/>
        </p:nvSpPr>
        <p:spPr>
          <a:xfrm>
            <a:off x="403421" y="13757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75" name="Google Shape;175;p37"/>
          <p:cNvSpPr txBox="1"/>
          <p:nvPr/>
        </p:nvSpPr>
        <p:spPr>
          <a:xfrm>
            <a:off x="691799" y="1251775"/>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dirty="0">
                <a:latin typeface="Montserrat"/>
                <a:ea typeface="Montserrat"/>
                <a:cs typeface="Montserrat"/>
                <a:sym typeface="Montserrat"/>
              </a:rPr>
              <a:t>Data Overview</a:t>
            </a:r>
            <a:endParaRPr dirty="0">
              <a:solidFill>
                <a:srgbClr val="000000"/>
              </a:solidFill>
              <a:latin typeface="Montserrat"/>
              <a:ea typeface="Montserrat"/>
              <a:cs typeface="Montserrat"/>
              <a:sym typeface="Montserrat"/>
            </a:endParaRPr>
          </a:p>
        </p:txBody>
      </p:sp>
      <p:sp>
        <p:nvSpPr>
          <p:cNvPr id="176" name="Google Shape;176;p37"/>
          <p:cNvSpPr/>
          <p:nvPr/>
        </p:nvSpPr>
        <p:spPr>
          <a:xfrm>
            <a:off x="403421" y="17758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77" name="Google Shape;177;p37"/>
          <p:cNvSpPr txBox="1"/>
          <p:nvPr/>
        </p:nvSpPr>
        <p:spPr>
          <a:xfrm>
            <a:off x="691799" y="1651975"/>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latin typeface="Montserrat"/>
                <a:ea typeface="Montserrat"/>
                <a:cs typeface="Montserrat"/>
                <a:sym typeface="Montserrat"/>
              </a:rPr>
              <a:t>Exploratory Data Analysis</a:t>
            </a:r>
            <a:endParaRPr>
              <a:solidFill>
                <a:srgbClr val="000000"/>
              </a:solidFill>
              <a:latin typeface="Montserrat"/>
              <a:ea typeface="Montserrat"/>
              <a:cs typeface="Montserrat"/>
              <a:sym typeface="Montserrat"/>
            </a:endParaRPr>
          </a:p>
        </p:txBody>
      </p:sp>
      <p:sp>
        <p:nvSpPr>
          <p:cNvPr id="178" name="Google Shape;178;p37"/>
          <p:cNvSpPr/>
          <p:nvPr/>
        </p:nvSpPr>
        <p:spPr>
          <a:xfrm>
            <a:off x="403421" y="22520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79" name="Google Shape;179;p37"/>
          <p:cNvSpPr txBox="1"/>
          <p:nvPr/>
        </p:nvSpPr>
        <p:spPr>
          <a:xfrm>
            <a:off x="691799" y="2143450"/>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latin typeface="Montserrat"/>
                <a:ea typeface="Montserrat"/>
                <a:cs typeface="Montserrat"/>
                <a:sym typeface="Montserrat"/>
              </a:rPr>
              <a:t>Data Pre-processing</a:t>
            </a:r>
            <a:endParaRPr>
              <a:solidFill>
                <a:srgbClr val="000000"/>
              </a:solidFill>
              <a:latin typeface="Montserrat"/>
              <a:ea typeface="Montserrat"/>
              <a:cs typeface="Montserrat"/>
              <a:sym typeface="Montserrat"/>
            </a:endParaRPr>
          </a:p>
        </p:txBody>
      </p:sp>
      <p:sp>
        <p:nvSpPr>
          <p:cNvPr id="180" name="Google Shape;180;p37"/>
          <p:cNvSpPr/>
          <p:nvPr/>
        </p:nvSpPr>
        <p:spPr>
          <a:xfrm>
            <a:off x="403421" y="27092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1" name="Google Shape;181;p37"/>
          <p:cNvSpPr txBox="1"/>
          <p:nvPr/>
        </p:nvSpPr>
        <p:spPr>
          <a:xfrm>
            <a:off x="691799" y="2600650"/>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latin typeface="Montserrat"/>
                <a:ea typeface="Montserrat"/>
                <a:cs typeface="Montserrat"/>
                <a:sym typeface="Montserrat"/>
              </a:rPr>
              <a:t>Basic Convolutional Neural Network</a:t>
            </a:r>
            <a:endParaRPr>
              <a:solidFill>
                <a:srgbClr val="000000"/>
              </a:solidFill>
              <a:latin typeface="Montserrat"/>
              <a:ea typeface="Montserrat"/>
              <a:cs typeface="Montserrat"/>
              <a:sym typeface="Montserrat"/>
            </a:endParaRPr>
          </a:p>
        </p:txBody>
      </p:sp>
      <p:sp>
        <p:nvSpPr>
          <p:cNvPr id="182" name="Google Shape;182;p37"/>
          <p:cNvSpPr/>
          <p:nvPr/>
        </p:nvSpPr>
        <p:spPr>
          <a:xfrm>
            <a:off x="403421" y="31664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3" name="Google Shape;183;p37"/>
          <p:cNvSpPr txBox="1"/>
          <p:nvPr/>
        </p:nvSpPr>
        <p:spPr>
          <a:xfrm>
            <a:off x="691799" y="3057850"/>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latin typeface="Montserrat"/>
                <a:ea typeface="Montserrat"/>
                <a:cs typeface="Montserrat"/>
                <a:sym typeface="Montserrat"/>
              </a:rPr>
              <a:t>VGG-16 Model</a:t>
            </a:r>
            <a:endParaRPr>
              <a:solidFill>
                <a:srgbClr val="000000"/>
              </a:solidFill>
              <a:latin typeface="Montserrat"/>
              <a:ea typeface="Montserrat"/>
              <a:cs typeface="Montserrat"/>
              <a:sym typeface="Montserrat"/>
            </a:endParaRPr>
          </a:p>
        </p:txBody>
      </p:sp>
      <p:sp>
        <p:nvSpPr>
          <p:cNvPr id="184" name="Google Shape;184;p37"/>
          <p:cNvSpPr/>
          <p:nvPr/>
        </p:nvSpPr>
        <p:spPr>
          <a:xfrm>
            <a:off x="403421" y="36236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5" name="Google Shape;185;p37"/>
          <p:cNvSpPr txBox="1"/>
          <p:nvPr/>
        </p:nvSpPr>
        <p:spPr>
          <a:xfrm>
            <a:off x="691799" y="3515050"/>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latin typeface="Montserrat"/>
                <a:ea typeface="Montserrat"/>
                <a:cs typeface="Montserrat"/>
                <a:sym typeface="Montserrat"/>
              </a:rPr>
              <a:t>VGG-16 with FFNN</a:t>
            </a:r>
            <a:endParaRPr>
              <a:solidFill>
                <a:srgbClr val="000000"/>
              </a:solidFill>
              <a:latin typeface="Montserrat"/>
              <a:ea typeface="Montserrat"/>
              <a:cs typeface="Montserrat"/>
              <a:sym typeface="Montserrat"/>
            </a:endParaRPr>
          </a:p>
        </p:txBody>
      </p:sp>
      <p:sp>
        <p:nvSpPr>
          <p:cNvPr id="186" name="Google Shape;186;p37"/>
          <p:cNvSpPr/>
          <p:nvPr/>
        </p:nvSpPr>
        <p:spPr>
          <a:xfrm>
            <a:off x="403421" y="40808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7" name="Google Shape;187;p37"/>
          <p:cNvSpPr txBox="1"/>
          <p:nvPr/>
        </p:nvSpPr>
        <p:spPr>
          <a:xfrm>
            <a:off x="691799" y="3972250"/>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latin typeface="Montserrat"/>
                <a:ea typeface="Montserrat"/>
                <a:cs typeface="Montserrat"/>
                <a:sym typeface="Montserrat"/>
              </a:rPr>
              <a:t>VGG-16 with Data Augmentation</a:t>
            </a:r>
            <a:endParaRPr>
              <a:solidFill>
                <a:srgbClr val="000000"/>
              </a:solidFill>
              <a:latin typeface="Montserrat"/>
              <a:ea typeface="Montserrat"/>
              <a:cs typeface="Montserrat"/>
              <a:sym typeface="Montserrat"/>
            </a:endParaRPr>
          </a:p>
        </p:txBody>
      </p:sp>
      <p:sp>
        <p:nvSpPr>
          <p:cNvPr id="188" name="Google Shape;188;p37"/>
          <p:cNvSpPr/>
          <p:nvPr/>
        </p:nvSpPr>
        <p:spPr>
          <a:xfrm>
            <a:off x="403421" y="45380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9" name="Google Shape;189;p37"/>
          <p:cNvSpPr txBox="1"/>
          <p:nvPr/>
        </p:nvSpPr>
        <p:spPr>
          <a:xfrm>
            <a:off x="691799" y="4429450"/>
            <a:ext cx="56328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latin typeface="Montserrat"/>
                <a:ea typeface="Montserrat"/>
                <a:cs typeface="Montserrat"/>
                <a:sym typeface="Montserrat"/>
              </a:rPr>
              <a:t>Model Performance Comparison and Final Model Selection</a:t>
            </a:r>
            <a:endParaRPr>
              <a:solidFill>
                <a:srgbClr val="000000"/>
              </a:solidFill>
              <a:latin typeface="Montserrat"/>
              <a:ea typeface="Montserrat"/>
              <a:cs typeface="Montserrat"/>
              <a:sym typeface="Montserrat"/>
            </a:endParaRPr>
          </a:p>
        </p:txBody>
      </p:sp>
      <p:sp>
        <p:nvSpPr>
          <p:cNvPr id="2" name="Google Shape;174;p37">
            <a:extLst>
              <a:ext uri="{FF2B5EF4-FFF2-40B4-BE49-F238E27FC236}">
                <a16:creationId xmlns:a16="http://schemas.microsoft.com/office/drawing/2014/main" id="{92B6DF76-DE47-C852-A19A-2362A29EE01E}"/>
              </a:ext>
            </a:extLst>
          </p:cNvPr>
          <p:cNvSpPr/>
          <p:nvPr/>
        </p:nvSpPr>
        <p:spPr>
          <a:xfrm>
            <a:off x="412946" y="10519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3" name="Google Shape;175;p37">
            <a:extLst>
              <a:ext uri="{FF2B5EF4-FFF2-40B4-BE49-F238E27FC236}">
                <a16:creationId xmlns:a16="http://schemas.microsoft.com/office/drawing/2014/main" id="{CF22A9A3-C56C-D285-49F3-2313A4217CFB}"/>
              </a:ext>
            </a:extLst>
          </p:cNvPr>
          <p:cNvSpPr txBox="1"/>
          <p:nvPr/>
        </p:nvSpPr>
        <p:spPr>
          <a:xfrm>
            <a:off x="701324" y="889825"/>
            <a:ext cx="5632800" cy="507801"/>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dirty="0">
                <a:latin typeface="Montserrat"/>
                <a:ea typeface="Montserrat"/>
                <a:cs typeface="Montserrat"/>
                <a:sym typeface="Montserrat"/>
              </a:rPr>
              <a:t>Exeuative  Summary </a:t>
            </a:r>
            <a:endParaRPr dirty="0">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Executive Summary</a:t>
            </a:r>
            <a:r>
              <a:rPr lang="en" sz="2000" dirty="0">
                <a:solidFill>
                  <a:srgbClr val="0E39A9"/>
                </a:solidFill>
              </a:rPr>
              <a:t>: </a:t>
            </a:r>
            <a:r>
              <a:rPr lang="en-US" sz="2000" u="sng" dirty="0" err="1">
                <a:solidFill>
                  <a:srgbClr val="0E39A9"/>
                </a:solidFill>
              </a:rPr>
              <a:t>HelmNet</a:t>
            </a:r>
            <a:r>
              <a:rPr lang="en-US" sz="2000" u="sng" dirty="0">
                <a:solidFill>
                  <a:srgbClr val="0E39A9"/>
                </a:solidFill>
              </a:rPr>
              <a:t> Safety Compliance System</a:t>
            </a:r>
            <a:endParaRPr sz="2400" u="sng" dirty="0">
              <a:solidFill>
                <a:srgbClr val="0E39A9"/>
              </a:solidFill>
            </a:endParaRPr>
          </a:p>
        </p:txBody>
      </p:sp>
      <p:sp>
        <p:nvSpPr>
          <p:cNvPr id="2" name="TextBox 1">
            <a:extLst>
              <a:ext uri="{FF2B5EF4-FFF2-40B4-BE49-F238E27FC236}">
                <a16:creationId xmlns:a16="http://schemas.microsoft.com/office/drawing/2014/main" id="{C226FE30-97CE-1EFA-2002-E36FBCDE2FE8}"/>
              </a:ext>
            </a:extLst>
          </p:cNvPr>
          <p:cNvSpPr txBox="1"/>
          <p:nvPr/>
        </p:nvSpPr>
        <p:spPr>
          <a:xfrm>
            <a:off x="361950" y="1028700"/>
            <a:ext cx="8124825" cy="3323987"/>
          </a:xfrm>
          <a:prstGeom prst="rect">
            <a:avLst/>
          </a:prstGeom>
          <a:noFill/>
        </p:spPr>
        <p:txBody>
          <a:bodyPr wrap="square" rtlCol="0">
            <a:spAutoFit/>
          </a:bodyPr>
          <a:lstStyle/>
          <a:p>
            <a:r>
              <a:rPr lang="en-US" b="1" dirty="0">
                <a:latin typeface="Montserrat" panose="00000500000000000000" pitchFamily="2" charset="0"/>
              </a:rPr>
              <a:t>1.  Project Overview : </a:t>
            </a:r>
          </a:p>
          <a:p>
            <a:r>
              <a:rPr lang="en-US" sz="1050" b="1" dirty="0" err="1">
                <a:latin typeface="Montserrat" panose="00000500000000000000" pitchFamily="2" charset="0"/>
              </a:rPr>
              <a:t>SafeGuard</a:t>
            </a:r>
            <a:r>
              <a:rPr lang="en-US" sz="1050" b="1" dirty="0">
                <a:latin typeface="Montserrat" panose="00000500000000000000" pitchFamily="2" charset="0"/>
              </a:rPr>
              <a:t> Corp identified </a:t>
            </a:r>
            <a:r>
              <a:rPr lang="en-US" sz="1050" dirty="0">
                <a:latin typeface="Montserrat" panose="00000500000000000000" pitchFamily="2" charset="0"/>
              </a:rPr>
              <a:t>a critical safety gap in high-risk industrial environments where manual monitoring for safety helmet compliance is prone to human error, fatigue, and "blind spots". The </a:t>
            </a:r>
            <a:r>
              <a:rPr lang="en-US" sz="1050" b="1" dirty="0" err="1">
                <a:latin typeface="Montserrat" panose="00000500000000000000" pitchFamily="2" charset="0"/>
              </a:rPr>
              <a:t>HelmNet</a:t>
            </a:r>
            <a:r>
              <a:rPr lang="en-US" sz="1050" b="1" dirty="0">
                <a:latin typeface="Montserrat" panose="00000500000000000000" pitchFamily="2" charset="0"/>
              </a:rPr>
              <a:t> project </a:t>
            </a:r>
            <a:r>
              <a:rPr lang="en-US" sz="1050" dirty="0">
                <a:latin typeface="Montserrat" panose="00000500000000000000" pitchFamily="2" charset="0"/>
              </a:rPr>
              <a:t>was launched to develop an automated, real-time computer vision solution to ensure 100% compliance with Personal Protective Equipment (PPE) protocols, thereby mitigating the risk of workplace fatalities and long-term disabilities.</a:t>
            </a:r>
          </a:p>
          <a:p>
            <a:endParaRPr lang="en-US" sz="1050" dirty="0">
              <a:latin typeface="Montserrat" panose="00000500000000000000" pitchFamily="2" charset="0"/>
            </a:endParaRPr>
          </a:p>
          <a:p>
            <a:r>
              <a:rPr lang="en-US" b="1" dirty="0">
                <a:latin typeface="Montserrat" panose="00000500000000000000" pitchFamily="2" charset="0"/>
              </a:rPr>
              <a:t>2. Business Problem and Objectives</a:t>
            </a:r>
          </a:p>
          <a:p>
            <a:r>
              <a:rPr lang="en-US" sz="1050" dirty="0">
                <a:latin typeface="Montserrat" panose="00000500000000000000" pitchFamily="2" charset="0"/>
              </a:rPr>
              <a:t>Manual oversight often leads to a </a:t>
            </a:r>
            <a:r>
              <a:rPr lang="en-US" sz="1050" b="1" dirty="0">
                <a:latin typeface="Montserrat" panose="00000500000000000000" pitchFamily="2" charset="0"/>
              </a:rPr>
              <a:t>delayed response</a:t>
            </a:r>
            <a:r>
              <a:rPr lang="en-US" sz="1050" dirty="0">
                <a:latin typeface="Montserrat" panose="00000500000000000000" pitchFamily="2" charset="0"/>
              </a:rPr>
              <a:t>, identifying non-compliance only after an incident has occurred. Our technical objective was to architect a high-precision binary classifier—</a:t>
            </a:r>
            <a:r>
              <a:rPr lang="en-US" sz="1050" b="1" dirty="0">
                <a:latin typeface="Montserrat" panose="00000500000000000000" pitchFamily="2" charset="0"/>
              </a:rPr>
              <a:t>With Helmet (Class 1)</a:t>
            </a:r>
            <a:r>
              <a:rPr lang="en-US" sz="1050" dirty="0">
                <a:latin typeface="Montserrat" panose="00000500000000000000" pitchFamily="2" charset="0"/>
              </a:rPr>
              <a:t> vs. </a:t>
            </a:r>
            <a:r>
              <a:rPr lang="en-US" sz="1050" b="1" dirty="0">
                <a:latin typeface="Montserrat" panose="00000500000000000000" pitchFamily="2" charset="0"/>
              </a:rPr>
              <a:t>Without Helmet (Class 0)</a:t>
            </a:r>
            <a:r>
              <a:rPr lang="en-US" sz="1050" dirty="0">
                <a:latin typeface="Montserrat" panose="00000500000000000000" pitchFamily="2" charset="0"/>
              </a:rPr>
              <a:t>—that remains robust across diverse lighting, angles, and postural variations</a:t>
            </a:r>
            <a:r>
              <a:rPr lang="en-US" sz="1050" dirty="0"/>
              <a:t>.</a:t>
            </a:r>
            <a:r>
              <a:rPr lang="en-US" sz="1050" b="1" dirty="0">
                <a:latin typeface="Montserrat" panose="00000500000000000000" pitchFamily="2" charset="0"/>
              </a:rPr>
              <a:t> </a:t>
            </a:r>
          </a:p>
          <a:p>
            <a:endParaRPr lang="en-US" sz="1050" b="1" dirty="0">
              <a:latin typeface="Montserrat" panose="00000500000000000000" pitchFamily="2" charset="0"/>
            </a:endParaRPr>
          </a:p>
          <a:p>
            <a:r>
              <a:rPr lang="en-US" b="1" dirty="0">
                <a:latin typeface="Montserrat" panose="00000500000000000000" pitchFamily="2" charset="0"/>
              </a:rPr>
              <a:t>3. Data Insights &amp; Strategy</a:t>
            </a:r>
          </a:p>
          <a:p>
            <a:r>
              <a:rPr lang="en-US" sz="1050" dirty="0">
                <a:latin typeface="Montserrat" panose="00000500000000000000" pitchFamily="2" charset="0"/>
              </a:rPr>
              <a:t>The system was trained on a balanced dataset of </a:t>
            </a:r>
            <a:r>
              <a:rPr lang="en-US" sz="1050" b="1" dirty="0">
                <a:latin typeface="Montserrat" panose="00000500000000000000" pitchFamily="2" charset="0"/>
              </a:rPr>
              <a:t>631 high-diversity images </a:t>
            </a:r>
            <a:r>
              <a:rPr lang="en-US" sz="1050" dirty="0">
                <a:latin typeface="Montserrat" panose="00000500000000000000" pitchFamily="2" charset="0"/>
              </a:rPr>
              <a:t>(</a:t>
            </a:r>
            <a:r>
              <a:rPr lang="en-US" sz="1050" b="1" dirty="0">
                <a:latin typeface="Montserrat" panose="00000500000000000000" pitchFamily="2" charset="0"/>
              </a:rPr>
              <a:t>311</a:t>
            </a:r>
            <a:r>
              <a:rPr lang="en-US" sz="1050" dirty="0">
                <a:latin typeface="Montserrat" panose="00000500000000000000" pitchFamily="2" charset="0"/>
              </a:rPr>
              <a:t> </a:t>
            </a:r>
            <a:r>
              <a:rPr lang="en-US" sz="1050" b="1" dirty="0">
                <a:latin typeface="Montserrat" panose="00000500000000000000" pitchFamily="2" charset="0"/>
              </a:rPr>
              <a:t>With Helmet, 320 Without Helmet</a:t>
            </a:r>
          </a:p>
          <a:p>
            <a:endParaRPr lang="en-US" sz="1050" b="1" dirty="0">
              <a:latin typeface="Montserrat" panose="00000500000000000000" pitchFamily="2" charset="0"/>
            </a:endParaRPr>
          </a:p>
          <a:p>
            <a:pPr marL="171450" indent="-171450">
              <a:buFont typeface="Wingdings" panose="05000000000000000000" pitchFamily="2" charset="2"/>
              <a:buChar char="§"/>
            </a:pPr>
            <a:r>
              <a:rPr lang="en-US" sz="1050" b="1" dirty="0">
                <a:latin typeface="Montserrat" panose="00000500000000000000" pitchFamily="2" charset="0"/>
              </a:rPr>
              <a:t>Near-Perfect Class Balance:</a:t>
            </a:r>
            <a:r>
              <a:rPr lang="en-US" sz="1050" dirty="0">
                <a:latin typeface="Montserrat" panose="00000500000000000000" pitchFamily="2" charset="0"/>
              </a:rPr>
              <a:t> This symmetry (51% to 49%) prevented statistical bias toward a majority class, ensuring that our performance metrics—especially Accuracy and Recall—are highly reliable.</a:t>
            </a:r>
          </a:p>
          <a:p>
            <a:pPr marL="171450" indent="-171450">
              <a:buFont typeface="Wingdings" panose="05000000000000000000" pitchFamily="2" charset="2"/>
              <a:buChar char="§"/>
            </a:pPr>
            <a:r>
              <a:rPr lang="en-US" sz="1050" b="1" dirty="0">
                <a:latin typeface="Montserrat" panose="00000500000000000000" pitchFamily="2" charset="0"/>
              </a:rPr>
              <a:t>Preprocessing:</a:t>
            </a:r>
            <a:r>
              <a:rPr lang="en-US" sz="1050" dirty="0">
                <a:latin typeface="Montserrat" panose="00000500000000000000" pitchFamily="2" charset="0"/>
              </a:rPr>
              <a:t> We utilized </a:t>
            </a:r>
            <a:r>
              <a:rPr lang="en-US" sz="1050" b="1" dirty="0">
                <a:latin typeface="Montserrat" panose="00000500000000000000" pitchFamily="2" charset="0"/>
              </a:rPr>
              <a:t>Gray Scaling</a:t>
            </a:r>
            <a:r>
              <a:rPr lang="en-US" sz="1050" dirty="0">
                <a:latin typeface="Montserrat" panose="00000500000000000000" pitchFamily="2" charset="0"/>
              </a:rPr>
              <a:t> for computational efficiency and </a:t>
            </a:r>
            <a:r>
              <a:rPr lang="en-US" sz="1050" b="1" dirty="0">
                <a:latin typeface="Montserrat" panose="00000500000000000000" pitchFamily="2" charset="0"/>
              </a:rPr>
              <a:t>Standardization</a:t>
            </a:r>
            <a:r>
              <a:rPr lang="en-US" sz="1050" dirty="0">
                <a:latin typeface="Montserrat" panose="00000500000000000000" pitchFamily="2" charset="0"/>
              </a:rPr>
              <a:t> (scaling pixels to 0–1) for faster convergence</a:t>
            </a:r>
          </a:p>
          <a:p>
            <a:endParaRPr lang="en-US" sz="1050" b="1" dirty="0">
              <a:latin typeface="Montserrat" panose="000005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5C852E1E-AFA3-C428-E94B-5DA69DF0F0C2}"/>
            </a:ext>
          </a:extLst>
        </p:cNvPr>
        <p:cNvGrpSpPr/>
        <p:nvPr/>
      </p:nvGrpSpPr>
      <p:grpSpPr>
        <a:xfrm>
          <a:off x="0" y="0"/>
          <a:ext cx="0" cy="0"/>
          <a:chOff x="0" y="0"/>
          <a:chExt cx="0" cy="0"/>
        </a:xfrm>
      </p:grpSpPr>
      <p:sp>
        <p:nvSpPr>
          <p:cNvPr id="194" name="Google Shape;194;p38">
            <a:extLst>
              <a:ext uri="{FF2B5EF4-FFF2-40B4-BE49-F238E27FC236}">
                <a16:creationId xmlns:a16="http://schemas.microsoft.com/office/drawing/2014/main" id="{B95CD6EB-2E75-EE5F-C62A-8574F4960CC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Executive Summary</a:t>
            </a:r>
            <a:r>
              <a:rPr lang="en" sz="2000" dirty="0">
                <a:solidFill>
                  <a:srgbClr val="0E39A9"/>
                </a:solidFill>
              </a:rPr>
              <a:t>: </a:t>
            </a:r>
            <a:r>
              <a:rPr lang="en-US" sz="2000" u="sng" dirty="0" err="1">
                <a:solidFill>
                  <a:srgbClr val="0E39A9"/>
                </a:solidFill>
              </a:rPr>
              <a:t>HelmNet</a:t>
            </a:r>
            <a:r>
              <a:rPr lang="en-US" sz="2000" u="sng" dirty="0">
                <a:solidFill>
                  <a:srgbClr val="0E39A9"/>
                </a:solidFill>
              </a:rPr>
              <a:t> Safety Compliance System</a:t>
            </a:r>
            <a:endParaRPr sz="2400" u="sng" dirty="0">
              <a:solidFill>
                <a:srgbClr val="0E39A9"/>
              </a:solidFill>
            </a:endParaRPr>
          </a:p>
        </p:txBody>
      </p:sp>
      <p:sp>
        <p:nvSpPr>
          <p:cNvPr id="2" name="TextBox 1">
            <a:extLst>
              <a:ext uri="{FF2B5EF4-FFF2-40B4-BE49-F238E27FC236}">
                <a16:creationId xmlns:a16="http://schemas.microsoft.com/office/drawing/2014/main" id="{0EF4DAC6-6EBF-7DCA-EE69-DBB07054275C}"/>
              </a:ext>
            </a:extLst>
          </p:cNvPr>
          <p:cNvSpPr txBox="1"/>
          <p:nvPr/>
        </p:nvSpPr>
        <p:spPr>
          <a:xfrm>
            <a:off x="361950" y="1028700"/>
            <a:ext cx="8124825" cy="3754874"/>
          </a:xfrm>
          <a:prstGeom prst="rect">
            <a:avLst/>
          </a:prstGeom>
          <a:noFill/>
        </p:spPr>
        <p:txBody>
          <a:bodyPr wrap="square" rtlCol="0">
            <a:spAutoFit/>
          </a:bodyPr>
          <a:lstStyle/>
          <a:p>
            <a:r>
              <a:rPr lang="en-US" b="1" dirty="0">
                <a:latin typeface="Montserrat" panose="00000500000000000000" pitchFamily="2" charset="0"/>
              </a:rPr>
              <a:t>4. Model Evolution &amp; Final Selection: </a:t>
            </a:r>
          </a:p>
          <a:p>
            <a:r>
              <a:rPr lang="en-US" sz="1050" dirty="0">
                <a:latin typeface="Montserrat" panose="00000500000000000000" pitchFamily="2" charset="0"/>
              </a:rPr>
              <a:t>A four-stage experimental roadmap is conducted:</a:t>
            </a:r>
          </a:p>
          <a:p>
            <a:endParaRPr lang="en-US" sz="1050" dirty="0">
              <a:latin typeface="Montserrat" panose="00000500000000000000" pitchFamily="2" charset="0"/>
            </a:endParaRPr>
          </a:p>
          <a:p>
            <a:pPr marL="228600" indent="-228600">
              <a:buFont typeface="+mj-lt"/>
              <a:buAutoNum type="arabicPeriod"/>
            </a:pPr>
            <a:r>
              <a:rPr lang="en-US" sz="1050" b="1" dirty="0">
                <a:latin typeface="Montserrat" panose="00000500000000000000" pitchFamily="2" charset="0"/>
              </a:rPr>
              <a:t>Base CNN:</a:t>
            </a:r>
            <a:r>
              <a:rPr lang="en-US" sz="1050" dirty="0">
                <a:latin typeface="Montserrat" panose="00000500000000000000" pitchFamily="2" charset="0"/>
              </a:rPr>
              <a:t> Established a strong baseline but </a:t>
            </a:r>
            <a:r>
              <a:rPr lang="en-US" sz="1050" b="1" dirty="0">
                <a:latin typeface="Montserrat" panose="00000500000000000000" pitchFamily="2" charset="0"/>
              </a:rPr>
              <a:t>lacked the depth for complex features</a:t>
            </a:r>
            <a:r>
              <a:rPr lang="en-US" sz="1050" dirty="0">
                <a:latin typeface="Montserrat" panose="00000500000000000000" pitchFamily="2" charset="0"/>
              </a:rPr>
              <a:t>.</a:t>
            </a:r>
          </a:p>
          <a:p>
            <a:pPr marL="228600" indent="-228600">
              <a:buFont typeface="+mj-lt"/>
              <a:buAutoNum type="arabicPeriod"/>
            </a:pPr>
            <a:r>
              <a:rPr lang="en-US" sz="1050" b="1" dirty="0">
                <a:latin typeface="Montserrat" panose="00000500000000000000" pitchFamily="2" charset="0"/>
              </a:rPr>
              <a:t>VGG-16 (Base):</a:t>
            </a:r>
            <a:r>
              <a:rPr lang="en-US" sz="1050" dirty="0">
                <a:latin typeface="Montserrat" panose="00000500000000000000" pitchFamily="2" charset="0"/>
              </a:rPr>
              <a:t> Showed signs of underfitting due to a lack of complexity in its classification head.</a:t>
            </a:r>
          </a:p>
          <a:p>
            <a:pPr marL="228600" indent="-228600">
              <a:buFont typeface="+mj-lt"/>
              <a:buAutoNum type="arabicPeriod"/>
            </a:pPr>
            <a:r>
              <a:rPr lang="en-US" sz="1050" b="1" dirty="0">
                <a:latin typeface="Montserrat" panose="00000500000000000000" pitchFamily="2" charset="0"/>
              </a:rPr>
              <a:t>VGG-16 + Data Augmentation:</a:t>
            </a:r>
            <a:r>
              <a:rPr lang="en-US" sz="1050" dirty="0">
                <a:latin typeface="Montserrat" panose="00000500000000000000" pitchFamily="2" charset="0"/>
              </a:rPr>
              <a:t> Highly accurate on training data (</a:t>
            </a:r>
            <a:r>
              <a:rPr lang="en-US" sz="1050" b="1" dirty="0">
                <a:latin typeface="Montserrat" panose="00000500000000000000" pitchFamily="2" charset="0"/>
              </a:rPr>
              <a:t>0.978</a:t>
            </a:r>
            <a:r>
              <a:rPr lang="en-US" sz="1050" dirty="0">
                <a:latin typeface="Montserrat" panose="00000500000000000000" pitchFamily="2" charset="0"/>
              </a:rPr>
              <a:t>) but showed slight "</a:t>
            </a:r>
            <a:r>
              <a:rPr lang="en-US" sz="1050" b="1" dirty="0">
                <a:latin typeface="Montserrat" panose="00000500000000000000" pitchFamily="2" charset="0"/>
              </a:rPr>
              <a:t>memorization</a:t>
            </a:r>
            <a:r>
              <a:rPr lang="en-US" sz="1050" dirty="0">
                <a:latin typeface="Montserrat" panose="00000500000000000000" pitchFamily="2" charset="0"/>
              </a:rPr>
              <a:t>" behavior.</a:t>
            </a:r>
          </a:p>
          <a:p>
            <a:pPr marL="228600" indent="-228600">
              <a:buFont typeface="+mj-lt"/>
              <a:buAutoNum type="arabicPeriod"/>
            </a:pPr>
            <a:r>
              <a:rPr lang="en-US" sz="1050" b="1" dirty="0">
                <a:latin typeface="Montserrat" panose="00000500000000000000" pitchFamily="2" charset="0"/>
              </a:rPr>
              <a:t>Final Choice—VGG-16 with FFNN (Feed-Forward Neural Network):</a:t>
            </a:r>
            <a:r>
              <a:rPr lang="en-US" sz="1050" dirty="0">
                <a:latin typeface="Montserrat" panose="00000500000000000000" pitchFamily="2" charset="0"/>
              </a:rPr>
              <a:t> This architecture emerged as the "</a:t>
            </a:r>
            <a:r>
              <a:rPr lang="en-US" sz="1050" b="1" dirty="0">
                <a:latin typeface="Montserrat" panose="00000500000000000000" pitchFamily="2" charset="0"/>
              </a:rPr>
              <a:t>Winner</a:t>
            </a:r>
            <a:r>
              <a:rPr lang="en-US" sz="1050" dirty="0">
                <a:latin typeface="Montserrat" panose="00000500000000000000" pitchFamily="2" charset="0"/>
              </a:rPr>
              <a:t>". It achieved the best </a:t>
            </a:r>
            <a:r>
              <a:rPr lang="en-US" sz="1050" b="1" dirty="0">
                <a:latin typeface="Montserrat" panose="00000500000000000000" pitchFamily="2" charset="0"/>
              </a:rPr>
              <a:t>balance of safety and reliability</a:t>
            </a:r>
            <a:r>
              <a:rPr lang="en-US" sz="1050" dirty="0">
                <a:latin typeface="Montserrat" panose="00000500000000000000" pitchFamily="2" charset="0"/>
              </a:rPr>
              <a:t>, capturing complex spatial relationships with </a:t>
            </a:r>
            <a:r>
              <a:rPr lang="en-US" sz="1050" b="1" dirty="0">
                <a:latin typeface="Montserrat" panose="00000500000000000000" pitchFamily="2" charset="0"/>
              </a:rPr>
              <a:t>exceptional generalization.</a:t>
            </a:r>
          </a:p>
          <a:p>
            <a:pPr marL="228600" indent="-228600">
              <a:buFont typeface="+mj-lt"/>
              <a:buAutoNum type="arabicPeriod"/>
            </a:pPr>
            <a:endParaRPr lang="en-US" sz="1050" dirty="0">
              <a:latin typeface="Montserrat" panose="00000500000000000000" pitchFamily="2" charset="0"/>
            </a:endParaRPr>
          </a:p>
          <a:p>
            <a:r>
              <a:rPr lang="en-US" b="1" dirty="0">
                <a:latin typeface="Montserrat" panose="00000500000000000000" pitchFamily="2" charset="0"/>
              </a:rPr>
              <a:t>5. Performance Results: </a:t>
            </a:r>
          </a:p>
          <a:p>
            <a:r>
              <a:rPr lang="en-US" sz="1050" dirty="0"/>
              <a:t>The selected </a:t>
            </a:r>
            <a:r>
              <a:rPr lang="en-US" sz="1050" b="1" dirty="0"/>
              <a:t>VGG-16 + FFNN</a:t>
            </a:r>
            <a:r>
              <a:rPr lang="en-US" sz="1050" dirty="0"/>
              <a:t> model demonstrated </a:t>
            </a:r>
            <a:r>
              <a:rPr lang="en-US" sz="1050" b="1" dirty="0"/>
              <a:t>flawless reliability on unseen data</a:t>
            </a:r>
            <a:r>
              <a:rPr lang="en-US" sz="1050" dirty="0"/>
              <a:t>:</a:t>
            </a:r>
          </a:p>
          <a:p>
            <a:pPr marL="171450" indent="-171450">
              <a:buFont typeface="Wingdings" panose="05000000000000000000" pitchFamily="2" charset="2"/>
              <a:buChar char="§"/>
            </a:pPr>
            <a:endParaRPr lang="en-US" sz="1050" dirty="0">
              <a:latin typeface="Montserrat" panose="00000500000000000000" pitchFamily="2" charset="0"/>
            </a:endParaRPr>
          </a:p>
          <a:p>
            <a:pPr marL="171450" indent="-171450">
              <a:buFont typeface="Wingdings" panose="05000000000000000000" pitchFamily="2" charset="2"/>
              <a:buChar char="§"/>
            </a:pPr>
            <a:r>
              <a:rPr lang="en-US" sz="1050" b="1" dirty="0">
                <a:latin typeface="Montserrat" panose="00000500000000000000" pitchFamily="2" charset="0"/>
              </a:rPr>
              <a:t>Validation Accuracy/Recall/F1:</a:t>
            </a:r>
            <a:r>
              <a:rPr lang="en-US" sz="1050" dirty="0">
                <a:latin typeface="Montserrat" panose="00000500000000000000" pitchFamily="2" charset="0"/>
              </a:rPr>
              <a:t> </a:t>
            </a:r>
            <a:r>
              <a:rPr lang="en-US" sz="1050" b="1" dirty="0">
                <a:latin typeface="Montserrat" panose="00000500000000000000" pitchFamily="2" charset="0"/>
              </a:rPr>
              <a:t>0.9841</a:t>
            </a:r>
            <a:r>
              <a:rPr lang="en-US" sz="1050" dirty="0">
                <a:latin typeface="Montserrat" panose="00000500000000000000" pitchFamily="2" charset="0"/>
              </a:rPr>
              <a:t>.</a:t>
            </a:r>
          </a:p>
          <a:p>
            <a:pPr marL="171450" indent="-171450">
              <a:buFont typeface="Wingdings" panose="05000000000000000000" pitchFamily="2" charset="2"/>
              <a:buChar char="§"/>
            </a:pPr>
            <a:r>
              <a:rPr lang="en-US" sz="1050" b="1" dirty="0">
                <a:latin typeface="Montserrat" panose="00000500000000000000" pitchFamily="2" charset="0"/>
              </a:rPr>
              <a:t>Test Results:</a:t>
            </a:r>
            <a:r>
              <a:rPr lang="en-US" sz="1050" dirty="0">
                <a:latin typeface="Montserrat" panose="00000500000000000000" pitchFamily="2" charset="0"/>
              </a:rPr>
              <a:t> Achieved a </a:t>
            </a:r>
            <a:r>
              <a:rPr lang="en-US" sz="1050" b="1" dirty="0">
                <a:latin typeface="Montserrat" panose="00000500000000000000" pitchFamily="2" charset="0"/>
              </a:rPr>
              <a:t>perfect score of 1.0</a:t>
            </a:r>
            <a:r>
              <a:rPr lang="en-US" sz="1050" dirty="0">
                <a:latin typeface="Montserrat" panose="00000500000000000000" pitchFamily="2" charset="0"/>
              </a:rPr>
              <a:t> across all key metrics (</a:t>
            </a:r>
            <a:r>
              <a:rPr lang="en-US" sz="1050" b="1" dirty="0">
                <a:latin typeface="Montserrat" panose="00000500000000000000" pitchFamily="2" charset="0"/>
              </a:rPr>
              <a:t>Accuracy, Precision, Recall, and F1-Score</a:t>
            </a:r>
            <a:r>
              <a:rPr lang="en-US" sz="1050" dirty="0">
                <a:latin typeface="Montserrat" panose="00000500000000000000" pitchFamily="2" charset="0"/>
              </a:rPr>
              <a:t>) on the final test set.</a:t>
            </a:r>
          </a:p>
          <a:p>
            <a:pPr marL="171450" indent="-171450">
              <a:buFont typeface="Wingdings" panose="05000000000000000000" pitchFamily="2" charset="2"/>
              <a:buChar char="§"/>
            </a:pPr>
            <a:r>
              <a:rPr lang="en-US" sz="1050" b="1" dirty="0">
                <a:latin typeface="Montserrat" panose="00000500000000000000" pitchFamily="2" charset="0"/>
              </a:rPr>
              <a:t>Safety-First Reliability:</a:t>
            </a:r>
            <a:r>
              <a:rPr lang="en-US" sz="1050" dirty="0">
                <a:latin typeface="Montserrat" panose="00000500000000000000" pitchFamily="2" charset="0"/>
              </a:rPr>
              <a:t> The model eliminated both False Positives and False Negatives, demonstrating it has reached </a:t>
            </a:r>
            <a:r>
              <a:rPr lang="en-US" sz="1050" b="1" dirty="0">
                <a:latin typeface="Montserrat" panose="00000500000000000000" pitchFamily="2" charset="0"/>
              </a:rPr>
              <a:t>maximum discriminative capacity for this environment</a:t>
            </a:r>
          </a:p>
          <a:p>
            <a:pPr marL="171450" indent="-171450">
              <a:buFont typeface="Wingdings" panose="05000000000000000000" pitchFamily="2" charset="2"/>
              <a:buChar char="§"/>
            </a:pPr>
            <a:endParaRPr lang="en-US" sz="1050" dirty="0">
              <a:latin typeface="Montserrat" panose="00000500000000000000" pitchFamily="2" charset="0"/>
            </a:endParaRPr>
          </a:p>
          <a:p>
            <a:pPr marL="228600" indent="-228600">
              <a:buFont typeface="Wingdings" panose="05000000000000000000" pitchFamily="2" charset="2"/>
              <a:buChar char="§"/>
            </a:pPr>
            <a:endParaRPr lang="en-US" sz="1050" b="1" dirty="0">
              <a:latin typeface="Montserrat" panose="00000500000000000000" pitchFamily="2" charset="0"/>
            </a:endParaRPr>
          </a:p>
          <a:p>
            <a:endParaRPr lang="en-US" sz="1050" b="1" dirty="0">
              <a:latin typeface="Montserrat" panose="00000500000000000000" pitchFamily="2" charset="0"/>
            </a:endParaRPr>
          </a:p>
        </p:txBody>
      </p:sp>
    </p:spTree>
    <p:extLst>
      <p:ext uri="{BB962C8B-B14F-4D97-AF65-F5344CB8AC3E}">
        <p14:creationId xmlns:p14="http://schemas.microsoft.com/office/powerpoint/2010/main" val="1665571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37FD548-5F92-4DD6-B537-8A405C63821B}"/>
            </a:ext>
          </a:extLst>
        </p:cNvPr>
        <p:cNvGrpSpPr/>
        <p:nvPr/>
      </p:nvGrpSpPr>
      <p:grpSpPr>
        <a:xfrm>
          <a:off x="0" y="0"/>
          <a:ext cx="0" cy="0"/>
          <a:chOff x="0" y="0"/>
          <a:chExt cx="0" cy="0"/>
        </a:xfrm>
      </p:grpSpPr>
      <p:sp>
        <p:nvSpPr>
          <p:cNvPr id="194" name="Google Shape;194;p38">
            <a:extLst>
              <a:ext uri="{FF2B5EF4-FFF2-40B4-BE49-F238E27FC236}">
                <a16:creationId xmlns:a16="http://schemas.microsoft.com/office/drawing/2014/main" id="{A4DAD535-C37F-1AB8-7C36-A602C20AE6A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Executive Summary</a:t>
            </a:r>
            <a:r>
              <a:rPr lang="en" sz="2000" dirty="0">
                <a:solidFill>
                  <a:srgbClr val="0E39A9"/>
                </a:solidFill>
              </a:rPr>
              <a:t>: </a:t>
            </a:r>
            <a:r>
              <a:rPr lang="en-US" sz="2000" u="sng" dirty="0" err="1">
                <a:solidFill>
                  <a:srgbClr val="0E39A9"/>
                </a:solidFill>
              </a:rPr>
              <a:t>HelmNet</a:t>
            </a:r>
            <a:r>
              <a:rPr lang="en-US" sz="2000" u="sng" dirty="0">
                <a:solidFill>
                  <a:srgbClr val="0E39A9"/>
                </a:solidFill>
              </a:rPr>
              <a:t> Safety Compliance System</a:t>
            </a:r>
            <a:endParaRPr sz="2400" u="sng" dirty="0">
              <a:solidFill>
                <a:srgbClr val="0E39A9"/>
              </a:solidFill>
            </a:endParaRPr>
          </a:p>
        </p:txBody>
      </p:sp>
      <p:sp>
        <p:nvSpPr>
          <p:cNvPr id="2" name="TextBox 1">
            <a:extLst>
              <a:ext uri="{FF2B5EF4-FFF2-40B4-BE49-F238E27FC236}">
                <a16:creationId xmlns:a16="http://schemas.microsoft.com/office/drawing/2014/main" id="{77E273C1-E856-489B-987F-6E824D9712E8}"/>
              </a:ext>
            </a:extLst>
          </p:cNvPr>
          <p:cNvSpPr txBox="1"/>
          <p:nvPr/>
        </p:nvSpPr>
        <p:spPr>
          <a:xfrm>
            <a:off x="361950" y="1028700"/>
            <a:ext cx="8124825" cy="3054682"/>
          </a:xfrm>
          <a:prstGeom prst="rect">
            <a:avLst/>
          </a:prstGeom>
          <a:noFill/>
        </p:spPr>
        <p:txBody>
          <a:bodyPr wrap="square" rtlCol="0">
            <a:spAutoFit/>
          </a:bodyPr>
          <a:lstStyle/>
          <a:p>
            <a:r>
              <a:rPr lang="en-US" b="1" dirty="0">
                <a:latin typeface="Montserrat" panose="00000500000000000000" pitchFamily="2" charset="0"/>
              </a:rPr>
              <a:t>6. Actionable Insights &amp; Recommendations</a:t>
            </a:r>
          </a:p>
          <a:p>
            <a:endParaRPr lang="en-US" sz="1050" dirty="0">
              <a:latin typeface="Montserrat" panose="00000500000000000000" pitchFamily="2" charset="0"/>
            </a:endParaRPr>
          </a:p>
          <a:p>
            <a:endParaRPr lang="en-US" sz="1050" dirty="0">
              <a:latin typeface="Montserrat" panose="00000500000000000000" pitchFamily="2" charset="0"/>
            </a:endParaRPr>
          </a:p>
          <a:p>
            <a:pPr marL="171450" indent="-171450">
              <a:buFont typeface="Wingdings" panose="05000000000000000000" pitchFamily="2" charset="2"/>
              <a:buChar char="ü"/>
            </a:pPr>
            <a:r>
              <a:rPr lang="en-US" sz="1050" b="1" dirty="0">
                <a:latin typeface="Montserrat" panose="00000500000000000000" pitchFamily="2" charset="0"/>
              </a:rPr>
              <a:t>Deploy VGG-16 + FFNN:</a:t>
            </a:r>
            <a:r>
              <a:rPr lang="en-US" sz="1050" dirty="0">
                <a:latin typeface="Montserrat" panose="00000500000000000000" pitchFamily="2" charset="0"/>
              </a:rPr>
              <a:t> The model is ready for integration into </a:t>
            </a:r>
            <a:r>
              <a:rPr lang="en-US" sz="1050" b="1" dirty="0" err="1">
                <a:latin typeface="Montserrat" panose="00000500000000000000" pitchFamily="2" charset="0"/>
              </a:rPr>
              <a:t>SafeGuard</a:t>
            </a:r>
            <a:r>
              <a:rPr lang="en-US" sz="1050" dirty="0">
                <a:latin typeface="Montserrat" panose="00000500000000000000" pitchFamily="2" charset="0"/>
              </a:rPr>
              <a:t> Corp’s monitoring infrastructure due to its perfect generalization and </a:t>
            </a:r>
            <a:r>
              <a:rPr lang="en-US" sz="1050" b="1" dirty="0">
                <a:latin typeface="Montserrat" panose="00000500000000000000" pitchFamily="2" charset="0"/>
              </a:rPr>
              <a:t>zero "False Negative" rate during testing.</a:t>
            </a:r>
          </a:p>
          <a:p>
            <a:endParaRPr lang="en-US" sz="1050" dirty="0">
              <a:latin typeface="Montserrat" panose="00000500000000000000" pitchFamily="2" charset="0"/>
            </a:endParaRPr>
          </a:p>
          <a:p>
            <a:pPr marL="171450" indent="-171450">
              <a:buFont typeface="Wingdings" panose="05000000000000000000" pitchFamily="2" charset="2"/>
              <a:buChar char="ü"/>
            </a:pPr>
            <a:r>
              <a:rPr lang="en-US" sz="1050" b="1" dirty="0">
                <a:latin typeface="Montserrat" panose="00000500000000000000" pitchFamily="2" charset="0"/>
              </a:rPr>
              <a:t>Prioritize Recall for Compliance:</a:t>
            </a:r>
            <a:r>
              <a:rPr lang="en-US" sz="1050" dirty="0">
                <a:latin typeface="Montserrat" panose="00000500000000000000" pitchFamily="2" charset="0"/>
              </a:rPr>
              <a:t> In future iterations, continue to weight </a:t>
            </a:r>
            <a:r>
              <a:rPr lang="en-US" sz="1050" b="1" dirty="0">
                <a:latin typeface="Montserrat" panose="00000500000000000000" pitchFamily="2" charset="0"/>
              </a:rPr>
              <a:t>Recall</a:t>
            </a:r>
            <a:r>
              <a:rPr lang="en-US" sz="1050" dirty="0">
                <a:latin typeface="Montserrat" panose="00000500000000000000" pitchFamily="2" charset="0"/>
              </a:rPr>
              <a:t> as the primary safety metric to ensure no un-helmeted worker goes undetected.</a:t>
            </a:r>
          </a:p>
          <a:p>
            <a:pPr marL="171450" indent="-171450">
              <a:buFont typeface="Wingdings" panose="05000000000000000000" pitchFamily="2" charset="2"/>
              <a:buChar char="ü"/>
            </a:pPr>
            <a:endParaRPr lang="en-US" sz="1050" dirty="0">
              <a:latin typeface="Montserrat" panose="00000500000000000000" pitchFamily="2" charset="0"/>
            </a:endParaRPr>
          </a:p>
          <a:p>
            <a:pPr marL="171450" indent="-171450">
              <a:buFont typeface="Wingdings" panose="05000000000000000000" pitchFamily="2" charset="2"/>
              <a:buChar char="ü"/>
            </a:pPr>
            <a:r>
              <a:rPr lang="en-US" sz="1050" b="1" dirty="0">
                <a:latin typeface="Montserrat" panose="00000500000000000000" pitchFamily="2" charset="0"/>
              </a:rPr>
              <a:t>Scalability:</a:t>
            </a:r>
            <a:r>
              <a:rPr lang="en-US" sz="1050" dirty="0">
                <a:latin typeface="Montserrat" panose="00000500000000000000" pitchFamily="2" charset="0"/>
              </a:rPr>
              <a:t> The model’s </a:t>
            </a:r>
            <a:r>
              <a:rPr lang="en-US" sz="1050" b="1" dirty="0">
                <a:latin typeface="Montserrat" panose="00000500000000000000" pitchFamily="2" charset="0"/>
              </a:rPr>
              <a:t>success with "action-oriented" </a:t>
            </a:r>
            <a:r>
              <a:rPr lang="en-US" sz="1050" dirty="0">
                <a:latin typeface="Montserrat" panose="00000500000000000000" pitchFamily="2" charset="0"/>
              </a:rPr>
              <a:t>images confirms it can be scaled to monitor workers in motion, not just in static poses.</a:t>
            </a:r>
          </a:p>
          <a:p>
            <a:endParaRPr lang="en-US" sz="1050" dirty="0">
              <a:latin typeface="Montserrat" panose="00000500000000000000" pitchFamily="2" charset="0"/>
            </a:endParaRPr>
          </a:p>
          <a:p>
            <a:pPr marL="171450" indent="-171450">
              <a:buFont typeface="Wingdings" panose="05000000000000000000" pitchFamily="2" charset="2"/>
              <a:buChar char="ü"/>
            </a:pPr>
            <a:r>
              <a:rPr lang="en-US" sz="1050" b="1" dirty="0">
                <a:latin typeface="Montserrat" panose="00000500000000000000" pitchFamily="2" charset="0"/>
              </a:rPr>
              <a:t>Continuous Improvement:</a:t>
            </a:r>
            <a:r>
              <a:rPr lang="en-US" sz="1050" dirty="0">
                <a:latin typeface="Montserrat" panose="00000500000000000000" pitchFamily="2" charset="0"/>
              </a:rPr>
              <a:t> While the current model is perfect for this dataset, we recommend ongoing data collection of edge cases (e.g., extremely low light or obscured views) to maintain this high performance in evolving site conditions.</a:t>
            </a:r>
          </a:p>
          <a:p>
            <a:endParaRPr lang="en-US" sz="1050" dirty="0">
              <a:latin typeface="Montserrat" panose="00000500000000000000" pitchFamily="2" charset="0"/>
            </a:endParaRPr>
          </a:p>
          <a:p>
            <a:pPr marL="228600" indent="-228600">
              <a:buFont typeface="+mj-lt"/>
              <a:buAutoNum type="arabicPeriod"/>
            </a:pPr>
            <a:endParaRPr lang="en-US" sz="1050" b="1" dirty="0">
              <a:latin typeface="Montserrat" panose="00000500000000000000" pitchFamily="2" charset="0"/>
            </a:endParaRPr>
          </a:p>
          <a:p>
            <a:endParaRPr lang="en-US" sz="1050" b="1" dirty="0">
              <a:latin typeface="Montserrat" panose="00000500000000000000" pitchFamily="2" charset="0"/>
            </a:endParaRPr>
          </a:p>
        </p:txBody>
      </p:sp>
    </p:spTree>
    <p:extLst>
      <p:ext uri="{BB962C8B-B14F-4D97-AF65-F5344CB8AC3E}">
        <p14:creationId xmlns:p14="http://schemas.microsoft.com/office/powerpoint/2010/main" val="3239699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Business Problem - HelmNet</a:t>
            </a:r>
            <a:endParaRPr sz="2400" dirty="0">
              <a:solidFill>
                <a:srgbClr val="0E39A9"/>
              </a:solidFill>
            </a:endParaRPr>
          </a:p>
        </p:txBody>
      </p:sp>
      <p:sp>
        <p:nvSpPr>
          <p:cNvPr id="2" name="TextBox 1">
            <a:extLst>
              <a:ext uri="{FF2B5EF4-FFF2-40B4-BE49-F238E27FC236}">
                <a16:creationId xmlns:a16="http://schemas.microsoft.com/office/drawing/2014/main" id="{F0C46E8E-AA61-BD69-053B-2ED835676DC9}"/>
              </a:ext>
            </a:extLst>
          </p:cNvPr>
          <p:cNvSpPr txBox="1"/>
          <p:nvPr/>
        </p:nvSpPr>
        <p:spPr>
          <a:xfrm>
            <a:off x="202550" y="757204"/>
            <a:ext cx="8520600" cy="1323439"/>
          </a:xfrm>
          <a:prstGeom prst="rect">
            <a:avLst/>
          </a:prstGeom>
          <a:noFill/>
        </p:spPr>
        <p:txBody>
          <a:bodyPr wrap="square" rtlCol="0">
            <a:spAutoFit/>
          </a:bodyPr>
          <a:lstStyle/>
          <a:p>
            <a:r>
              <a:rPr lang="en-US" sz="1800" b="1" dirty="0">
                <a:solidFill>
                  <a:srgbClr val="0E39A9"/>
                </a:solidFill>
                <a:latin typeface="Nunito"/>
                <a:sym typeface="Nunito"/>
              </a:rPr>
              <a:t>Business Context : </a:t>
            </a:r>
          </a:p>
          <a:p>
            <a:r>
              <a:rPr lang="en-US" sz="1200" dirty="0">
                <a:latin typeface="Montserrat" panose="00000500000000000000" pitchFamily="2" charset="0"/>
              </a:rPr>
              <a:t>Workplace safety in hazardous environments like construction sites and industrial plants is crucial to prevent accidents and injuries. One of the most important safety measures is ensuring workers wear safety helmets, which protect against head injuries from falling objects and machinery. Non-compliance with helmet regulations increases the risk of serious injuries or fatalities, making effective monitoring essential, especially in large-scale operations where manual oversight is prone to errors and inefficiency</a:t>
            </a:r>
            <a:r>
              <a:rPr lang="en-US" dirty="0">
                <a:latin typeface="Montserrat" panose="00000500000000000000" pitchFamily="2" charset="0"/>
              </a:rPr>
              <a:t>.</a:t>
            </a:r>
          </a:p>
        </p:txBody>
      </p:sp>
      <p:sp>
        <p:nvSpPr>
          <p:cNvPr id="3" name="TextBox 2">
            <a:extLst>
              <a:ext uri="{FF2B5EF4-FFF2-40B4-BE49-F238E27FC236}">
                <a16:creationId xmlns:a16="http://schemas.microsoft.com/office/drawing/2014/main" id="{F59B0B26-9166-3976-1501-F2641D5B2F3E}"/>
              </a:ext>
            </a:extLst>
          </p:cNvPr>
          <p:cNvSpPr txBox="1"/>
          <p:nvPr/>
        </p:nvSpPr>
        <p:spPr>
          <a:xfrm>
            <a:off x="202550" y="2157379"/>
            <a:ext cx="8520600" cy="2769989"/>
          </a:xfrm>
          <a:prstGeom prst="rect">
            <a:avLst/>
          </a:prstGeom>
          <a:noFill/>
        </p:spPr>
        <p:txBody>
          <a:bodyPr wrap="square" rtlCol="0">
            <a:spAutoFit/>
          </a:bodyPr>
          <a:lstStyle/>
          <a:p>
            <a:r>
              <a:rPr lang="en-US" sz="1800" b="1" dirty="0">
                <a:solidFill>
                  <a:srgbClr val="0E39A9"/>
                </a:solidFill>
                <a:latin typeface="Nunito"/>
                <a:sym typeface="Nunito"/>
              </a:rPr>
              <a:t>Problem Statement : </a:t>
            </a:r>
          </a:p>
          <a:p>
            <a:endParaRPr lang="en-US" sz="1800" b="1" dirty="0">
              <a:solidFill>
                <a:srgbClr val="0E39A9"/>
              </a:solidFill>
              <a:latin typeface="Nunito"/>
              <a:sym typeface="Nunito"/>
            </a:endParaRPr>
          </a:p>
          <a:p>
            <a:r>
              <a:rPr lang="en-US" sz="1200" b="1" dirty="0">
                <a:latin typeface="Montserrat" panose="00000500000000000000" pitchFamily="2" charset="0"/>
              </a:rPr>
              <a:t>The challenge of scalable safety compliance </a:t>
            </a:r>
          </a:p>
          <a:p>
            <a:r>
              <a:rPr lang="en-US" sz="1100" dirty="0">
                <a:latin typeface="Montserrat" panose="00000500000000000000" pitchFamily="2" charset="0"/>
              </a:rPr>
              <a:t>In high-risk industrial and construction environments, head injuries remain a leading cause of workplace fatalities and long-term disability. While safety helmets are a mandatory defense, </a:t>
            </a:r>
            <a:r>
              <a:rPr lang="en-US" sz="1100" b="1" dirty="0">
                <a:latin typeface="Montserrat" panose="00000500000000000000" pitchFamily="2" charset="0"/>
              </a:rPr>
              <a:t>manual monitoring of compliance </a:t>
            </a:r>
            <a:r>
              <a:rPr lang="en-US" sz="1100" dirty="0">
                <a:latin typeface="Montserrat" panose="00000500000000000000" pitchFamily="2" charset="0"/>
              </a:rPr>
              <a:t>in large-scale operations is fundamentally flawed due to:</a:t>
            </a:r>
          </a:p>
          <a:p>
            <a:pPr marL="171450" indent="-171450">
              <a:buFont typeface="Wingdings" panose="05000000000000000000" pitchFamily="2" charset="2"/>
              <a:buChar char="§"/>
            </a:pPr>
            <a:r>
              <a:rPr lang="en-US" sz="1100" b="1" dirty="0">
                <a:latin typeface="Montserrat" panose="00000500000000000000" pitchFamily="2" charset="0"/>
              </a:rPr>
              <a:t>Human Oversight Limitations:</a:t>
            </a:r>
            <a:r>
              <a:rPr lang="en-US" sz="1100" dirty="0">
                <a:latin typeface="Montserrat" panose="00000500000000000000" pitchFamily="2" charset="0"/>
              </a:rPr>
              <a:t> Safety officers cannot monitor every zone simultaneously, leading to "blind spots" in enforcement.</a:t>
            </a:r>
          </a:p>
          <a:p>
            <a:pPr marL="171450" indent="-171450">
              <a:buFont typeface="Wingdings" panose="05000000000000000000" pitchFamily="2" charset="2"/>
              <a:buChar char="§"/>
            </a:pPr>
            <a:r>
              <a:rPr lang="en-US" sz="1100" b="1" dirty="0">
                <a:latin typeface="Montserrat" panose="00000500000000000000" pitchFamily="2" charset="0"/>
              </a:rPr>
              <a:t>Operational Inefficiency</a:t>
            </a:r>
            <a:r>
              <a:rPr lang="en-US" sz="1100" dirty="0">
                <a:latin typeface="Montserrat" panose="00000500000000000000" pitchFamily="2" charset="0"/>
              </a:rPr>
              <a:t>: Manual checks are labor-intensive and prone to fatigue-driven errors.</a:t>
            </a:r>
          </a:p>
          <a:p>
            <a:pPr marL="171450" indent="-171450">
              <a:buFont typeface="Wingdings" panose="05000000000000000000" pitchFamily="2" charset="2"/>
              <a:buChar char="§"/>
            </a:pPr>
            <a:r>
              <a:rPr lang="en-US" sz="1100" b="1" dirty="0">
                <a:latin typeface="Montserrat" panose="00000500000000000000" pitchFamily="2" charset="0"/>
              </a:rPr>
              <a:t>Delayed Response</a:t>
            </a:r>
            <a:r>
              <a:rPr lang="en-US" sz="1100" dirty="0">
                <a:latin typeface="Montserrat" panose="00000500000000000000" pitchFamily="2" charset="0"/>
              </a:rPr>
              <a:t>: Non-compliance is often identified only after an incident occurs, rather than through proactive prevention.</a:t>
            </a:r>
          </a:p>
          <a:p>
            <a:pPr marL="285750" indent="-285750">
              <a:buFont typeface="Wingdings" panose="05000000000000000000" pitchFamily="2" charset="2"/>
              <a:buChar char="§"/>
            </a:pPr>
            <a:endParaRPr lang="en-US" dirty="0">
              <a:latin typeface="Montserrat" panose="00000500000000000000" pitchFamily="2" charset="0"/>
            </a:endParaRPr>
          </a:p>
          <a:p>
            <a:r>
              <a:rPr lang="en-US" sz="1200" dirty="0">
                <a:latin typeface="Montserrat" panose="00000500000000000000" pitchFamily="2" charset="0"/>
              </a:rPr>
              <a:t>There is a critical need for </a:t>
            </a:r>
            <a:r>
              <a:rPr lang="en-US" sz="1200" b="1" dirty="0">
                <a:latin typeface="Montserrat" panose="00000500000000000000" pitchFamily="2" charset="0"/>
              </a:rPr>
              <a:t>an automated, computer-vision-based auditing solution</a:t>
            </a:r>
            <a:r>
              <a:rPr lang="en-US" sz="1200" dirty="0">
                <a:latin typeface="Montserrat" panose="00000500000000000000" pitchFamily="2" charset="0"/>
              </a:rPr>
              <a:t> that provides consistent, real-time oversight to mitigate these risks and ensure a zero-harm work culture.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32B6B105-5983-80B1-03FE-47E8C430E892}"/>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2F7E49CF-F7D4-D6EC-DBFE-8E0FE25DEDCD}"/>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Business Problem - HelmNet</a:t>
            </a:r>
            <a:endParaRPr sz="2400" dirty="0">
              <a:solidFill>
                <a:srgbClr val="0E39A9"/>
              </a:solidFill>
            </a:endParaRPr>
          </a:p>
        </p:txBody>
      </p:sp>
      <p:sp>
        <p:nvSpPr>
          <p:cNvPr id="3" name="TextBox 2">
            <a:extLst>
              <a:ext uri="{FF2B5EF4-FFF2-40B4-BE49-F238E27FC236}">
                <a16:creationId xmlns:a16="http://schemas.microsoft.com/office/drawing/2014/main" id="{9114D62B-E232-CCFD-1278-F60ECA972469}"/>
              </a:ext>
            </a:extLst>
          </p:cNvPr>
          <p:cNvSpPr txBox="1"/>
          <p:nvPr/>
        </p:nvSpPr>
        <p:spPr>
          <a:xfrm>
            <a:off x="202550" y="776254"/>
            <a:ext cx="8520600" cy="3077766"/>
          </a:xfrm>
          <a:prstGeom prst="rect">
            <a:avLst/>
          </a:prstGeom>
          <a:noFill/>
        </p:spPr>
        <p:txBody>
          <a:bodyPr wrap="square" rtlCol="0">
            <a:spAutoFit/>
          </a:bodyPr>
          <a:lstStyle/>
          <a:p>
            <a:r>
              <a:rPr lang="en-US" sz="1800" b="1" dirty="0">
                <a:solidFill>
                  <a:srgbClr val="0E39A9"/>
                </a:solidFill>
                <a:latin typeface="Nunito"/>
                <a:sym typeface="Nunito"/>
              </a:rPr>
              <a:t>Project Objective : </a:t>
            </a:r>
          </a:p>
          <a:p>
            <a:r>
              <a:rPr lang="en-US" sz="1200" b="1" dirty="0">
                <a:latin typeface="Montserrat" panose="00000500000000000000" pitchFamily="2" charset="0"/>
              </a:rPr>
              <a:t>Development of an Automated Vision System for Safety Enforcement</a:t>
            </a:r>
          </a:p>
          <a:p>
            <a:endParaRPr lang="en-US" sz="1200" b="1" dirty="0">
              <a:latin typeface="Montserrat" panose="00000500000000000000" pitchFamily="2" charset="0"/>
            </a:endParaRPr>
          </a:p>
          <a:p>
            <a:r>
              <a:rPr lang="en-US" sz="1100" dirty="0">
                <a:latin typeface="Montserrat" panose="00000500000000000000" pitchFamily="2" charset="0"/>
              </a:rPr>
              <a:t>The primary goal of this project is to architect and train a high-precision </a:t>
            </a:r>
            <a:r>
              <a:rPr lang="en-US" sz="1100" b="1" dirty="0">
                <a:latin typeface="Montserrat" panose="00000500000000000000" pitchFamily="2" charset="0"/>
              </a:rPr>
              <a:t>Deep Learning Image classification model </a:t>
            </a:r>
            <a:r>
              <a:rPr lang="en-US" sz="1100" dirty="0">
                <a:latin typeface="Montserrat" panose="00000500000000000000" pitchFamily="2" charset="0"/>
              </a:rPr>
              <a:t>capable of distinguishing between </a:t>
            </a:r>
            <a:r>
              <a:rPr lang="en-US" sz="1100" b="1" dirty="0">
                <a:latin typeface="Montserrat" panose="00000500000000000000" pitchFamily="2" charset="0"/>
              </a:rPr>
              <a:t>compliant and non-compliant safety practices through image analysis.</a:t>
            </a:r>
          </a:p>
          <a:p>
            <a:endParaRPr lang="en-US" sz="1100" b="1" dirty="0">
              <a:latin typeface="Montserrat" panose="00000500000000000000" pitchFamily="2" charset="0"/>
            </a:endParaRPr>
          </a:p>
          <a:p>
            <a:endParaRPr lang="en-US" sz="1200" b="1" dirty="0">
              <a:latin typeface="Montserrat" panose="00000500000000000000" pitchFamily="2" charset="0"/>
            </a:endParaRPr>
          </a:p>
          <a:p>
            <a:r>
              <a:rPr lang="en-US" sz="1200" b="1" dirty="0">
                <a:latin typeface="Montserrat" panose="00000500000000000000" pitchFamily="2" charset="0"/>
              </a:rPr>
              <a:t>Key Technical Milestones : </a:t>
            </a:r>
          </a:p>
          <a:p>
            <a:endParaRPr lang="en-US" sz="1100" b="1" dirty="0">
              <a:latin typeface="Montserrat" panose="00000500000000000000" pitchFamily="2" charset="0"/>
            </a:endParaRPr>
          </a:p>
          <a:p>
            <a:pPr marL="171450" indent="-171450">
              <a:buFont typeface="Wingdings" panose="05000000000000000000" pitchFamily="2" charset="2"/>
              <a:buChar char="ü"/>
            </a:pPr>
            <a:r>
              <a:rPr lang="en-US" sz="1200" b="1" dirty="0">
                <a:latin typeface="Montserrat" panose="00000500000000000000" pitchFamily="2" charset="0"/>
              </a:rPr>
              <a:t>Robust Classification:</a:t>
            </a:r>
            <a:r>
              <a:rPr lang="en-US" sz="1200" dirty="0">
                <a:latin typeface="Montserrat" panose="00000500000000000000" pitchFamily="2" charset="0"/>
              </a:rPr>
              <a:t> Develop a Binary Classifier to accurately categorize images into With Helmet and Without Helmet across diverse environmental conditions (varying lighting, angles, and distances).</a:t>
            </a:r>
          </a:p>
          <a:p>
            <a:pPr marL="171450" indent="-171450">
              <a:buFont typeface="Wingdings" panose="05000000000000000000" pitchFamily="2" charset="2"/>
              <a:buChar char="ü"/>
            </a:pPr>
            <a:endParaRPr lang="en-US" sz="1200" b="1" dirty="0">
              <a:latin typeface="Montserrat" panose="00000500000000000000" pitchFamily="2" charset="0"/>
            </a:endParaRPr>
          </a:p>
          <a:p>
            <a:pPr marL="171450" indent="-171450">
              <a:buFont typeface="Wingdings" panose="05000000000000000000" pitchFamily="2" charset="2"/>
              <a:buChar char="ü"/>
            </a:pPr>
            <a:r>
              <a:rPr lang="en-US" sz="1200" b="1" dirty="0">
                <a:latin typeface="Montserrat" panose="00000500000000000000" pitchFamily="2" charset="0"/>
              </a:rPr>
              <a:t>Evaluation Excellence:</a:t>
            </a:r>
            <a:r>
              <a:rPr lang="en-US" sz="1200" dirty="0">
                <a:latin typeface="Montserrat" panose="00000500000000000000" pitchFamily="2" charset="0"/>
              </a:rPr>
              <a:t> Achieve high </a:t>
            </a:r>
            <a:r>
              <a:rPr lang="en-US" sz="1200" b="1" dirty="0">
                <a:latin typeface="Montserrat" panose="00000500000000000000" pitchFamily="2" charset="0"/>
              </a:rPr>
              <a:t>Recall</a:t>
            </a:r>
            <a:r>
              <a:rPr lang="en-US" sz="1200" dirty="0">
                <a:latin typeface="Montserrat" panose="00000500000000000000" pitchFamily="2" charset="0"/>
              </a:rPr>
              <a:t> scores to minimize "False Negatives" (failing to detect a worker without a helmet), as these represent the highest risk to the organization supported by the </a:t>
            </a:r>
            <a:r>
              <a:rPr lang="en-US" sz="1200" b="1" dirty="0">
                <a:latin typeface="Montserrat" panose="00000500000000000000" pitchFamily="2" charset="0"/>
              </a:rPr>
              <a:t>F1 Score</a:t>
            </a:r>
          </a:p>
          <a:p>
            <a:endParaRPr lang="en-US" sz="1200" b="1" dirty="0">
              <a:latin typeface="Montserrat" panose="00000500000000000000" pitchFamily="2" charset="0"/>
            </a:endParaRPr>
          </a:p>
        </p:txBody>
      </p:sp>
    </p:spTree>
    <p:extLst>
      <p:ext uri="{BB962C8B-B14F-4D97-AF65-F5344CB8AC3E}">
        <p14:creationId xmlns:p14="http://schemas.microsoft.com/office/powerpoint/2010/main" val="2099967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F03A43B3-9624-A9CE-7685-97D2CF0412A8}"/>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779DD120-C1E1-0BE0-5D4B-937419B18AEF}"/>
              </a:ext>
            </a:extLst>
          </p:cNvPr>
          <p:cNvSpPr txBox="1">
            <a:spLocks noGrp="1"/>
          </p:cNvSpPr>
          <p:nvPr>
            <p:ph type="title"/>
          </p:nvPr>
        </p:nvSpPr>
        <p:spPr>
          <a:xfrm>
            <a:off x="202550" y="289279"/>
            <a:ext cx="395987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Solution Approach</a:t>
            </a:r>
            <a:endParaRPr sz="2400" dirty="0">
              <a:solidFill>
                <a:srgbClr val="0E39A9"/>
              </a:solidFill>
            </a:endParaRPr>
          </a:p>
        </p:txBody>
      </p:sp>
      <p:sp>
        <p:nvSpPr>
          <p:cNvPr id="2" name="TextBox 1">
            <a:extLst>
              <a:ext uri="{FF2B5EF4-FFF2-40B4-BE49-F238E27FC236}">
                <a16:creationId xmlns:a16="http://schemas.microsoft.com/office/drawing/2014/main" id="{1A6BADEB-CC5B-0A8D-4B01-0AB0440C451F}"/>
              </a:ext>
            </a:extLst>
          </p:cNvPr>
          <p:cNvSpPr txBox="1"/>
          <p:nvPr/>
        </p:nvSpPr>
        <p:spPr>
          <a:xfrm>
            <a:off x="295275" y="738237"/>
            <a:ext cx="8646175" cy="4785926"/>
          </a:xfrm>
          <a:prstGeom prst="rect">
            <a:avLst/>
          </a:prstGeom>
          <a:noFill/>
        </p:spPr>
        <p:txBody>
          <a:bodyPr wrap="square" rtlCol="0">
            <a:spAutoFit/>
          </a:bodyPr>
          <a:lstStyle/>
          <a:p>
            <a:pPr marL="228600" indent="-228600">
              <a:buAutoNum type="arabicPeriod"/>
            </a:pPr>
            <a:endParaRPr lang="en-US" sz="1200" b="1" dirty="0">
              <a:latin typeface="Montserrat" panose="00000500000000000000" pitchFamily="2" charset="0"/>
            </a:endParaRPr>
          </a:p>
          <a:p>
            <a:pPr marL="228600" indent="-228600">
              <a:buAutoNum type="arabicPeriod"/>
            </a:pPr>
            <a:r>
              <a:rPr lang="en-US" sz="1200" b="1" dirty="0">
                <a:latin typeface="Montserrat" panose="00000500000000000000" pitchFamily="2" charset="0"/>
              </a:rPr>
              <a:t>Data Strategy &amp; Exploratory Analysis (EDA) : </a:t>
            </a:r>
            <a:r>
              <a:rPr lang="en-US" sz="1000" b="1" i="1" dirty="0">
                <a:latin typeface="Montserrat" panose="00000500000000000000" pitchFamily="2" charset="0"/>
              </a:rPr>
              <a:t>Building a Foundation of Data Integrity.</a:t>
            </a:r>
          </a:p>
          <a:p>
            <a:endParaRPr lang="en-US" sz="1000" b="1" i="1" dirty="0">
              <a:latin typeface="Montserrat" panose="00000500000000000000" pitchFamily="2" charset="0"/>
            </a:endParaRPr>
          </a:p>
          <a:p>
            <a:pPr marL="171450" lvl="3" indent="-171450">
              <a:buFont typeface="Wingdings" panose="05000000000000000000" pitchFamily="2" charset="2"/>
              <a:buChar char="§"/>
            </a:pPr>
            <a:r>
              <a:rPr lang="en-US" sz="1050" b="1" dirty="0">
                <a:latin typeface="Montserrat" panose="00000500000000000000" pitchFamily="2" charset="0"/>
              </a:rPr>
              <a:t>Quality Audit:</a:t>
            </a:r>
            <a:r>
              <a:rPr lang="en-US" sz="1050" dirty="0">
                <a:latin typeface="Montserrat" panose="00000500000000000000" pitchFamily="2" charset="0"/>
              </a:rPr>
              <a:t> </a:t>
            </a:r>
            <a:r>
              <a:rPr lang="en-US" sz="1000" dirty="0">
                <a:latin typeface="Montserrat" panose="00000500000000000000" pitchFamily="2" charset="0"/>
              </a:rPr>
              <a:t>Analyzing dataset uniqueness to prevent data leakage and checking for class imbalance</a:t>
            </a:r>
          </a:p>
          <a:p>
            <a:pPr lvl="3"/>
            <a:endParaRPr lang="en-US" sz="1000" dirty="0">
              <a:latin typeface="Montserrat" panose="00000500000000000000" pitchFamily="2" charset="0"/>
            </a:endParaRPr>
          </a:p>
          <a:p>
            <a:r>
              <a:rPr lang="en-US" sz="1200" b="1" dirty="0">
                <a:latin typeface="Montserrat" panose="00000500000000000000" pitchFamily="2" charset="0"/>
              </a:rPr>
              <a:t>2. Data Preprocessing :</a:t>
            </a:r>
          </a:p>
          <a:p>
            <a:endParaRPr lang="en-US" sz="1200" b="1" dirty="0">
              <a:latin typeface="Montserrat" panose="00000500000000000000" pitchFamily="2" charset="0"/>
            </a:endParaRPr>
          </a:p>
          <a:p>
            <a:pPr marL="171450" indent="-171450">
              <a:buFont typeface="Wingdings" panose="05000000000000000000" pitchFamily="2" charset="2"/>
              <a:buChar char="§"/>
            </a:pPr>
            <a:r>
              <a:rPr lang="en-US" sz="1050" b="1" dirty="0">
                <a:latin typeface="Montserrat" panose="00000500000000000000" pitchFamily="2" charset="0"/>
              </a:rPr>
              <a:t>Normalization:</a:t>
            </a:r>
            <a:r>
              <a:rPr lang="en-US" sz="1050" dirty="0">
                <a:latin typeface="Montserrat" panose="00000500000000000000" pitchFamily="2" charset="0"/>
              </a:rPr>
              <a:t> </a:t>
            </a:r>
            <a:r>
              <a:rPr lang="en-US" sz="1000" dirty="0">
                <a:latin typeface="Montserrat" panose="00000500000000000000" pitchFamily="2" charset="0"/>
              </a:rPr>
              <a:t>Scaling pixel values to 0, 1 for faster gradient convergence.</a:t>
            </a:r>
            <a:endParaRPr lang="en-US" dirty="0">
              <a:latin typeface="Montserrat" panose="00000500000000000000" pitchFamily="2" charset="0"/>
            </a:endParaRPr>
          </a:p>
          <a:p>
            <a:pPr marL="171450" indent="-171450">
              <a:buFont typeface="Wingdings" panose="05000000000000000000" pitchFamily="2" charset="2"/>
              <a:buChar char="§"/>
            </a:pPr>
            <a:r>
              <a:rPr lang="en-US" sz="1050" b="1" dirty="0">
                <a:latin typeface="Montserrat" panose="00000500000000000000" pitchFamily="2" charset="0"/>
              </a:rPr>
              <a:t>Dimensionality:</a:t>
            </a:r>
            <a:r>
              <a:rPr lang="en-US" sz="1050" dirty="0">
                <a:latin typeface="Montserrat" panose="00000500000000000000" pitchFamily="2" charset="0"/>
              </a:rPr>
              <a:t> </a:t>
            </a:r>
            <a:r>
              <a:rPr lang="en-US" sz="1000" dirty="0">
                <a:latin typeface="Montserrat" panose="00000500000000000000" pitchFamily="2" charset="0"/>
              </a:rPr>
              <a:t>Standardizing image resolution for model input.</a:t>
            </a:r>
          </a:p>
          <a:p>
            <a:pPr marL="171450" indent="-171450">
              <a:buFont typeface="Wingdings" panose="05000000000000000000" pitchFamily="2" charset="2"/>
              <a:buChar char="§"/>
            </a:pPr>
            <a:r>
              <a:rPr lang="en-US" sz="1050" b="1" dirty="0">
                <a:latin typeface="Montserrat" panose="00000500000000000000" pitchFamily="2" charset="0"/>
              </a:rPr>
              <a:t>Gray Scaling Analysis</a:t>
            </a:r>
            <a:r>
              <a:rPr lang="en-US" b="1" dirty="0">
                <a:latin typeface="Montserrat" panose="00000500000000000000" pitchFamily="2" charset="0"/>
              </a:rPr>
              <a:t>:</a:t>
            </a:r>
            <a:r>
              <a:rPr lang="en-US" dirty="0">
                <a:latin typeface="Montserrat" panose="00000500000000000000" pitchFamily="2" charset="0"/>
              </a:rPr>
              <a:t> </a:t>
            </a:r>
            <a:r>
              <a:rPr lang="en-US" sz="1000" dirty="0">
                <a:latin typeface="Montserrat" panose="00000500000000000000" pitchFamily="2" charset="0"/>
              </a:rPr>
              <a:t>Evaluating if color is a critical feature (e.g., high-visibility yellow/orange) or if geometric features (the shape of the helmet) are sufficient</a:t>
            </a:r>
            <a:r>
              <a:rPr lang="en-US" dirty="0">
                <a:latin typeface="Montserrat" panose="00000500000000000000" pitchFamily="2" charset="0"/>
              </a:rPr>
              <a:t>.</a:t>
            </a:r>
          </a:p>
          <a:p>
            <a:endParaRPr lang="en-US" dirty="0">
              <a:latin typeface="Montserrat" panose="00000500000000000000" pitchFamily="2" charset="0"/>
            </a:endParaRPr>
          </a:p>
          <a:p>
            <a:r>
              <a:rPr lang="en-US" sz="1200" b="1" dirty="0">
                <a:latin typeface="Montserrat" panose="00000500000000000000" pitchFamily="2" charset="0"/>
              </a:rPr>
              <a:t>3. Split Strategy:</a:t>
            </a:r>
            <a:r>
              <a:rPr lang="en-US" sz="1200" dirty="0">
                <a:latin typeface="Montserrat" panose="00000500000000000000" pitchFamily="2" charset="0"/>
              </a:rPr>
              <a:t> </a:t>
            </a:r>
            <a:r>
              <a:rPr lang="en-US" sz="1000" dirty="0">
                <a:latin typeface="Montserrat" panose="00000500000000000000" pitchFamily="2" charset="0"/>
              </a:rPr>
              <a:t>Using an </a:t>
            </a:r>
            <a:r>
              <a:rPr lang="en-US" sz="1000" b="1" dirty="0">
                <a:latin typeface="Montserrat" panose="00000500000000000000" pitchFamily="2" charset="0"/>
              </a:rPr>
              <a:t>80/10/10</a:t>
            </a:r>
            <a:r>
              <a:rPr lang="en-US" sz="1000" dirty="0">
                <a:latin typeface="Montserrat" panose="00000500000000000000" pitchFamily="2" charset="0"/>
              </a:rPr>
              <a:t> (Train/Val/Test) split to ensure the final evaluation is performed on completely </a:t>
            </a:r>
            <a:r>
              <a:rPr lang="en-US" sz="1000" b="1" dirty="0">
                <a:latin typeface="Montserrat" panose="00000500000000000000" pitchFamily="2" charset="0"/>
              </a:rPr>
              <a:t>unseen data</a:t>
            </a:r>
          </a:p>
          <a:p>
            <a:endParaRPr lang="en-US" sz="1000" dirty="0">
              <a:latin typeface="Montserrat" panose="00000500000000000000" pitchFamily="2" charset="0"/>
            </a:endParaRPr>
          </a:p>
          <a:p>
            <a:r>
              <a:rPr lang="en-US" b="1" dirty="0">
                <a:latin typeface="Montserrat" panose="00000500000000000000" pitchFamily="2" charset="0"/>
              </a:rPr>
              <a:t>4. </a:t>
            </a:r>
            <a:r>
              <a:rPr lang="en-US" sz="1200" b="1" dirty="0">
                <a:latin typeface="Montserrat" panose="00000500000000000000" pitchFamily="2" charset="0"/>
              </a:rPr>
              <a:t>The Modeling Evolution (Architectural Roadmap) </a:t>
            </a:r>
            <a:r>
              <a:rPr lang="en-US" dirty="0">
                <a:latin typeface="Montserrat" panose="00000500000000000000" pitchFamily="2" charset="0"/>
              </a:rPr>
              <a:t>: </a:t>
            </a:r>
            <a:r>
              <a:rPr lang="en-US" sz="1000" b="1" i="1" dirty="0">
                <a:latin typeface="Montserrat" panose="00000500000000000000" pitchFamily="2" charset="0"/>
              </a:rPr>
              <a:t>From Baseline to transfer learning </a:t>
            </a:r>
            <a:endParaRPr lang="en-US" b="1" i="1" dirty="0">
              <a:latin typeface="Montserrat" panose="00000500000000000000" pitchFamily="2" charset="0"/>
            </a:endParaRPr>
          </a:p>
          <a:p>
            <a:endParaRPr lang="en-US" sz="1000" dirty="0">
              <a:latin typeface="Montserrat" panose="00000500000000000000" pitchFamily="2" charset="0"/>
            </a:endParaRPr>
          </a:p>
          <a:p>
            <a:r>
              <a:rPr lang="en-US" sz="1000" dirty="0">
                <a:latin typeface="Montserrat" panose="00000500000000000000" pitchFamily="2" charset="0"/>
              </a:rPr>
              <a:t> Four-stage experimental design to identify the most robust architecture</a:t>
            </a:r>
          </a:p>
          <a:p>
            <a:endParaRPr lang="en-US" sz="1000" dirty="0">
              <a:latin typeface="Montserrat" panose="00000500000000000000" pitchFamily="2" charset="0"/>
            </a:endParaRPr>
          </a:p>
          <a:p>
            <a:pPr marL="285750" indent="-285750">
              <a:buFont typeface="Wingdings" panose="05000000000000000000" pitchFamily="2" charset="2"/>
              <a:buChar char="§"/>
            </a:pPr>
            <a:r>
              <a:rPr lang="en-US" sz="1050" b="1" dirty="0">
                <a:latin typeface="Montserrat" panose="00000500000000000000" pitchFamily="2" charset="0"/>
              </a:rPr>
              <a:t>Baseline (Simple CNN):</a:t>
            </a:r>
            <a:r>
              <a:rPr lang="en-US" sz="1050" dirty="0">
                <a:latin typeface="Montserrat" panose="00000500000000000000" pitchFamily="2" charset="0"/>
              </a:rPr>
              <a:t> </a:t>
            </a:r>
            <a:r>
              <a:rPr lang="en-US" sz="1000" dirty="0">
                <a:latin typeface="Montserrat" panose="00000500000000000000" pitchFamily="2" charset="0"/>
              </a:rPr>
              <a:t>A custom-built shallow network to establish a performance floor.</a:t>
            </a:r>
          </a:p>
          <a:p>
            <a:pPr marL="285750" indent="-285750">
              <a:buFont typeface="Wingdings" panose="05000000000000000000" pitchFamily="2" charset="2"/>
              <a:buChar char="§"/>
            </a:pPr>
            <a:r>
              <a:rPr lang="en-US" sz="1050" b="1" dirty="0">
                <a:latin typeface="Montserrat" panose="00000500000000000000" pitchFamily="2" charset="0"/>
              </a:rPr>
              <a:t>Transfer Learning (VGG-16 Base):</a:t>
            </a:r>
            <a:r>
              <a:rPr lang="en-US" sz="1050" dirty="0">
                <a:latin typeface="Montserrat" panose="00000500000000000000" pitchFamily="2" charset="0"/>
              </a:rPr>
              <a:t> </a:t>
            </a:r>
            <a:r>
              <a:rPr lang="en-US" sz="1000" dirty="0">
                <a:latin typeface="Montserrat" panose="00000500000000000000" pitchFamily="2" charset="0"/>
              </a:rPr>
              <a:t>Leveraging spatial hierarchies learned from ~1.4 million images (</a:t>
            </a:r>
            <a:r>
              <a:rPr lang="en-US" sz="1000" b="1" i="1" dirty="0">
                <a:latin typeface="Montserrat" panose="00000500000000000000" pitchFamily="2" charset="0"/>
              </a:rPr>
              <a:t>ImageNet</a:t>
            </a:r>
            <a:r>
              <a:rPr lang="en-US" sz="1000" dirty="0">
                <a:latin typeface="Montserrat" panose="00000500000000000000" pitchFamily="2" charset="0"/>
              </a:rPr>
              <a:t>).</a:t>
            </a:r>
          </a:p>
          <a:p>
            <a:pPr marL="285750" indent="-285750">
              <a:buFont typeface="Wingdings" panose="05000000000000000000" pitchFamily="2" charset="2"/>
              <a:buChar char="§"/>
            </a:pPr>
            <a:r>
              <a:rPr lang="en-US" sz="1050" b="1" dirty="0">
                <a:latin typeface="Montserrat" panose="00000500000000000000" pitchFamily="2" charset="0"/>
              </a:rPr>
              <a:t>Enhanced VGG-16 (+FFNN):</a:t>
            </a:r>
            <a:r>
              <a:rPr lang="en-US" sz="1050" dirty="0">
                <a:latin typeface="Montserrat" panose="00000500000000000000" pitchFamily="2" charset="0"/>
              </a:rPr>
              <a:t> </a:t>
            </a:r>
            <a:r>
              <a:rPr lang="en-US" sz="1000" dirty="0">
                <a:latin typeface="Montserrat" panose="00000500000000000000" pitchFamily="2" charset="0"/>
              </a:rPr>
              <a:t>Replacing the standard head with a custom </a:t>
            </a:r>
            <a:r>
              <a:rPr lang="en-US" sz="1000" b="1" dirty="0">
                <a:latin typeface="Montserrat" panose="00000500000000000000" pitchFamily="2" charset="0"/>
              </a:rPr>
              <a:t>Feed-Forward Neural Network</a:t>
            </a:r>
            <a:r>
              <a:rPr lang="en-US" sz="1000" dirty="0">
                <a:latin typeface="Montserrat" panose="00000500000000000000" pitchFamily="2" charset="0"/>
              </a:rPr>
              <a:t> to capture complex relationships in safety gear features.</a:t>
            </a:r>
          </a:p>
          <a:p>
            <a:pPr marL="285750" indent="-285750">
              <a:buFont typeface="Wingdings" panose="05000000000000000000" pitchFamily="2" charset="2"/>
              <a:buChar char="§"/>
            </a:pPr>
            <a:r>
              <a:rPr lang="en-US" sz="1050" b="1" dirty="0">
                <a:latin typeface="Montserrat" panose="00000500000000000000" pitchFamily="2" charset="0"/>
              </a:rPr>
              <a:t>Regularized VGG-16 (+Data Augmentation)</a:t>
            </a:r>
            <a:r>
              <a:rPr lang="en-US" sz="1200" b="1" dirty="0">
                <a:latin typeface="Montserrat" panose="00000500000000000000" pitchFamily="2" charset="0"/>
              </a:rPr>
              <a:t>:</a:t>
            </a:r>
            <a:r>
              <a:rPr lang="en-US" sz="1200" dirty="0">
                <a:latin typeface="Montserrat" panose="00000500000000000000" pitchFamily="2" charset="0"/>
              </a:rPr>
              <a:t> </a:t>
            </a:r>
            <a:r>
              <a:rPr lang="en-US" sz="1000" dirty="0">
                <a:latin typeface="Montserrat" panose="00000500000000000000" pitchFamily="2" charset="0"/>
              </a:rPr>
              <a:t>Stress-testing the model by simulating environmental variances (rotations, zoom, and shifts) to ensure </a:t>
            </a:r>
            <a:r>
              <a:rPr lang="en-US" sz="1000" b="1" dirty="0">
                <a:latin typeface="Montserrat" panose="00000500000000000000" pitchFamily="2" charset="0"/>
              </a:rPr>
              <a:t>Translational Invariance</a:t>
            </a:r>
            <a:r>
              <a:rPr lang="en-US" sz="1000" dirty="0">
                <a:latin typeface="Montserrat" panose="00000500000000000000" pitchFamily="2" charset="0"/>
              </a:rPr>
              <a:t>.</a:t>
            </a:r>
          </a:p>
          <a:p>
            <a:endParaRPr lang="en-US" dirty="0"/>
          </a:p>
          <a:p>
            <a:endParaRPr lang="en-US" sz="1000" dirty="0"/>
          </a:p>
          <a:p>
            <a:endParaRPr lang="en-US" sz="1000" dirty="0"/>
          </a:p>
        </p:txBody>
      </p:sp>
    </p:spTree>
    <p:extLst>
      <p:ext uri="{BB962C8B-B14F-4D97-AF65-F5344CB8AC3E}">
        <p14:creationId xmlns:p14="http://schemas.microsoft.com/office/powerpoint/2010/main" val="2526610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6D68B75F-C7B3-6752-5629-1EBB9C5333FF}"/>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E0D56C67-6539-9A99-B68F-258B797EDBB8}"/>
              </a:ext>
            </a:extLst>
          </p:cNvPr>
          <p:cNvSpPr txBox="1">
            <a:spLocks noGrp="1"/>
          </p:cNvSpPr>
          <p:nvPr>
            <p:ph type="title"/>
          </p:nvPr>
        </p:nvSpPr>
        <p:spPr>
          <a:xfrm>
            <a:off x="202550" y="289279"/>
            <a:ext cx="395987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Solution Approach</a:t>
            </a:r>
            <a:endParaRPr sz="2400" dirty="0">
              <a:solidFill>
                <a:srgbClr val="0E39A9"/>
              </a:solidFill>
            </a:endParaRPr>
          </a:p>
        </p:txBody>
      </p:sp>
      <p:sp>
        <p:nvSpPr>
          <p:cNvPr id="2" name="TextBox 1">
            <a:extLst>
              <a:ext uri="{FF2B5EF4-FFF2-40B4-BE49-F238E27FC236}">
                <a16:creationId xmlns:a16="http://schemas.microsoft.com/office/drawing/2014/main" id="{592E2334-18CC-2D42-00FB-CFA9C0034EF8}"/>
              </a:ext>
            </a:extLst>
          </p:cNvPr>
          <p:cNvSpPr txBox="1"/>
          <p:nvPr/>
        </p:nvSpPr>
        <p:spPr>
          <a:xfrm>
            <a:off x="295275" y="738237"/>
            <a:ext cx="8646175" cy="4455066"/>
          </a:xfrm>
          <a:prstGeom prst="rect">
            <a:avLst/>
          </a:prstGeom>
          <a:noFill/>
        </p:spPr>
        <p:txBody>
          <a:bodyPr wrap="square" rtlCol="0">
            <a:spAutoFit/>
          </a:bodyPr>
          <a:lstStyle/>
          <a:p>
            <a:pPr marL="228600" indent="-228600">
              <a:buAutoNum type="arabicPeriod"/>
            </a:pPr>
            <a:endParaRPr lang="en-US" sz="1200" b="1" dirty="0">
              <a:latin typeface="Montserrat" panose="00000500000000000000" pitchFamily="2" charset="0"/>
            </a:endParaRPr>
          </a:p>
          <a:p>
            <a:r>
              <a:rPr lang="en-US" sz="1200" b="1" dirty="0">
                <a:latin typeface="Montserrat" panose="00000500000000000000" pitchFamily="2" charset="0"/>
              </a:rPr>
              <a:t>5.  Results &amp; Decision Logic: </a:t>
            </a:r>
            <a:r>
              <a:rPr lang="en-US" sz="1200" dirty="0">
                <a:latin typeface="Montserrat" panose="00000500000000000000" pitchFamily="2" charset="0"/>
              </a:rPr>
              <a:t>V</a:t>
            </a:r>
            <a:r>
              <a:rPr lang="en-US" sz="1200" dirty="0"/>
              <a:t>alidation Performance &amp; Model Selection.</a:t>
            </a:r>
          </a:p>
          <a:p>
            <a:endParaRPr lang="en-US" sz="1200" dirty="0"/>
          </a:p>
          <a:p>
            <a:pPr marL="171450" indent="-171450">
              <a:buFont typeface="Wingdings" panose="05000000000000000000" pitchFamily="2" charset="2"/>
              <a:buChar char="§"/>
            </a:pPr>
            <a:r>
              <a:rPr lang="en-US" sz="1050" b="1" dirty="0">
                <a:latin typeface="Montserrat" panose="00000500000000000000" pitchFamily="2" charset="0"/>
              </a:rPr>
              <a:t>Evaluation Excellence</a:t>
            </a:r>
            <a:r>
              <a:rPr lang="en-US" sz="1000" b="1" dirty="0">
                <a:latin typeface="Montserrat" panose="00000500000000000000" pitchFamily="2" charset="0"/>
              </a:rPr>
              <a:t>:</a:t>
            </a:r>
            <a:r>
              <a:rPr lang="en-US" sz="1000" dirty="0">
                <a:latin typeface="Montserrat" panose="00000500000000000000" pitchFamily="2" charset="0"/>
              </a:rPr>
              <a:t>  Compare  above trained model and achieve high ,Accuracy(general reliability)  ,</a:t>
            </a:r>
            <a:r>
              <a:rPr lang="en-US" sz="1000" b="1" dirty="0">
                <a:latin typeface="Montserrat" panose="00000500000000000000" pitchFamily="2" charset="0"/>
              </a:rPr>
              <a:t>Recall</a:t>
            </a:r>
            <a:r>
              <a:rPr lang="en-US" sz="1000" dirty="0">
                <a:latin typeface="Montserrat" panose="00000500000000000000" pitchFamily="2" charset="0"/>
              </a:rPr>
              <a:t> scores to minimize "</a:t>
            </a:r>
            <a:r>
              <a:rPr lang="en-US" sz="1000" b="1" dirty="0">
                <a:latin typeface="Montserrat" panose="00000500000000000000" pitchFamily="2" charset="0"/>
              </a:rPr>
              <a:t>False Negatives" (failing to detect a worker without a helmet</a:t>
            </a:r>
            <a:r>
              <a:rPr lang="en-US" sz="1000" dirty="0">
                <a:latin typeface="Montserrat" panose="00000500000000000000" pitchFamily="2" charset="0"/>
              </a:rPr>
              <a:t>), as these represent the highest risk to the organization followed by the </a:t>
            </a:r>
            <a:r>
              <a:rPr lang="en-US" sz="1000" b="1" dirty="0">
                <a:latin typeface="Montserrat" panose="00000500000000000000" pitchFamily="2" charset="0"/>
              </a:rPr>
              <a:t>F1 Score</a:t>
            </a:r>
            <a:r>
              <a:rPr lang="en-US" sz="1000" dirty="0">
                <a:latin typeface="Montserrat" panose="00000500000000000000" pitchFamily="2" charset="0"/>
              </a:rPr>
              <a:t> and get finalized the best model </a:t>
            </a:r>
          </a:p>
          <a:p>
            <a:endParaRPr lang="en-US" sz="1200" b="1" dirty="0">
              <a:latin typeface="Montserrat" panose="00000500000000000000" pitchFamily="2" charset="0"/>
            </a:endParaRPr>
          </a:p>
          <a:p>
            <a:r>
              <a:rPr lang="en-US" sz="1200" b="1" u="sng" dirty="0">
                <a:latin typeface="Montserrat" panose="00000500000000000000" pitchFamily="2" charset="0"/>
              </a:rPr>
              <a:t>Why these metrics matter most and aligned with project objective </a:t>
            </a:r>
          </a:p>
          <a:p>
            <a:pPr marL="228600" indent="-228600">
              <a:buAutoNum type="arabicPeriod"/>
            </a:pPr>
            <a:endParaRPr lang="en-US" sz="1200" b="1" dirty="0">
              <a:latin typeface="Montserrat" panose="00000500000000000000" pitchFamily="2" charset="0"/>
            </a:endParaRPr>
          </a:p>
          <a:p>
            <a:pPr marL="228600" indent="-228600">
              <a:buAutoNum type="arabicPeriod"/>
            </a:pPr>
            <a:r>
              <a:rPr lang="en-US" sz="1100" b="1" dirty="0">
                <a:latin typeface="Montserrat" panose="00000500000000000000" pitchFamily="2" charset="0"/>
              </a:rPr>
              <a:t>The Priority : Recall(Sensitivity)</a:t>
            </a:r>
          </a:p>
          <a:p>
            <a:r>
              <a:rPr lang="en-US" sz="1000" dirty="0"/>
              <a:t>In a safety context, </a:t>
            </a:r>
            <a:r>
              <a:rPr lang="en-US" sz="1000" b="1" dirty="0"/>
              <a:t>Recall is the  most critical metric.</a:t>
            </a:r>
            <a:r>
              <a:rPr lang="en-US" sz="1000" dirty="0"/>
              <a:t> Recall answers the question: </a:t>
            </a:r>
            <a:r>
              <a:rPr lang="en-US" sz="1000" i="1" dirty="0"/>
              <a:t>"</a:t>
            </a:r>
            <a:r>
              <a:rPr lang="en-US" sz="1000" b="1" i="1" dirty="0"/>
              <a:t>Of all the workers actually not wearing a helmet, how many did the system correctly flag?</a:t>
            </a:r>
            <a:r>
              <a:rPr lang="en-US" sz="1000" i="1" dirty="0"/>
              <a:t>“</a:t>
            </a:r>
          </a:p>
          <a:p>
            <a:endParaRPr lang="en-US" sz="1000" dirty="0"/>
          </a:p>
          <a:p>
            <a:pPr marL="171450" indent="-171450">
              <a:buFont typeface="Arial" panose="020B0604020202020204" pitchFamily="34" charset="0"/>
              <a:buChar char="•"/>
            </a:pPr>
            <a:r>
              <a:rPr lang="en-US" sz="1000" b="1" dirty="0"/>
              <a:t>The Goal:</a:t>
            </a:r>
            <a:r>
              <a:rPr lang="en-US" sz="1000" dirty="0"/>
              <a:t> Minimize </a:t>
            </a:r>
            <a:r>
              <a:rPr lang="en-US" sz="1000" b="1" dirty="0"/>
              <a:t>False Negatives</a:t>
            </a:r>
            <a:r>
              <a:rPr lang="en-US" sz="1000" dirty="0"/>
              <a:t> (workers without helmets who are marked as "safe" or missed by the system).</a:t>
            </a:r>
          </a:p>
          <a:p>
            <a:pPr marL="171450" indent="-171450">
              <a:buFont typeface="Arial" panose="020B0604020202020204" pitchFamily="34" charset="0"/>
              <a:buChar char="•"/>
            </a:pPr>
            <a:r>
              <a:rPr lang="en-US" sz="1000" b="1" dirty="0"/>
              <a:t>The Stakes:</a:t>
            </a:r>
            <a:r>
              <a:rPr lang="en-US" sz="1000" dirty="0"/>
              <a:t> A False Negative means a </a:t>
            </a:r>
            <a:r>
              <a:rPr lang="en-US" sz="1000" b="1" dirty="0"/>
              <a:t>worker enters a hazardous zone unprotected</a:t>
            </a:r>
            <a:r>
              <a:rPr lang="en-US" sz="1000" dirty="0"/>
              <a:t>, which could lead to a fatality. This is a catastrophic failure for </a:t>
            </a:r>
            <a:r>
              <a:rPr lang="en-US" sz="1000" dirty="0" err="1"/>
              <a:t>SafeGuard</a:t>
            </a:r>
            <a:r>
              <a:rPr lang="en-US" sz="1000" dirty="0"/>
              <a:t> Corp.</a:t>
            </a:r>
          </a:p>
          <a:p>
            <a:pPr marL="171450" indent="-171450">
              <a:buFont typeface="Arial" panose="020B0604020202020204" pitchFamily="34" charset="0"/>
              <a:buChar char="•"/>
            </a:pPr>
            <a:r>
              <a:rPr lang="en-US" sz="1000" b="1" dirty="0"/>
              <a:t>The Trade-off:</a:t>
            </a:r>
            <a:r>
              <a:rPr lang="en-US" sz="1000" dirty="0"/>
              <a:t> You would rather have the </a:t>
            </a:r>
            <a:r>
              <a:rPr lang="en-US" sz="1000" b="1" dirty="0"/>
              <a:t>system "over-alert" (flagging someone with a bulky hat as a violation) than "under-alert" (missing a person with no protection).</a:t>
            </a:r>
          </a:p>
          <a:p>
            <a:endParaRPr lang="en-US" sz="1000" dirty="0"/>
          </a:p>
          <a:p>
            <a:r>
              <a:rPr lang="en-US" sz="1000" b="1" dirty="0">
                <a:latin typeface="Montserrat" panose="00000500000000000000" pitchFamily="2" charset="0"/>
              </a:rPr>
              <a:t>2.   The Balancer : F1 Score</a:t>
            </a:r>
          </a:p>
          <a:p>
            <a:r>
              <a:rPr lang="en-US" sz="1000" dirty="0"/>
              <a:t>While Recall prevents accidents,  </a:t>
            </a:r>
            <a:r>
              <a:rPr lang="en-US" sz="1000" b="1" dirty="0"/>
              <a:t>Precision</a:t>
            </a:r>
            <a:r>
              <a:rPr lang="en-US" sz="1000" dirty="0"/>
              <a:t>  can not be ignored entirely. If model has 100% Recall but 5% Precision, it will trigger false alarms every 30 seconds, leading to "</a:t>
            </a:r>
            <a:r>
              <a:rPr lang="en-US" sz="1000" b="1" dirty="0"/>
              <a:t>alarm fatigue" </a:t>
            </a:r>
            <a:r>
              <a:rPr lang="en-US" sz="1000" dirty="0"/>
              <a:t>where supervisors eventually ignore the system.</a:t>
            </a:r>
          </a:p>
          <a:p>
            <a:endParaRPr lang="en-US" sz="1000" b="1" dirty="0"/>
          </a:p>
          <a:p>
            <a:pPr marL="171450" indent="-171450">
              <a:buFont typeface="Arial" panose="020B0604020202020204" pitchFamily="34" charset="0"/>
              <a:buChar char="•"/>
            </a:pPr>
            <a:r>
              <a:rPr lang="en-US" sz="1000" b="1" dirty="0"/>
              <a:t>The Role of F1:</a:t>
            </a:r>
            <a:r>
              <a:rPr lang="en-US" sz="1000" dirty="0"/>
              <a:t> The F1-Score is the </a:t>
            </a:r>
            <a:r>
              <a:rPr lang="en-US" sz="1000" b="1" dirty="0"/>
              <a:t>harmonic mean</a:t>
            </a:r>
            <a:r>
              <a:rPr lang="en-US" sz="1000" dirty="0"/>
              <a:t> of Precision and Recall.</a:t>
            </a:r>
          </a:p>
          <a:p>
            <a:pPr marL="171450" indent="-171450">
              <a:buFont typeface="Arial" panose="020B0604020202020204" pitchFamily="34" charset="0"/>
              <a:buChar char="•"/>
            </a:pPr>
            <a:r>
              <a:rPr lang="en-US" sz="1000" b="1" dirty="0"/>
              <a:t>Why it's better than Accuracy:</a:t>
            </a:r>
            <a:r>
              <a:rPr lang="en-US" sz="1000" dirty="0"/>
              <a:t> Accuracy is misleading if  dataset is imbalanced (e.g., if 95% of workers already wear helmets, a broken model that just guesses "Helmet" every time would still be 95% accurate but 0% effective at finding violators).</a:t>
            </a:r>
          </a:p>
          <a:p>
            <a:endParaRPr lang="en-US" sz="1000" dirty="0"/>
          </a:p>
        </p:txBody>
      </p:sp>
    </p:spTree>
    <p:extLst>
      <p:ext uri="{BB962C8B-B14F-4D97-AF65-F5344CB8AC3E}">
        <p14:creationId xmlns:p14="http://schemas.microsoft.com/office/powerpoint/2010/main" val="3712495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9718CB8F-2817-8809-C8F2-2A4D97250473}"/>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D03C9ABE-D93A-CA40-682D-B97913DC10AA}"/>
              </a:ext>
            </a:extLst>
          </p:cNvPr>
          <p:cNvSpPr txBox="1">
            <a:spLocks noGrp="1"/>
          </p:cNvSpPr>
          <p:nvPr>
            <p:ph type="title"/>
          </p:nvPr>
        </p:nvSpPr>
        <p:spPr>
          <a:xfrm>
            <a:off x="202550" y="289279"/>
            <a:ext cx="395987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Solution Approach</a:t>
            </a:r>
            <a:endParaRPr sz="2400" dirty="0">
              <a:solidFill>
                <a:srgbClr val="0E39A9"/>
              </a:solidFill>
            </a:endParaRPr>
          </a:p>
        </p:txBody>
      </p:sp>
      <p:graphicFrame>
        <p:nvGraphicFramePr>
          <p:cNvPr id="3" name="Table 2">
            <a:extLst>
              <a:ext uri="{FF2B5EF4-FFF2-40B4-BE49-F238E27FC236}">
                <a16:creationId xmlns:a16="http://schemas.microsoft.com/office/drawing/2014/main" id="{AB881C86-8FCC-83D4-531D-B53AA028190A}"/>
              </a:ext>
            </a:extLst>
          </p:cNvPr>
          <p:cNvGraphicFramePr>
            <a:graphicFrameLocks noGrp="1"/>
          </p:cNvGraphicFramePr>
          <p:nvPr>
            <p:extLst>
              <p:ext uri="{D42A27DB-BD31-4B8C-83A1-F6EECF244321}">
                <p14:modId xmlns:p14="http://schemas.microsoft.com/office/powerpoint/2010/main" val="731194666"/>
              </p:ext>
            </p:extLst>
          </p:nvPr>
        </p:nvGraphicFramePr>
        <p:xfrm>
          <a:off x="350456" y="1448076"/>
          <a:ext cx="8161176" cy="2084733"/>
        </p:xfrm>
        <a:graphic>
          <a:graphicData uri="http://schemas.openxmlformats.org/drawingml/2006/table">
            <a:tbl>
              <a:tblPr firstRow="1" bandRow="1">
                <a:tableStyleId>{A1BBC871-F89B-45A3-A074-B200C202542C}</a:tableStyleId>
              </a:tblPr>
              <a:tblGrid>
                <a:gridCol w="2720392">
                  <a:extLst>
                    <a:ext uri="{9D8B030D-6E8A-4147-A177-3AD203B41FA5}">
                      <a16:colId xmlns:a16="http://schemas.microsoft.com/office/drawing/2014/main" val="1636873841"/>
                    </a:ext>
                  </a:extLst>
                </a:gridCol>
                <a:gridCol w="2720392">
                  <a:extLst>
                    <a:ext uri="{9D8B030D-6E8A-4147-A177-3AD203B41FA5}">
                      <a16:colId xmlns:a16="http://schemas.microsoft.com/office/drawing/2014/main" val="97260483"/>
                    </a:ext>
                  </a:extLst>
                </a:gridCol>
                <a:gridCol w="2720392">
                  <a:extLst>
                    <a:ext uri="{9D8B030D-6E8A-4147-A177-3AD203B41FA5}">
                      <a16:colId xmlns:a16="http://schemas.microsoft.com/office/drawing/2014/main" val="1051305850"/>
                    </a:ext>
                  </a:extLst>
                </a:gridCol>
              </a:tblGrid>
              <a:tr h="370840">
                <a:tc>
                  <a:txBody>
                    <a:bodyPr/>
                    <a:lstStyle/>
                    <a:p>
                      <a:r>
                        <a:rPr lang="en-US" sz="1200" dirty="0">
                          <a:latin typeface="Montserrat" panose="00000500000000000000" pitchFamily="2" charset="0"/>
                        </a:rPr>
                        <a:t>Metric</a:t>
                      </a:r>
                    </a:p>
                  </a:txBody>
                  <a:tcPr/>
                </a:tc>
                <a:tc>
                  <a:txBody>
                    <a:bodyPr/>
                    <a:lstStyle/>
                    <a:p>
                      <a:r>
                        <a:rPr lang="en-US" sz="1200" dirty="0">
                          <a:latin typeface="Montserrat" panose="00000500000000000000" pitchFamily="2" charset="0"/>
                        </a:rPr>
                        <a:t>Business Impact </a:t>
                      </a:r>
                    </a:p>
                  </a:txBody>
                  <a:tcPr/>
                </a:tc>
                <a:tc>
                  <a:txBody>
                    <a:bodyPr/>
                    <a:lstStyle/>
                    <a:p>
                      <a:r>
                        <a:rPr lang="en-US" sz="1200" dirty="0">
                          <a:latin typeface="Montserrat" panose="00000500000000000000" pitchFamily="2" charset="0"/>
                        </a:rPr>
                        <a:t>Risk of ignoring </a:t>
                      </a:r>
                    </a:p>
                  </a:txBody>
                  <a:tcPr/>
                </a:tc>
                <a:extLst>
                  <a:ext uri="{0D108BD9-81ED-4DB2-BD59-A6C34878D82A}">
                    <a16:rowId xmlns:a16="http://schemas.microsoft.com/office/drawing/2014/main" val="1188840090"/>
                  </a:ext>
                </a:extLst>
              </a:tr>
              <a:tr h="370840">
                <a:tc>
                  <a:txBody>
                    <a:bodyPr/>
                    <a:lstStyle/>
                    <a:p>
                      <a:r>
                        <a:rPr lang="en-US" sz="1100" b="1" dirty="0">
                          <a:latin typeface="Montserrat" panose="00000500000000000000" pitchFamily="2" charset="0"/>
                        </a:rPr>
                        <a:t>Accuracy </a:t>
                      </a:r>
                    </a:p>
                  </a:txBody>
                  <a:tcPr/>
                </a:tc>
                <a:tc>
                  <a:txBody>
                    <a:bodyPr/>
                    <a:lstStyle/>
                    <a:p>
                      <a:r>
                        <a:rPr lang="en-US" sz="1100" dirty="0"/>
                        <a:t>General overview of performance</a:t>
                      </a:r>
                      <a:endParaRPr lang="en-US" sz="1100" dirty="0">
                        <a:latin typeface="Montserrat" panose="00000500000000000000" pitchFamily="2" charset="0"/>
                      </a:endParaRPr>
                    </a:p>
                  </a:txBody>
                  <a:tcPr/>
                </a:tc>
                <a:tc>
                  <a:txBody>
                    <a:bodyPr/>
                    <a:lstStyle/>
                    <a:p>
                      <a:r>
                        <a:rPr lang="en-US" sz="1100" dirty="0">
                          <a:latin typeface="Montserrat" panose="00000500000000000000" pitchFamily="2" charset="0"/>
                        </a:rPr>
                        <a:t>High. Fails to account for class imbalance (fewer violators than safe workers).</a:t>
                      </a:r>
                    </a:p>
                  </a:txBody>
                  <a:tcPr/>
                </a:tc>
                <a:extLst>
                  <a:ext uri="{0D108BD9-81ED-4DB2-BD59-A6C34878D82A}">
                    <a16:rowId xmlns:a16="http://schemas.microsoft.com/office/drawing/2014/main" val="3800563158"/>
                  </a:ext>
                </a:extLst>
              </a:tr>
              <a:tr h="266093">
                <a:tc>
                  <a:txBody>
                    <a:bodyPr/>
                    <a:lstStyle/>
                    <a:p>
                      <a:r>
                        <a:rPr lang="en-US" sz="1100" b="1" dirty="0">
                          <a:latin typeface="Montserrat" panose="00000500000000000000" pitchFamily="2" charset="0"/>
                        </a:rPr>
                        <a:t>Recall(Sensitivity)</a:t>
                      </a:r>
                    </a:p>
                  </a:txBody>
                  <a:tcPr/>
                </a:tc>
                <a:tc>
                  <a:txBody>
                    <a:bodyPr/>
                    <a:lstStyle/>
                    <a:p>
                      <a:r>
                        <a:rPr lang="en-US" sz="1100" b="1" dirty="0">
                          <a:latin typeface="Montserrat" panose="00000500000000000000" pitchFamily="2" charset="0"/>
                        </a:rPr>
                        <a:t>Saves lives</a:t>
                      </a:r>
                      <a:r>
                        <a:rPr lang="en-US" sz="1100" dirty="0">
                          <a:latin typeface="Montserrat" panose="00000500000000000000" pitchFamily="2" charset="0"/>
                        </a:rPr>
                        <a:t>. Ensures every violator is caught.</a:t>
                      </a:r>
                    </a:p>
                  </a:txBody>
                  <a:tcPr/>
                </a:tc>
                <a:tc>
                  <a:txBody>
                    <a:bodyPr/>
                    <a:lstStyle/>
                    <a:p>
                      <a:r>
                        <a:rPr lang="en-US" sz="1100" b="1" dirty="0">
                          <a:latin typeface="Montserrat" panose="00000500000000000000" pitchFamily="2" charset="0"/>
                        </a:rPr>
                        <a:t>Critical</a:t>
                      </a:r>
                      <a:r>
                        <a:rPr lang="en-US" sz="1100" dirty="0">
                          <a:latin typeface="Montserrat" panose="00000500000000000000" pitchFamily="2" charset="0"/>
                        </a:rPr>
                        <a:t>. Low recall leads to workplace fatalities.</a:t>
                      </a:r>
                    </a:p>
                  </a:txBody>
                  <a:tcPr/>
                </a:tc>
                <a:extLst>
                  <a:ext uri="{0D108BD9-81ED-4DB2-BD59-A6C34878D82A}">
                    <a16:rowId xmlns:a16="http://schemas.microsoft.com/office/drawing/2014/main" val="3296266124"/>
                  </a:ext>
                </a:extLst>
              </a:tr>
              <a:tr h="266093">
                <a:tc>
                  <a:txBody>
                    <a:bodyPr/>
                    <a:lstStyle/>
                    <a:p>
                      <a:r>
                        <a:rPr lang="en-US" sz="1100" b="1" dirty="0">
                          <a:latin typeface="Montserrat" panose="00000500000000000000" pitchFamily="2" charset="0"/>
                        </a:rPr>
                        <a:t>Precision </a:t>
                      </a:r>
                    </a:p>
                  </a:txBody>
                  <a:tcPr/>
                </a:tc>
                <a:tc>
                  <a:txBody>
                    <a:bodyPr/>
                    <a:lstStyle/>
                    <a:p>
                      <a:r>
                        <a:rPr lang="en-US" sz="1100" dirty="0">
                          <a:latin typeface="Montserrat" panose="00000500000000000000" pitchFamily="2" charset="0"/>
                        </a:rPr>
                        <a:t>Reduces false alarms for the safety team.</a:t>
                      </a:r>
                    </a:p>
                  </a:txBody>
                  <a:tcPr/>
                </a:tc>
                <a:tc>
                  <a:txBody>
                    <a:bodyPr/>
                    <a:lstStyle/>
                    <a:p>
                      <a:r>
                        <a:rPr lang="en-US" sz="1100" dirty="0">
                          <a:latin typeface="Montserrat" panose="00000500000000000000" pitchFamily="2" charset="0"/>
                        </a:rPr>
                        <a:t>Moderate. High precision is "clean" but might miss actual risks.</a:t>
                      </a:r>
                    </a:p>
                  </a:txBody>
                  <a:tcPr/>
                </a:tc>
                <a:extLst>
                  <a:ext uri="{0D108BD9-81ED-4DB2-BD59-A6C34878D82A}">
                    <a16:rowId xmlns:a16="http://schemas.microsoft.com/office/drawing/2014/main" val="334936735"/>
                  </a:ext>
                </a:extLst>
              </a:tr>
              <a:tr h="266093">
                <a:tc>
                  <a:txBody>
                    <a:bodyPr/>
                    <a:lstStyle/>
                    <a:p>
                      <a:r>
                        <a:rPr lang="en-US" sz="1100" b="1" dirty="0">
                          <a:latin typeface="Montserrat" panose="00000500000000000000" pitchFamily="2" charset="0"/>
                        </a:rPr>
                        <a:t>F1 Score</a:t>
                      </a:r>
                    </a:p>
                  </a:txBody>
                  <a:tcPr/>
                </a:tc>
                <a:tc>
                  <a:txBody>
                    <a:bodyPr/>
                    <a:lstStyle/>
                    <a:p>
                      <a:r>
                        <a:rPr lang="en-US" sz="1100" dirty="0">
                          <a:latin typeface="Montserrat" panose="00000500000000000000" pitchFamily="2" charset="0"/>
                        </a:rPr>
                        <a:t>Balances safety and efficiency</a:t>
                      </a:r>
                    </a:p>
                  </a:txBody>
                  <a:tcPr/>
                </a:tc>
                <a:tc>
                  <a:txBody>
                    <a:bodyPr/>
                    <a:lstStyle/>
                    <a:p>
                      <a:r>
                        <a:rPr lang="en-US" sz="1100" b="1" dirty="0">
                          <a:latin typeface="Montserrat" panose="00000500000000000000" pitchFamily="2" charset="0"/>
                        </a:rPr>
                        <a:t>High,</a:t>
                      </a:r>
                      <a:r>
                        <a:rPr lang="en-US" sz="1100" dirty="0">
                          <a:latin typeface="Montserrat" panose="00000500000000000000" pitchFamily="2" charset="0"/>
                        </a:rPr>
                        <a:t>  </a:t>
                      </a:r>
                      <a:r>
                        <a:rPr lang="en-US" sz="1100" dirty="0"/>
                        <a:t>robustness of the model</a:t>
                      </a:r>
                      <a:endParaRPr lang="en-US" sz="1100" dirty="0">
                        <a:latin typeface="Montserrat" panose="00000500000000000000" pitchFamily="2" charset="0"/>
                      </a:endParaRPr>
                    </a:p>
                  </a:txBody>
                  <a:tcPr/>
                </a:tc>
                <a:extLst>
                  <a:ext uri="{0D108BD9-81ED-4DB2-BD59-A6C34878D82A}">
                    <a16:rowId xmlns:a16="http://schemas.microsoft.com/office/drawing/2014/main" val="695358091"/>
                  </a:ext>
                </a:extLst>
              </a:tr>
            </a:tbl>
          </a:graphicData>
        </a:graphic>
      </p:graphicFrame>
      <p:sp>
        <p:nvSpPr>
          <p:cNvPr id="5" name="TextBox 4">
            <a:extLst>
              <a:ext uri="{FF2B5EF4-FFF2-40B4-BE49-F238E27FC236}">
                <a16:creationId xmlns:a16="http://schemas.microsoft.com/office/drawing/2014/main" id="{E92AF23F-2AF1-5724-77E0-503EE53BDF27}"/>
              </a:ext>
            </a:extLst>
          </p:cNvPr>
          <p:cNvSpPr txBox="1"/>
          <p:nvPr/>
        </p:nvSpPr>
        <p:spPr>
          <a:xfrm>
            <a:off x="264069" y="869877"/>
            <a:ext cx="4572000" cy="307777"/>
          </a:xfrm>
          <a:prstGeom prst="rect">
            <a:avLst/>
          </a:prstGeom>
          <a:noFill/>
        </p:spPr>
        <p:txBody>
          <a:bodyPr wrap="square">
            <a:spAutoFit/>
          </a:bodyPr>
          <a:lstStyle/>
          <a:p>
            <a:r>
              <a:rPr lang="en-US" sz="1400" b="1" dirty="0">
                <a:latin typeface="Montserrat" panose="00000500000000000000" pitchFamily="2" charset="0"/>
              </a:rPr>
              <a:t>Success Metrics</a:t>
            </a:r>
          </a:p>
        </p:txBody>
      </p:sp>
      <p:sp>
        <p:nvSpPr>
          <p:cNvPr id="6" name="TextBox 5">
            <a:extLst>
              <a:ext uri="{FF2B5EF4-FFF2-40B4-BE49-F238E27FC236}">
                <a16:creationId xmlns:a16="http://schemas.microsoft.com/office/drawing/2014/main" id="{19004F65-BCA3-9ACF-8C7D-E166AF4CB532}"/>
              </a:ext>
            </a:extLst>
          </p:cNvPr>
          <p:cNvSpPr txBox="1"/>
          <p:nvPr/>
        </p:nvSpPr>
        <p:spPr>
          <a:xfrm>
            <a:off x="429969" y="3886529"/>
            <a:ext cx="7633252" cy="615553"/>
          </a:xfrm>
          <a:prstGeom prst="rect">
            <a:avLst/>
          </a:prstGeom>
          <a:noFill/>
        </p:spPr>
        <p:txBody>
          <a:bodyPr wrap="square" rtlCol="0">
            <a:spAutoFit/>
          </a:bodyPr>
          <a:lstStyle/>
          <a:p>
            <a:r>
              <a:rPr lang="en-US" dirty="0"/>
              <a:t>6. </a:t>
            </a:r>
            <a:r>
              <a:rPr lang="en-US" sz="1200" b="1" dirty="0">
                <a:latin typeface="Montserrat" panose="00000500000000000000" pitchFamily="2" charset="0"/>
              </a:rPr>
              <a:t>Final Inference:</a:t>
            </a:r>
          </a:p>
          <a:p>
            <a:pPr marL="171450" indent="-171450">
              <a:buFont typeface="Wingdings" panose="05000000000000000000" pitchFamily="2" charset="2"/>
              <a:buChar char="§"/>
            </a:pPr>
            <a:r>
              <a:rPr lang="en-US" sz="1000" dirty="0"/>
              <a:t>Executing predictions on the test data utilizing the best-performing model to ensure robust classification in diverse industrial environments</a:t>
            </a:r>
          </a:p>
        </p:txBody>
      </p:sp>
    </p:spTree>
    <p:extLst>
      <p:ext uri="{BB962C8B-B14F-4D97-AF65-F5344CB8AC3E}">
        <p14:creationId xmlns:p14="http://schemas.microsoft.com/office/powerpoint/2010/main" val="1795705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Overview</a:t>
            </a:r>
            <a:endParaRPr sz="2400">
              <a:solidFill>
                <a:srgbClr val="0E39A9"/>
              </a:solidFill>
            </a:endParaRPr>
          </a:p>
        </p:txBody>
      </p:sp>
      <p:sp>
        <p:nvSpPr>
          <p:cNvPr id="213" name="Google Shape;213;p40"/>
          <p:cNvSpPr txBox="1"/>
          <p:nvPr/>
        </p:nvSpPr>
        <p:spPr>
          <a:xfrm>
            <a:off x="385353" y="861979"/>
            <a:ext cx="8373293" cy="3462456"/>
          </a:xfrm>
          <a:prstGeom prst="rect">
            <a:avLst/>
          </a:prstGeom>
          <a:noFill/>
          <a:ln>
            <a:noFill/>
          </a:ln>
        </p:spPr>
        <p:txBody>
          <a:bodyPr spcFirstLastPara="1" wrap="square" lIns="91425" tIns="91425" rIns="91425" bIns="91425" anchor="t" anchorCtr="0">
            <a:spAutoFit/>
          </a:bodyPr>
          <a:lstStyle/>
          <a:p>
            <a:pPr lvl="0">
              <a:lnSpc>
                <a:spcPct val="150000"/>
              </a:lnSpc>
            </a:pPr>
            <a:r>
              <a:rPr lang="en-US" b="1" dirty="0">
                <a:latin typeface="Montserrat"/>
                <a:ea typeface="Montserrat"/>
                <a:cs typeface="Montserrat"/>
                <a:sym typeface="Montserrat"/>
              </a:rPr>
              <a:t>There are two Categories of the Datasets :</a:t>
            </a:r>
          </a:p>
          <a:p>
            <a:pPr lvl="0">
              <a:lnSpc>
                <a:spcPct val="150000"/>
              </a:lnSpc>
            </a:pPr>
            <a:r>
              <a:rPr lang="en-US" b="1" dirty="0">
                <a:latin typeface="Montserrat"/>
                <a:ea typeface="Montserrat"/>
                <a:cs typeface="Montserrat"/>
                <a:sym typeface="Montserrat"/>
              </a:rPr>
              <a:t>1</a:t>
            </a:r>
            <a:r>
              <a:rPr lang="en-US" dirty="0">
                <a:latin typeface="Montserrat"/>
                <a:ea typeface="Montserrat"/>
                <a:cs typeface="Montserrat"/>
                <a:sym typeface="Montserrat"/>
              </a:rPr>
              <a:t>. The </a:t>
            </a:r>
            <a:r>
              <a:rPr lang="en-US" b="1" dirty="0">
                <a:latin typeface="Montserrat"/>
                <a:ea typeface="Montserrat"/>
                <a:cs typeface="Montserrat"/>
                <a:sym typeface="Montserrat"/>
              </a:rPr>
              <a:t>Image dataset </a:t>
            </a:r>
            <a:r>
              <a:rPr lang="en-US" dirty="0">
                <a:latin typeface="Montserrat"/>
                <a:ea typeface="Montserrat"/>
                <a:cs typeface="Montserrat"/>
                <a:sym typeface="Montserrat"/>
              </a:rPr>
              <a:t>consists of </a:t>
            </a:r>
            <a:r>
              <a:rPr lang="en-US" b="1" dirty="0">
                <a:latin typeface="Montserrat"/>
                <a:ea typeface="Montserrat"/>
                <a:cs typeface="Montserrat"/>
                <a:sym typeface="Montserrat"/>
              </a:rPr>
              <a:t>631 images </a:t>
            </a:r>
          </a:p>
          <a:p>
            <a:pPr lvl="0">
              <a:lnSpc>
                <a:spcPct val="150000"/>
              </a:lnSpc>
            </a:pPr>
            <a:r>
              <a:rPr lang="en-US" dirty="0">
                <a:latin typeface="Montserrat"/>
                <a:ea typeface="Montserrat"/>
                <a:cs typeface="Montserrat"/>
                <a:sym typeface="Montserrat"/>
              </a:rPr>
              <a:t>  Two categories Images : </a:t>
            </a:r>
          </a:p>
          <a:p>
            <a:pPr marL="285750" lvl="5" indent="-285750">
              <a:lnSpc>
                <a:spcPct val="150000"/>
              </a:lnSpc>
              <a:buFont typeface="Arial" panose="020B0604020202020204" pitchFamily="34" charset="0"/>
              <a:buChar char="•"/>
            </a:pPr>
            <a:r>
              <a:rPr lang="en-US" sz="1100" b="1" dirty="0">
                <a:latin typeface="Montserrat"/>
                <a:ea typeface="Montserrat"/>
                <a:cs typeface="Montserrat"/>
                <a:sym typeface="Montserrat"/>
              </a:rPr>
              <a:t>With Helmet:  </a:t>
            </a:r>
            <a:r>
              <a:rPr lang="en-US" sz="1100" dirty="0">
                <a:latin typeface="Montserrat"/>
                <a:ea typeface="Montserrat"/>
                <a:cs typeface="Montserrat"/>
                <a:sym typeface="Montserrat"/>
              </a:rPr>
              <a:t>311 images</a:t>
            </a:r>
          </a:p>
          <a:p>
            <a:pPr marL="285750" lvl="4" indent="-285750">
              <a:lnSpc>
                <a:spcPct val="150000"/>
              </a:lnSpc>
              <a:buFont typeface="Arial" panose="020B0604020202020204" pitchFamily="34" charset="0"/>
              <a:buChar char="•"/>
            </a:pPr>
            <a:r>
              <a:rPr lang="en-US" sz="1100" b="1" dirty="0">
                <a:latin typeface="Montserrat"/>
                <a:ea typeface="Montserrat"/>
                <a:cs typeface="Montserrat"/>
                <a:sym typeface="Montserrat"/>
              </a:rPr>
              <a:t>Without Helmet: </a:t>
            </a:r>
            <a:r>
              <a:rPr lang="en-US" sz="1100" dirty="0">
                <a:latin typeface="Montserrat"/>
                <a:ea typeface="Montserrat"/>
                <a:cs typeface="Montserrat"/>
                <a:sym typeface="Montserrat"/>
              </a:rPr>
              <a:t>320 images</a:t>
            </a:r>
          </a:p>
          <a:p>
            <a:pPr lvl="0">
              <a:lnSpc>
                <a:spcPct val="150000"/>
              </a:lnSpc>
            </a:pPr>
            <a:r>
              <a:rPr lang="en-US" sz="1200" b="1" dirty="0">
                <a:solidFill>
                  <a:srgbClr val="000000"/>
                </a:solidFill>
                <a:latin typeface="Montserrat"/>
                <a:ea typeface="Montserrat"/>
                <a:cs typeface="Montserrat"/>
                <a:sym typeface="Montserrat"/>
              </a:rPr>
              <a:t> Shape   </a:t>
            </a:r>
            <a:r>
              <a:rPr lang="en-US" b="1" dirty="0">
                <a:solidFill>
                  <a:srgbClr val="000000"/>
                </a:solidFill>
                <a:latin typeface="Montserrat"/>
                <a:ea typeface="Montserrat"/>
                <a:cs typeface="Montserrat"/>
                <a:sym typeface="Montserrat"/>
              </a:rPr>
              <a:t>: </a:t>
            </a:r>
            <a:r>
              <a:rPr lang="en-US" dirty="0">
                <a:solidFill>
                  <a:srgbClr val="000000"/>
                </a:solidFill>
                <a:latin typeface="Montserrat"/>
                <a:ea typeface="Montserrat"/>
                <a:cs typeface="Montserrat"/>
                <a:sym typeface="Montserrat"/>
              </a:rPr>
              <a:t>(631,200,200 ,3)</a:t>
            </a:r>
          </a:p>
          <a:p>
            <a:pPr lvl="0">
              <a:lnSpc>
                <a:spcPct val="150000"/>
              </a:lnSpc>
            </a:pPr>
            <a:r>
              <a:rPr lang="en-US" b="1" dirty="0">
                <a:latin typeface="Montserrat"/>
                <a:ea typeface="Montserrat"/>
                <a:cs typeface="Montserrat"/>
                <a:sym typeface="Montserrat"/>
              </a:rPr>
              <a:t>2</a:t>
            </a:r>
            <a:r>
              <a:rPr lang="en-US" dirty="0">
                <a:latin typeface="Montserrat"/>
                <a:ea typeface="Montserrat"/>
                <a:cs typeface="Montserrat"/>
                <a:sym typeface="Montserrat"/>
              </a:rPr>
              <a:t>. </a:t>
            </a:r>
            <a:r>
              <a:rPr lang="en-US" b="1" dirty="0">
                <a:latin typeface="Montserrat"/>
                <a:ea typeface="Montserrat"/>
                <a:cs typeface="Montserrat"/>
                <a:sym typeface="Montserrat"/>
              </a:rPr>
              <a:t>Label Data set </a:t>
            </a:r>
            <a:r>
              <a:rPr lang="en-US" dirty="0">
                <a:latin typeface="Montserrat"/>
                <a:ea typeface="Montserrat"/>
                <a:cs typeface="Montserrat"/>
                <a:sym typeface="Montserrat"/>
              </a:rPr>
              <a:t>having two categories </a:t>
            </a:r>
          </a:p>
          <a:p>
            <a:pPr marL="171450" lvl="0" indent="-171450">
              <a:lnSpc>
                <a:spcPct val="150000"/>
              </a:lnSpc>
              <a:buFont typeface="Wingdings" panose="05000000000000000000" pitchFamily="2" charset="2"/>
              <a:buChar char="§"/>
            </a:pPr>
            <a:r>
              <a:rPr lang="en-US" sz="1100" b="1" dirty="0">
                <a:latin typeface="Montserrat"/>
                <a:ea typeface="Montserrat"/>
                <a:cs typeface="Montserrat"/>
                <a:sym typeface="Montserrat"/>
              </a:rPr>
              <a:t>    0</a:t>
            </a:r>
            <a:r>
              <a:rPr lang="en-US" sz="1100" b="1" dirty="0">
                <a:latin typeface="Montserrat"/>
                <a:ea typeface="Montserrat"/>
                <a:cs typeface="Montserrat"/>
                <a:sym typeface="Wingdings" panose="05000000000000000000" pitchFamily="2" charset="2"/>
              </a:rPr>
              <a:t></a:t>
            </a:r>
            <a:r>
              <a:rPr lang="en-US" sz="1100" dirty="0">
                <a:latin typeface="Montserrat"/>
                <a:ea typeface="Montserrat"/>
                <a:cs typeface="Montserrat"/>
                <a:sym typeface="Montserrat"/>
              </a:rPr>
              <a:t>Without Helmet (320)</a:t>
            </a:r>
          </a:p>
          <a:p>
            <a:pPr marL="171450" lvl="0" indent="-171450">
              <a:lnSpc>
                <a:spcPct val="150000"/>
              </a:lnSpc>
              <a:buFont typeface="Wingdings" panose="05000000000000000000" pitchFamily="2" charset="2"/>
              <a:buChar char="§"/>
            </a:pPr>
            <a:r>
              <a:rPr lang="en-US" sz="1100" b="1" dirty="0">
                <a:latin typeface="Montserrat"/>
                <a:ea typeface="Montserrat"/>
                <a:cs typeface="Montserrat"/>
                <a:sym typeface="Montserrat"/>
              </a:rPr>
              <a:t>     1</a:t>
            </a:r>
            <a:r>
              <a:rPr lang="en-US" sz="1100" b="1" dirty="0">
                <a:latin typeface="Montserrat"/>
                <a:ea typeface="Montserrat"/>
                <a:cs typeface="Montserrat"/>
                <a:sym typeface="Wingdings" panose="05000000000000000000" pitchFamily="2" charset="2"/>
              </a:rPr>
              <a:t> </a:t>
            </a:r>
            <a:r>
              <a:rPr lang="en-US" sz="1100" dirty="0">
                <a:latin typeface="Montserrat"/>
                <a:ea typeface="Montserrat"/>
                <a:cs typeface="Montserrat"/>
                <a:sym typeface="Wingdings" panose="05000000000000000000" pitchFamily="2" charset="2"/>
              </a:rPr>
              <a:t>With Helmet (311)</a:t>
            </a:r>
            <a:endParaRPr lang="en-US" sz="1100" dirty="0">
              <a:latin typeface="Montserrat"/>
              <a:ea typeface="Montserrat"/>
              <a:cs typeface="Montserrat"/>
              <a:sym typeface="Montserrat"/>
            </a:endParaRPr>
          </a:p>
          <a:p>
            <a:pPr lvl="0">
              <a:lnSpc>
                <a:spcPct val="150000"/>
              </a:lnSpc>
            </a:pPr>
            <a:r>
              <a:rPr lang="en-US" b="1" dirty="0">
                <a:solidFill>
                  <a:srgbClr val="000000"/>
                </a:solidFill>
                <a:latin typeface="Montserrat"/>
                <a:ea typeface="Montserrat"/>
                <a:cs typeface="Montserrat"/>
                <a:sym typeface="Montserrat"/>
              </a:rPr>
              <a:t>  Shape: </a:t>
            </a:r>
            <a:r>
              <a:rPr lang="en-US" sz="1100" dirty="0">
                <a:solidFill>
                  <a:srgbClr val="000000"/>
                </a:solidFill>
                <a:latin typeface="Montserrat"/>
                <a:ea typeface="Montserrat"/>
                <a:cs typeface="Montserrat"/>
                <a:sym typeface="Montserrat"/>
              </a:rPr>
              <a:t>(631, 1) </a:t>
            </a:r>
          </a:p>
          <a:p>
            <a:pPr lvl="0">
              <a:lnSpc>
                <a:spcPct val="150000"/>
              </a:lnSpc>
            </a:pPr>
            <a:endParaRPr dirty="0">
              <a:solidFill>
                <a:srgbClr val="000000"/>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Exploratory Data Analysis</a:t>
            </a:r>
            <a:endParaRPr sz="2400" dirty="0">
              <a:solidFill>
                <a:srgbClr val="0E39A9"/>
              </a:solidFill>
            </a:endParaRPr>
          </a:p>
        </p:txBody>
      </p:sp>
      <p:sp>
        <p:nvSpPr>
          <p:cNvPr id="221" name="Google Shape;221;p41"/>
          <p:cNvSpPr txBox="1"/>
          <p:nvPr/>
        </p:nvSpPr>
        <p:spPr>
          <a:xfrm>
            <a:off x="4652956" y="861979"/>
            <a:ext cx="4288494" cy="2885375"/>
          </a:xfrm>
          <a:prstGeom prst="rect">
            <a:avLst/>
          </a:prstGeom>
          <a:noFill/>
          <a:ln>
            <a:noFill/>
          </a:ln>
        </p:spPr>
        <p:txBody>
          <a:bodyPr spcFirstLastPara="1" wrap="square" lIns="91425" tIns="91425" rIns="91425" bIns="91425" anchor="t" anchorCtr="0">
            <a:spAutoFit/>
          </a:bodyPr>
          <a:lstStyle/>
          <a:p>
            <a:r>
              <a:rPr lang="en-US" b="1" dirty="0"/>
              <a:t>Checking for Class Imbalance</a:t>
            </a:r>
            <a:r>
              <a:rPr lang="en-US" dirty="0"/>
              <a:t>: </a:t>
            </a:r>
          </a:p>
          <a:p>
            <a:endParaRPr lang="en-US" dirty="0"/>
          </a:p>
          <a:p>
            <a:pPr marL="285750" indent="-285750">
              <a:buFont typeface="Wingdings" panose="05000000000000000000" pitchFamily="2" charset="2"/>
              <a:buChar char="§"/>
            </a:pPr>
            <a:r>
              <a:rPr lang="en-US" sz="1200" b="1" dirty="0"/>
              <a:t>High Data Symmetry and Balance </a:t>
            </a:r>
            <a:r>
              <a:rPr lang="en-US" sz="1000" dirty="0"/>
              <a:t>: The dataset exhibits balance between the two target classes, with </a:t>
            </a:r>
            <a:r>
              <a:rPr lang="en-US" sz="1000" b="1" dirty="0"/>
              <a:t>320</a:t>
            </a:r>
            <a:r>
              <a:rPr lang="en-US" sz="1000" dirty="0"/>
              <a:t> samples for "</a:t>
            </a:r>
            <a:r>
              <a:rPr lang="en-US" sz="1000" b="1" dirty="0"/>
              <a:t>Without Helmet" (0) </a:t>
            </a:r>
            <a:r>
              <a:rPr lang="en-US" sz="1000" dirty="0"/>
              <a:t>and </a:t>
            </a:r>
            <a:r>
              <a:rPr lang="en-US" sz="1000" b="1" dirty="0"/>
              <a:t>311</a:t>
            </a:r>
            <a:r>
              <a:rPr lang="en-US" sz="1000" dirty="0"/>
              <a:t> samples for "</a:t>
            </a:r>
            <a:r>
              <a:rPr lang="en-US" sz="1000" b="1" dirty="0"/>
              <a:t>With Helmet" (1). </a:t>
            </a:r>
            <a:r>
              <a:rPr lang="en-US" sz="1000" dirty="0"/>
              <a:t>This near-perfect ratio (</a:t>
            </a:r>
            <a:r>
              <a:rPr lang="en-US" sz="1000" b="1" dirty="0"/>
              <a:t>approx. 51% to 49%) </a:t>
            </a:r>
            <a:r>
              <a:rPr lang="en-US" sz="1000" dirty="0"/>
              <a:t>ensures that the model </a:t>
            </a:r>
            <a:r>
              <a:rPr lang="en-US" sz="1000" b="1" dirty="0"/>
              <a:t>will not develop a statistical bias toward a majority class</a:t>
            </a:r>
            <a:r>
              <a:rPr lang="en-US" sz="1000" dirty="0"/>
              <a:t>,</a:t>
            </a:r>
          </a:p>
          <a:p>
            <a:pPr marL="285750" indent="-285750">
              <a:buFont typeface="Wingdings" panose="05000000000000000000" pitchFamily="2" charset="2"/>
              <a:buChar char="§"/>
            </a:pPr>
            <a:endParaRPr lang="en-US" sz="1000" dirty="0"/>
          </a:p>
          <a:p>
            <a:pPr marL="285750" indent="-285750">
              <a:buFont typeface="Wingdings" panose="05000000000000000000" pitchFamily="2" charset="2"/>
              <a:buChar char="§"/>
            </a:pPr>
            <a:r>
              <a:rPr lang="en-US" sz="1200" b="1" dirty="0"/>
              <a:t>Elimination of Accuracy Paradox Risks</a:t>
            </a:r>
            <a:r>
              <a:rPr lang="en-US" sz="1200" dirty="0"/>
              <a:t>: </a:t>
            </a:r>
            <a:r>
              <a:rPr lang="en-US" sz="1000" dirty="0"/>
              <a:t>Because the classes are balanced, </a:t>
            </a:r>
            <a:r>
              <a:rPr lang="en-US" sz="1000" b="1" dirty="0"/>
              <a:t>Accuracy</a:t>
            </a:r>
            <a:r>
              <a:rPr lang="en-US" sz="1000" dirty="0"/>
              <a:t> remains a reliable and meaningful metric as well  for this</a:t>
            </a:r>
          </a:p>
          <a:p>
            <a:pPr marL="285750" indent="-285750">
              <a:buFont typeface="Wingdings" panose="05000000000000000000" pitchFamily="2" charset="2"/>
              <a:buChar char="§"/>
            </a:pPr>
            <a:endParaRPr lang="en-US" sz="1000" dirty="0"/>
          </a:p>
          <a:p>
            <a:pPr marL="285750" indent="-285750">
              <a:buFont typeface="Wingdings" panose="05000000000000000000" pitchFamily="2" charset="2"/>
              <a:buChar char="§"/>
            </a:pPr>
            <a:r>
              <a:rPr lang="en-US" sz="1200" b="1" dirty="0"/>
              <a:t>Reliability of the Recall Metric: </a:t>
            </a:r>
            <a:r>
              <a:rPr lang="en-US" sz="1050" dirty="0"/>
              <a:t>The plot shows that the "</a:t>
            </a:r>
            <a:r>
              <a:rPr lang="en-US" sz="1050" b="1" dirty="0"/>
              <a:t>Without Helmet</a:t>
            </a:r>
            <a:r>
              <a:rPr lang="en-US" sz="1050" dirty="0"/>
              <a:t>" class is </a:t>
            </a:r>
            <a:r>
              <a:rPr lang="en-US" sz="1050" b="1" dirty="0"/>
              <a:t>slightly better </a:t>
            </a:r>
            <a:r>
              <a:rPr lang="en-US" sz="1050" dirty="0"/>
              <a:t>represented (</a:t>
            </a:r>
            <a:r>
              <a:rPr lang="en-US" sz="1050" b="1" dirty="0"/>
              <a:t>320 images). This is strategically advantageous becaus</a:t>
            </a:r>
            <a:r>
              <a:rPr lang="en-US" sz="1050" dirty="0"/>
              <a:t>e given objective prioritizes </a:t>
            </a:r>
            <a:r>
              <a:rPr lang="en-US" sz="1050" b="1" dirty="0"/>
              <a:t>Recall for the non-compliant class</a:t>
            </a:r>
            <a:r>
              <a:rPr lang="en-US" sz="1050" dirty="0"/>
              <a:t>.</a:t>
            </a:r>
            <a:endParaRPr lang="en-US" sz="1200" dirty="0"/>
          </a:p>
        </p:txBody>
      </p:sp>
      <p:pic>
        <p:nvPicPr>
          <p:cNvPr id="2" name="Picture 1">
            <a:extLst>
              <a:ext uri="{FF2B5EF4-FFF2-40B4-BE49-F238E27FC236}">
                <a16:creationId xmlns:a16="http://schemas.microsoft.com/office/drawing/2014/main" id="{C9BBFD5C-C9EA-F0B2-C7DD-A62DE64D768D}"/>
              </a:ext>
            </a:extLst>
          </p:cNvPr>
          <p:cNvPicPr>
            <a:picLocks noChangeAspect="1"/>
          </p:cNvPicPr>
          <p:nvPr/>
        </p:nvPicPr>
        <p:blipFill>
          <a:blip r:embed="rId3"/>
          <a:stretch>
            <a:fillRect/>
          </a:stretch>
        </p:blipFill>
        <p:spPr>
          <a:xfrm>
            <a:off x="140383" y="861980"/>
            <a:ext cx="4288494" cy="31375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Pre-processing</a:t>
            </a:r>
            <a:endParaRPr sz="2400">
              <a:solidFill>
                <a:srgbClr val="0E39A9"/>
              </a:solidFill>
            </a:endParaRPr>
          </a:p>
        </p:txBody>
      </p:sp>
      <p:sp>
        <p:nvSpPr>
          <p:cNvPr id="229" name="Google Shape;229;p42"/>
          <p:cNvSpPr txBox="1"/>
          <p:nvPr/>
        </p:nvSpPr>
        <p:spPr>
          <a:xfrm>
            <a:off x="345256" y="939490"/>
            <a:ext cx="8639718" cy="3854871"/>
          </a:xfrm>
          <a:prstGeom prst="rect">
            <a:avLst/>
          </a:prstGeom>
          <a:noFill/>
          <a:ln>
            <a:noFill/>
          </a:ln>
        </p:spPr>
        <p:txBody>
          <a:bodyPr spcFirstLastPara="1" wrap="square" lIns="91425" tIns="91425" rIns="91425" bIns="91425" anchor="t" anchorCtr="0">
            <a:spAutoFit/>
          </a:bodyPr>
          <a:lstStyle/>
          <a:p>
            <a:pPr lvl="0">
              <a:lnSpc>
                <a:spcPct val="150000"/>
              </a:lnSpc>
            </a:pPr>
            <a:r>
              <a:rPr lang="en-US" b="1" dirty="0">
                <a:latin typeface="Montserrat" panose="00000500000000000000" pitchFamily="2" charset="0"/>
              </a:rPr>
              <a:t>1. Gray Scaling : </a:t>
            </a:r>
            <a:r>
              <a:rPr lang="en-US" sz="1200" dirty="0">
                <a:latin typeface="Montserrat" panose="00000500000000000000" pitchFamily="2" charset="0"/>
              </a:rPr>
              <a:t>The </a:t>
            </a:r>
            <a:r>
              <a:rPr lang="en-US" sz="1200" b="1" dirty="0">
                <a:latin typeface="Montserrat" panose="00000500000000000000" pitchFamily="2" charset="0"/>
              </a:rPr>
              <a:t>OpenCV library (cv2.cvtColor() </a:t>
            </a:r>
            <a:r>
              <a:rPr lang="en-US" sz="1200" dirty="0">
                <a:latin typeface="Montserrat" panose="00000500000000000000" pitchFamily="2" charset="0"/>
              </a:rPr>
              <a:t>is used to convert the image to grayscale which is -  beneficial to </a:t>
            </a:r>
            <a:r>
              <a:rPr lang="en-US" sz="1200" b="1" dirty="0">
                <a:latin typeface="Montserrat" panose="00000500000000000000" pitchFamily="2" charset="0"/>
              </a:rPr>
              <a:t>reduces computational requirements</a:t>
            </a:r>
            <a:r>
              <a:rPr lang="en-US" sz="1200" dirty="0">
                <a:latin typeface="Montserrat" panose="00000500000000000000" pitchFamily="2" charset="0"/>
              </a:rPr>
              <a:t>.</a:t>
            </a:r>
            <a:endParaRPr lang="en-US" dirty="0">
              <a:latin typeface="Montserrat" panose="00000500000000000000" pitchFamily="2" charset="0"/>
            </a:endParaRPr>
          </a:p>
          <a:p>
            <a:pPr lvl="0">
              <a:lnSpc>
                <a:spcPct val="150000"/>
              </a:lnSpc>
            </a:pPr>
            <a:r>
              <a:rPr lang="en-US" b="1" dirty="0">
                <a:latin typeface="Montserrat" panose="00000500000000000000" pitchFamily="2" charset="0"/>
              </a:rPr>
              <a:t>2. Dataset  Splitting  : </a:t>
            </a:r>
          </a:p>
          <a:p>
            <a:pPr lvl="0">
              <a:lnSpc>
                <a:spcPct val="150000"/>
              </a:lnSpc>
            </a:pPr>
            <a:r>
              <a:rPr lang="en-US" sz="1200" b="1" dirty="0" err="1">
                <a:latin typeface="Montserrat" panose="00000500000000000000" pitchFamily="2" charset="0"/>
              </a:rPr>
              <a:t>train_test_split</a:t>
            </a:r>
            <a:r>
              <a:rPr lang="en-US" sz="1200" b="1" dirty="0">
                <a:latin typeface="Montserrat" panose="00000500000000000000" pitchFamily="2" charset="0"/>
              </a:rPr>
              <a:t>() </a:t>
            </a:r>
            <a:r>
              <a:rPr lang="en-US" sz="1200" dirty="0">
                <a:latin typeface="Montserrat" panose="00000500000000000000" pitchFamily="2" charset="0"/>
              </a:rPr>
              <a:t>function from scikit-learn is used to split the dataset into three parts, </a:t>
            </a:r>
            <a:r>
              <a:rPr lang="en-US" sz="1200" b="1" dirty="0">
                <a:latin typeface="Montserrat" panose="00000500000000000000" pitchFamily="2" charset="0"/>
              </a:rPr>
              <a:t>train, test and validation.</a:t>
            </a:r>
          </a:p>
          <a:p>
            <a:pPr marL="171450" indent="-171450">
              <a:lnSpc>
                <a:spcPct val="150000"/>
              </a:lnSpc>
              <a:buFont typeface="Wingdings" panose="05000000000000000000" pitchFamily="2" charset="2"/>
              <a:buChar char="§"/>
            </a:pPr>
            <a:r>
              <a:rPr lang="en-US" sz="1200" dirty="0">
                <a:latin typeface="Montserrat" panose="00000500000000000000" pitchFamily="2" charset="0"/>
              </a:rPr>
              <a:t>Using an </a:t>
            </a:r>
            <a:r>
              <a:rPr lang="en-US" sz="1200" b="1" dirty="0">
                <a:latin typeface="Montserrat" panose="00000500000000000000" pitchFamily="2" charset="0"/>
              </a:rPr>
              <a:t>80/10/10</a:t>
            </a:r>
            <a:r>
              <a:rPr lang="en-US" sz="1200" dirty="0">
                <a:latin typeface="Montserrat" panose="00000500000000000000" pitchFamily="2" charset="0"/>
              </a:rPr>
              <a:t> (Train/Val/Test) split to ensure the final evaluation is performed on completely </a:t>
            </a:r>
            <a:r>
              <a:rPr lang="en-US" sz="1200" b="1" dirty="0">
                <a:latin typeface="Montserrat" panose="00000500000000000000" pitchFamily="2" charset="0"/>
              </a:rPr>
              <a:t>unseen data </a:t>
            </a:r>
          </a:p>
          <a:p>
            <a:pPr marL="171450" lvl="1" indent="-171450">
              <a:lnSpc>
                <a:spcPct val="150000"/>
              </a:lnSpc>
              <a:buFont typeface="Wingdings" panose="05000000000000000000" pitchFamily="2" charset="2"/>
              <a:buChar char="§"/>
            </a:pPr>
            <a:r>
              <a:rPr lang="en-US" sz="1100" b="1" dirty="0">
                <a:latin typeface="Montserrat" panose="00000500000000000000" pitchFamily="2" charset="0"/>
              </a:rPr>
              <a:t>Train Image Dataset </a:t>
            </a:r>
            <a:r>
              <a:rPr lang="en-US" sz="1100" dirty="0">
                <a:latin typeface="Montserrat" panose="00000500000000000000" pitchFamily="2" charset="0"/>
              </a:rPr>
              <a:t>: (504, 200, 200, 3)  </a:t>
            </a:r>
            <a:r>
              <a:rPr lang="en-US" sz="1100" b="1" dirty="0">
                <a:latin typeface="Montserrat" panose="00000500000000000000" pitchFamily="2" charset="0"/>
              </a:rPr>
              <a:t>Train Label Dataset  </a:t>
            </a:r>
            <a:r>
              <a:rPr lang="en-US" sz="1100" dirty="0">
                <a:latin typeface="Montserrat" panose="00000500000000000000" pitchFamily="2" charset="0"/>
              </a:rPr>
              <a:t>(504, 1)</a:t>
            </a:r>
          </a:p>
          <a:p>
            <a:pPr marL="171450" lvl="1" indent="-171450">
              <a:lnSpc>
                <a:spcPct val="150000"/>
              </a:lnSpc>
              <a:buFont typeface="Wingdings" panose="05000000000000000000" pitchFamily="2" charset="2"/>
              <a:buChar char="§"/>
            </a:pPr>
            <a:r>
              <a:rPr lang="en-US" sz="1100" b="1" dirty="0">
                <a:latin typeface="Montserrat" panose="00000500000000000000" pitchFamily="2" charset="0"/>
              </a:rPr>
              <a:t>Validation Image Dataset </a:t>
            </a:r>
            <a:r>
              <a:rPr lang="en-US" sz="1100" dirty="0">
                <a:latin typeface="Montserrat" panose="00000500000000000000" pitchFamily="2" charset="0"/>
              </a:rPr>
              <a:t>: (63, 200, 200, 3)  </a:t>
            </a:r>
            <a:r>
              <a:rPr lang="en-US" sz="1100" b="1" dirty="0">
                <a:latin typeface="Montserrat" panose="00000500000000000000" pitchFamily="2" charset="0"/>
              </a:rPr>
              <a:t>Validation Label Datasets </a:t>
            </a:r>
            <a:r>
              <a:rPr lang="en-US" sz="1100" dirty="0">
                <a:latin typeface="Montserrat" panose="00000500000000000000" pitchFamily="2" charset="0"/>
              </a:rPr>
              <a:t>(63, 1)</a:t>
            </a:r>
          </a:p>
          <a:p>
            <a:pPr marL="171450" lvl="1" indent="-171450">
              <a:lnSpc>
                <a:spcPct val="150000"/>
              </a:lnSpc>
              <a:buFont typeface="Wingdings" panose="05000000000000000000" pitchFamily="2" charset="2"/>
              <a:buChar char="§"/>
            </a:pPr>
            <a:r>
              <a:rPr lang="en-US" sz="1100" b="1" dirty="0">
                <a:latin typeface="Montserrat" panose="00000500000000000000" pitchFamily="2" charset="0"/>
              </a:rPr>
              <a:t>Test Image Dataset </a:t>
            </a:r>
            <a:r>
              <a:rPr lang="en-US" sz="1100" dirty="0">
                <a:latin typeface="Montserrat" panose="00000500000000000000" pitchFamily="2" charset="0"/>
              </a:rPr>
              <a:t>: 64, 200, 200, 3)  </a:t>
            </a:r>
            <a:r>
              <a:rPr lang="en-US" sz="1100" b="1" dirty="0">
                <a:latin typeface="Montserrat" panose="00000500000000000000" pitchFamily="2" charset="0"/>
              </a:rPr>
              <a:t>Test Label Dataset </a:t>
            </a:r>
            <a:r>
              <a:rPr lang="en-US" sz="1100" dirty="0">
                <a:latin typeface="Montserrat" panose="00000500000000000000" pitchFamily="2" charset="0"/>
              </a:rPr>
              <a:t>(64, 1)</a:t>
            </a:r>
          </a:p>
          <a:p>
            <a:pPr lvl="0">
              <a:lnSpc>
                <a:spcPct val="150000"/>
              </a:lnSpc>
            </a:pPr>
            <a:r>
              <a:rPr lang="en-US" b="1" dirty="0">
                <a:solidFill>
                  <a:srgbClr val="000000"/>
                </a:solidFill>
                <a:latin typeface="Montserrat"/>
                <a:ea typeface="Montserrat"/>
                <a:cs typeface="Montserrat"/>
                <a:sym typeface="Montserrat"/>
              </a:rPr>
              <a:t>3. Data Normalization </a:t>
            </a:r>
            <a:r>
              <a:rPr lang="en-US" b="1" dirty="0">
                <a:latin typeface="Montserrat"/>
                <a:ea typeface="Montserrat"/>
                <a:cs typeface="Montserrat"/>
                <a:sym typeface="Montserrat"/>
              </a:rPr>
              <a:t>: </a:t>
            </a:r>
            <a:br>
              <a:rPr lang="en-US" b="1" dirty="0">
                <a:latin typeface="Montserrat"/>
                <a:ea typeface="Montserrat"/>
                <a:cs typeface="Montserrat"/>
                <a:sym typeface="Montserrat"/>
              </a:rPr>
            </a:br>
            <a:r>
              <a:rPr lang="en-US" sz="1200" dirty="0">
                <a:latin typeface="Montserrat"/>
                <a:ea typeface="Montserrat"/>
                <a:cs typeface="Montserrat"/>
                <a:sym typeface="Montserrat"/>
              </a:rPr>
              <a:t>As the image pixel values range from </a:t>
            </a:r>
            <a:r>
              <a:rPr lang="en-US" sz="1200" b="1" dirty="0">
                <a:latin typeface="Montserrat"/>
                <a:ea typeface="Montserrat"/>
                <a:cs typeface="Montserrat"/>
                <a:sym typeface="Montserrat"/>
              </a:rPr>
              <a:t>0-255</a:t>
            </a:r>
            <a:r>
              <a:rPr lang="en-US" sz="1200" dirty="0">
                <a:latin typeface="Montserrat"/>
                <a:ea typeface="Montserrat"/>
                <a:cs typeface="Montserrat"/>
                <a:sym typeface="Montserrat"/>
              </a:rPr>
              <a:t> , hence scaling as method of normalization is used and for it and  all the pixel values are divided  by 255 to standardize the images to have values between 0-1.</a:t>
            </a:r>
            <a:endParaRPr dirty="0">
              <a:solidFill>
                <a:srgbClr val="000000"/>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Basic Convolutional Neural Network- MODEL1C</a:t>
            </a:r>
            <a:endParaRPr sz="2400" dirty="0">
              <a:solidFill>
                <a:srgbClr val="0E39A9"/>
              </a:solidFill>
            </a:endParaRPr>
          </a:p>
        </p:txBody>
      </p:sp>
      <p:sp>
        <p:nvSpPr>
          <p:cNvPr id="10" name="TextBox 9">
            <a:extLst>
              <a:ext uri="{FF2B5EF4-FFF2-40B4-BE49-F238E27FC236}">
                <a16:creationId xmlns:a16="http://schemas.microsoft.com/office/drawing/2014/main" id="{92CBC6D0-8402-CE6C-BB61-2ACFA1C79F67}"/>
              </a:ext>
            </a:extLst>
          </p:cNvPr>
          <p:cNvSpPr txBox="1"/>
          <p:nvPr/>
        </p:nvSpPr>
        <p:spPr>
          <a:xfrm>
            <a:off x="132866" y="951275"/>
            <a:ext cx="2362200" cy="307777"/>
          </a:xfrm>
          <a:prstGeom prst="rect">
            <a:avLst/>
          </a:prstGeom>
          <a:noFill/>
        </p:spPr>
        <p:txBody>
          <a:bodyPr wrap="square" rtlCol="0">
            <a:spAutoFit/>
          </a:bodyPr>
          <a:lstStyle/>
          <a:p>
            <a:r>
              <a:rPr lang="en-US" b="1" dirty="0">
                <a:latin typeface="Nunito" pitchFamily="2" charset="0"/>
              </a:rPr>
              <a:t>Model  Configurations </a:t>
            </a:r>
          </a:p>
        </p:txBody>
      </p:sp>
      <p:sp>
        <p:nvSpPr>
          <p:cNvPr id="11" name="TextBox 10">
            <a:extLst>
              <a:ext uri="{FF2B5EF4-FFF2-40B4-BE49-F238E27FC236}">
                <a16:creationId xmlns:a16="http://schemas.microsoft.com/office/drawing/2014/main" id="{67A9BD1E-019F-C9EC-E1A7-E58C108AC9D3}"/>
              </a:ext>
            </a:extLst>
          </p:cNvPr>
          <p:cNvSpPr txBox="1"/>
          <p:nvPr/>
        </p:nvSpPr>
        <p:spPr>
          <a:xfrm>
            <a:off x="5834564" y="1505659"/>
            <a:ext cx="1723436" cy="307777"/>
          </a:xfrm>
          <a:prstGeom prst="rect">
            <a:avLst/>
          </a:prstGeom>
          <a:noFill/>
        </p:spPr>
        <p:txBody>
          <a:bodyPr wrap="square" rtlCol="0">
            <a:spAutoFit/>
          </a:bodyPr>
          <a:lstStyle/>
          <a:p>
            <a:r>
              <a:rPr lang="en-US" b="1" dirty="0">
                <a:latin typeface="Nunito" pitchFamily="2" charset="0"/>
              </a:rPr>
              <a:t>Model  Summary  </a:t>
            </a:r>
          </a:p>
        </p:txBody>
      </p:sp>
      <p:pic>
        <p:nvPicPr>
          <p:cNvPr id="3" name="Picture 2">
            <a:extLst>
              <a:ext uri="{FF2B5EF4-FFF2-40B4-BE49-F238E27FC236}">
                <a16:creationId xmlns:a16="http://schemas.microsoft.com/office/drawing/2014/main" id="{E0FED368-97E6-188B-7068-869A96B7C176}"/>
              </a:ext>
            </a:extLst>
          </p:cNvPr>
          <p:cNvPicPr>
            <a:picLocks noChangeAspect="1"/>
          </p:cNvPicPr>
          <p:nvPr/>
        </p:nvPicPr>
        <p:blipFill>
          <a:blip r:embed="rId3"/>
          <a:stretch>
            <a:fillRect/>
          </a:stretch>
        </p:blipFill>
        <p:spPr>
          <a:xfrm>
            <a:off x="132866" y="1259052"/>
            <a:ext cx="4998603" cy="2327646"/>
          </a:xfrm>
          <a:prstGeom prst="rect">
            <a:avLst/>
          </a:prstGeom>
        </p:spPr>
      </p:pic>
      <p:pic>
        <p:nvPicPr>
          <p:cNvPr id="5" name="Picture 4">
            <a:extLst>
              <a:ext uri="{FF2B5EF4-FFF2-40B4-BE49-F238E27FC236}">
                <a16:creationId xmlns:a16="http://schemas.microsoft.com/office/drawing/2014/main" id="{2CB71D2D-4940-E0FA-ED0E-25D2DE34A457}"/>
              </a:ext>
            </a:extLst>
          </p:cNvPr>
          <p:cNvPicPr>
            <a:picLocks noChangeAspect="1"/>
          </p:cNvPicPr>
          <p:nvPr/>
        </p:nvPicPr>
        <p:blipFill>
          <a:blip r:embed="rId4"/>
          <a:stretch>
            <a:fillRect/>
          </a:stretch>
        </p:blipFill>
        <p:spPr>
          <a:xfrm>
            <a:off x="4572000" y="1971408"/>
            <a:ext cx="4248564" cy="2745856"/>
          </a:xfrm>
          <a:prstGeom prst="rect">
            <a:avLst/>
          </a:prstGeom>
        </p:spPr>
      </p:pic>
      <p:sp>
        <p:nvSpPr>
          <p:cNvPr id="7" name="TextBox 6">
            <a:extLst>
              <a:ext uri="{FF2B5EF4-FFF2-40B4-BE49-F238E27FC236}">
                <a16:creationId xmlns:a16="http://schemas.microsoft.com/office/drawing/2014/main" id="{9A66BE3D-F100-9B33-2CEF-4FFA6D3BF39C}"/>
              </a:ext>
            </a:extLst>
          </p:cNvPr>
          <p:cNvSpPr txBox="1"/>
          <p:nvPr/>
        </p:nvSpPr>
        <p:spPr>
          <a:xfrm>
            <a:off x="132866" y="3781425"/>
            <a:ext cx="2191234" cy="400110"/>
          </a:xfrm>
          <a:prstGeom prst="rect">
            <a:avLst/>
          </a:prstGeom>
          <a:noFill/>
        </p:spPr>
        <p:txBody>
          <a:bodyPr wrap="square" rtlCol="0">
            <a:spAutoFit/>
          </a:bodyPr>
          <a:lstStyle/>
          <a:p>
            <a:r>
              <a:rPr lang="en-US" sz="1000" dirty="0">
                <a:latin typeface="Nunito" pitchFamily="2" charset="0"/>
              </a:rPr>
              <a:t>Batch Size=128</a:t>
            </a:r>
          </a:p>
          <a:p>
            <a:r>
              <a:rPr lang="en-US" sz="1000" dirty="0">
                <a:latin typeface="Nunito" pitchFamily="2" charset="0"/>
              </a:rPr>
              <a:t>Epochs=11</a:t>
            </a:r>
          </a:p>
        </p:txBody>
      </p:sp>
      <p:sp>
        <p:nvSpPr>
          <p:cNvPr id="2" name="TextBox 1">
            <a:extLst>
              <a:ext uri="{FF2B5EF4-FFF2-40B4-BE49-F238E27FC236}">
                <a16:creationId xmlns:a16="http://schemas.microsoft.com/office/drawing/2014/main" id="{24967A47-980E-57D1-2347-FA742DAC1177}"/>
              </a:ext>
            </a:extLst>
          </p:cNvPr>
          <p:cNvSpPr txBox="1"/>
          <p:nvPr/>
        </p:nvSpPr>
        <p:spPr>
          <a:xfrm>
            <a:off x="132866" y="4281521"/>
            <a:ext cx="4318248" cy="677108"/>
          </a:xfrm>
          <a:prstGeom prst="rect">
            <a:avLst/>
          </a:prstGeom>
          <a:noFill/>
        </p:spPr>
        <p:txBody>
          <a:bodyPr wrap="square" rtlCol="0">
            <a:spAutoFit/>
          </a:bodyPr>
          <a:lstStyle/>
          <a:p>
            <a:r>
              <a:rPr lang="en-US" sz="1050" b="1" u="sng" dirty="0">
                <a:latin typeface="Montserrat" panose="00000500000000000000" pitchFamily="2" charset="0"/>
              </a:rPr>
              <a:t>Note</a:t>
            </a:r>
            <a:r>
              <a:rPr lang="en-US" sz="1100" dirty="0">
                <a:latin typeface="Montserrat" panose="00000500000000000000" pitchFamily="2" charset="0"/>
              </a:rPr>
              <a:t> : </a:t>
            </a:r>
            <a:r>
              <a:rPr lang="en-US" sz="900" i="1" dirty="0">
                <a:latin typeface="Montserrat" panose="00000500000000000000" pitchFamily="2" charset="0"/>
              </a:rPr>
              <a:t>I have tried various combination of the configurations for  Model1 as model1A , Model1B and Model1C and found </a:t>
            </a:r>
            <a:r>
              <a:rPr lang="en-US" sz="900" b="1" i="1" dirty="0">
                <a:latin typeface="Montserrat" panose="00000500000000000000" pitchFamily="2" charset="0"/>
              </a:rPr>
              <a:t>Model1C</a:t>
            </a:r>
            <a:r>
              <a:rPr lang="en-US" sz="900" i="1" dirty="0">
                <a:latin typeface="Montserrat" panose="00000500000000000000" pitchFamily="2" charset="0"/>
              </a:rPr>
              <a:t> is the best model </a:t>
            </a:r>
            <a:r>
              <a:rPr lang="en-US" sz="900" b="1" i="1" dirty="0">
                <a:latin typeface="Montserrat" panose="00000500000000000000" pitchFamily="2" charset="0"/>
              </a:rPr>
              <a:t>based on the generalization and the simplicity </a:t>
            </a:r>
            <a:r>
              <a:rPr lang="en-US" sz="900" i="1" dirty="0">
                <a:latin typeface="Montserrat" panose="00000500000000000000" pitchFamily="2" charset="0"/>
              </a:rPr>
              <a:t>for basic CNN and others were overfitting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2555939-E528-9420-708B-6233C6C0F17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A0F5327-B08F-238A-DFDB-50840A8D1D6B}"/>
              </a:ext>
            </a:extLst>
          </p:cNvPr>
          <p:cNvSpPr/>
          <p:nvPr/>
        </p:nvSpPr>
        <p:spPr>
          <a:xfrm>
            <a:off x="3808675" y="1138978"/>
            <a:ext cx="757032" cy="12312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C10E6D8B-19CB-D055-5266-CFD6930A2C27}"/>
              </a:ext>
            </a:extLst>
          </p:cNvPr>
          <p:cNvSpPr/>
          <p:nvPr/>
        </p:nvSpPr>
        <p:spPr>
          <a:xfrm>
            <a:off x="2019631" y="1138978"/>
            <a:ext cx="731520" cy="11748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4" name="Google Shape;234;p43">
            <a:extLst>
              <a:ext uri="{FF2B5EF4-FFF2-40B4-BE49-F238E27FC236}">
                <a16:creationId xmlns:a16="http://schemas.microsoft.com/office/drawing/2014/main" id="{5B67D748-0E36-0D1E-A5DE-F03FB48DCA0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Basic Convolutional Neural Network- MODEL1C</a:t>
            </a:r>
            <a:endParaRPr sz="2400" dirty="0">
              <a:solidFill>
                <a:srgbClr val="0E39A9"/>
              </a:solidFill>
            </a:endParaRPr>
          </a:p>
        </p:txBody>
      </p:sp>
      <p:pic>
        <p:nvPicPr>
          <p:cNvPr id="2" name="Picture 1">
            <a:extLst>
              <a:ext uri="{FF2B5EF4-FFF2-40B4-BE49-F238E27FC236}">
                <a16:creationId xmlns:a16="http://schemas.microsoft.com/office/drawing/2014/main" id="{71225047-594A-2B6D-E6B0-E4127368CF19}"/>
              </a:ext>
            </a:extLst>
          </p:cNvPr>
          <p:cNvPicPr>
            <a:picLocks noChangeAspect="1"/>
          </p:cNvPicPr>
          <p:nvPr/>
        </p:nvPicPr>
        <p:blipFill>
          <a:blip r:embed="rId3"/>
          <a:stretch>
            <a:fillRect/>
          </a:stretch>
        </p:blipFill>
        <p:spPr>
          <a:xfrm>
            <a:off x="5660375" y="861979"/>
            <a:ext cx="3369325" cy="2675467"/>
          </a:xfrm>
          <a:prstGeom prst="rect">
            <a:avLst/>
          </a:prstGeom>
        </p:spPr>
      </p:pic>
      <p:graphicFrame>
        <p:nvGraphicFramePr>
          <p:cNvPr id="3" name="Table 2">
            <a:extLst>
              <a:ext uri="{FF2B5EF4-FFF2-40B4-BE49-F238E27FC236}">
                <a16:creationId xmlns:a16="http://schemas.microsoft.com/office/drawing/2014/main" id="{F94D7C78-5948-D99F-4214-D7ED2B7FB308}"/>
              </a:ext>
            </a:extLst>
          </p:cNvPr>
          <p:cNvGraphicFramePr>
            <a:graphicFrameLocks noGrp="1"/>
          </p:cNvGraphicFramePr>
          <p:nvPr>
            <p:extLst>
              <p:ext uri="{D42A27DB-BD31-4B8C-83A1-F6EECF244321}">
                <p14:modId xmlns:p14="http://schemas.microsoft.com/office/powerpoint/2010/main" val="3134790348"/>
              </p:ext>
            </p:extLst>
          </p:nvPr>
        </p:nvGraphicFramePr>
        <p:xfrm>
          <a:off x="205075" y="1138978"/>
          <a:ext cx="4419680" cy="1231220"/>
        </p:xfrm>
        <a:graphic>
          <a:graphicData uri="http://schemas.openxmlformats.org/drawingml/2006/table">
            <a:tbl>
              <a:tblPr firstRow="1" bandRow="1">
                <a:tableStyleId>{A1BBC871-F89B-45A3-A074-B200C202542C}</a:tableStyleId>
              </a:tblPr>
              <a:tblGrid>
                <a:gridCol w="883936">
                  <a:extLst>
                    <a:ext uri="{9D8B030D-6E8A-4147-A177-3AD203B41FA5}">
                      <a16:colId xmlns:a16="http://schemas.microsoft.com/office/drawing/2014/main" val="1826010120"/>
                    </a:ext>
                  </a:extLst>
                </a:gridCol>
                <a:gridCol w="883936">
                  <a:extLst>
                    <a:ext uri="{9D8B030D-6E8A-4147-A177-3AD203B41FA5}">
                      <a16:colId xmlns:a16="http://schemas.microsoft.com/office/drawing/2014/main" val="1798283218"/>
                    </a:ext>
                  </a:extLst>
                </a:gridCol>
                <a:gridCol w="883936">
                  <a:extLst>
                    <a:ext uri="{9D8B030D-6E8A-4147-A177-3AD203B41FA5}">
                      <a16:colId xmlns:a16="http://schemas.microsoft.com/office/drawing/2014/main" val="3626656194"/>
                    </a:ext>
                  </a:extLst>
                </a:gridCol>
                <a:gridCol w="883936">
                  <a:extLst>
                    <a:ext uri="{9D8B030D-6E8A-4147-A177-3AD203B41FA5}">
                      <a16:colId xmlns:a16="http://schemas.microsoft.com/office/drawing/2014/main" val="2808250687"/>
                    </a:ext>
                  </a:extLst>
                </a:gridCol>
                <a:gridCol w="883936">
                  <a:extLst>
                    <a:ext uri="{9D8B030D-6E8A-4147-A177-3AD203B41FA5}">
                      <a16:colId xmlns:a16="http://schemas.microsoft.com/office/drawing/2014/main" val="3197973654"/>
                    </a:ext>
                  </a:extLst>
                </a:gridCol>
              </a:tblGrid>
              <a:tr h="416618">
                <a:tc>
                  <a:txBody>
                    <a:bodyPr/>
                    <a:lstStyle/>
                    <a:p>
                      <a:r>
                        <a:rPr lang="en-US" sz="1200" dirty="0"/>
                        <a:t>Type of Dataset</a:t>
                      </a:r>
                    </a:p>
                  </a:txBody>
                  <a:tcPr/>
                </a:tc>
                <a:tc>
                  <a:txBody>
                    <a:bodyPr/>
                    <a:lstStyle/>
                    <a:p>
                      <a:r>
                        <a:rPr lang="en-US" sz="1200" dirty="0"/>
                        <a:t>Accuracy</a:t>
                      </a:r>
                    </a:p>
                  </a:txBody>
                  <a:tcPr/>
                </a:tc>
                <a:tc>
                  <a:txBody>
                    <a:bodyPr/>
                    <a:lstStyle/>
                    <a:p>
                      <a:r>
                        <a:rPr lang="en-US" sz="1200" dirty="0"/>
                        <a:t>Recall</a:t>
                      </a:r>
                    </a:p>
                  </a:txBody>
                  <a:tcPr/>
                </a:tc>
                <a:tc>
                  <a:txBody>
                    <a:bodyPr/>
                    <a:lstStyle/>
                    <a:p>
                      <a:r>
                        <a:rPr lang="en-US" sz="1200" dirty="0"/>
                        <a:t>Precision </a:t>
                      </a:r>
                    </a:p>
                  </a:txBody>
                  <a:tcPr/>
                </a:tc>
                <a:tc>
                  <a:txBody>
                    <a:bodyPr/>
                    <a:lstStyle/>
                    <a:p>
                      <a:r>
                        <a:rPr lang="en-US" sz="1200" dirty="0"/>
                        <a:t>F1 Score</a:t>
                      </a:r>
                    </a:p>
                  </a:txBody>
                  <a:tcPr/>
                </a:tc>
                <a:extLst>
                  <a:ext uri="{0D108BD9-81ED-4DB2-BD59-A6C34878D82A}">
                    <a16:rowId xmlns:a16="http://schemas.microsoft.com/office/drawing/2014/main" val="663711120"/>
                  </a:ext>
                </a:extLst>
              </a:tr>
              <a:tr h="499700">
                <a:tc>
                  <a:txBody>
                    <a:bodyPr/>
                    <a:lstStyle/>
                    <a:p>
                      <a:r>
                        <a:rPr lang="en-US" sz="1100" b="1" dirty="0"/>
                        <a:t>Training</a:t>
                      </a:r>
                      <a:r>
                        <a:rPr lang="en-US" sz="1200" dirty="0"/>
                        <a:t> </a:t>
                      </a:r>
                    </a:p>
                  </a:txBody>
                  <a:tcPr/>
                </a:tc>
                <a:tc>
                  <a:txBody>
                    <a:bodyPr/>
                    <a:lstStyle/>
                    <a:p>
                      <a:r>
                        <a:rPr lang="en-US" sz="1200" dirty="0"/>
                        <a:t>0.938492</a:t>
                      </a:r>
                    </a:p>
                  </a:txBody>
                  <a:tcPr/>
                </a:tc>
                <a:tc>
                  <a:txBody>
                    <a:bodyPr/>
                    <a:lstStyle/>
                    <a:p>
                      <a:r>
                        <a:rPr lang="en-US" sz="1200" b="1" dirty="0"/>
                        <a:t>0.938492</a:t>
                      </a:r>
                    </a:p>
                    <a:p>
                      <a:endParaRPr lang="en-US" sz="1200" b="1" dirty="0"/>
                    </a:p>
                  </a:txBody>
                  <a:tcPr/>
                </a:tc>
                <a:tc>
                  <a:txBody>
                    <a:bodyPr/>
                    <a:lstStyle/>
                    <a:p>
                      <a:r>
                        <a:rPr lang="en-US" sz="1200" dirty="0"/>
                        <a:t>0.942935</a:t>
                      </a:r>
                    </a:p>
                  </a:txBody>
                  <a:tcPr/>
                </a:tc>
                <a:tc>
                  <a:txBody>
                    <a:bodyPr/>
                    <a:lstStyle/>
                    <a:p>
                      <a:r>
                        <a:rPr lang="en-US" sz="1200" b="1" dirty="0"/>
                        <a:t>0.938389</a:t>
                      </a:r>
                    </a:p>
                  </a:txBody>
                  <a:tcPr/>
                </a:tc>
                <a:extLst>
                  <a:ext uri="{0D108BD9-81ED-4DB2-BD59-A6C34878D82A}">
                    <a16:rowId xmlns:a16="http://schemas.microsoft.com/office/drawing/2014/main" val="336585892"/>
                  </a:ext>
                </a:extLst>
              </a:tr>
              <a:tr h="249971">
                <a:tc>
                  <a:txBody>
                    <a:bodyPr/>
                    <a:lstStyle/>
                    <a:p>
                      <a:r>
                        <a:rPr lang="en-US" sz="1100" b="1" dirty="0"/>
                        <a:t>Validation</a:t>
                      </a:r>
                      <a:r>
                        <a:rPr lang="en-US" sz="1200" dirty="0"/>
                        <a:t> </a:t>
                      </a:r>
                    </a:p>
                  </a:txBody>
                  <a:tcPr/>
                </a:tc>
                <a:tc>
                  <a:txBody>
                    <a:bodyPr/>
                    <a:lstStyle/>
                    <a:p>
                      <a:r>
                        <a:rPr lang="en-US" sz="1200" dirty="0"/>
                        <a:t>0.952381</a:t>
                      </a:r>
                    </a:p>
                  </a:txBody>
                  <a:tcPr/>
                </a:tc>
                <a:tc>
                  <a:txBody>
                    <a:bodyPr/>
                    <a:lstStyle/>
                    <a:p>
                      <a:r>
                        <a:rPr lang="en-US" sz="1200" b="1" dirty="0"/>
                        <a:t>0.952381</a:t>
                      </a:r>
                    </a:p>
                  </a:txBody>
                  <a:tcPr/>
                </a:tc>
                <a:tc>
                  <a:txBody>
                    <a:bodyPr/>
                    <a:lstStyle/>
                    <a:p>
                      <a:r>
                        <a:rPr lang="en-US" sz="1200" dirty="0"/>
                        <a:t>0.956583</a:t>
                      </a:r>
                    </a:p>
                  </a:txBody>
                  <a:tcPr/>
                </a:tc>
                <a:tc>
                  <a:txBody>
                    <a:bodyPr/>
                    <a:lstStyle/>
                    <a:p>
                      <a:r>
                        <a:rPr lang="en-US" sz="1200" b="1" dirty="0"/>
                        <a:t>0.952309</a:t>
                      </a:r>
                    </a:p>
                  </a:txBody>
                  <a:tcPr/>
                </a:tc>
                <a:extLst>
                  <a:ext uri="{0D108BD9-81ED-4DB2-BD59-A6C34878D82A}">
                    <a16:rowId xmlns:a16="http://schemas.microsoft.com/office/drawing/2014/main" val="3210421736"/>
                  </a:ext>
                </a:extLst>
              </a:tr>
            </a:tbl>
          </a:graphicData>
        </a:graphic>
      </p:graphicFrame>
      <p:sp>
        <p:nvSpPr>
          <p:cNvPr id="4" name="TextBox 3">
            <a:extLst>
              <a:ext uri="{FF2B5EF4-FFF2-40B4-BE49-F238E27FC236}">
                <a16:creationId xmlns:a16="http://schemas.microsoft.com/office/drawing/2014/main" id="{A54EBF3E-92DB-BE09-A894-9B89950DD992}"/>
              </a:ext>
            </a:extLst>
          </p:cNvPr>
          <p:cNvSpPr txBox="1"/>
          <p:nvPr/>
        </p:nvSpPr>
        <p:spPr>
          <a:xfrm>
            <a:off x="314244" y="861979"/>
            <a:ext cx="2064400" cy="276999"/>
          </a:xfrm>
          <a:prstGeom prst="rect">
            <a:avLst/>
          </a:prstGeom>
          <a:noFill/>
        </p:spPr>
        <p:txBody>
          <a:bodyPr wrap="square" rtlCol="0">
            <a:spAutoFit/>
          </a:bodyPr>
          <a:lstStyle/>
          <a:p>
            <a:r>
              <a:rPr lang="en-US" sz="1200" b="1" dirty="0">
                <a:latin typeface="Montserrat"/>
              </a:rPr>
              <a:t>Performance Metrics </a:t>
            </a:r>
          </a:p>
        </p:txBody>
      </p:sp>
      <p:sp>
        <p:nvSpPr>
          <p:cNvPr id="5" name="TextBox 4">
            <a:extLst>
              <a:ext uri="{FF2B5EF4-FFF2-40B4-BE49-F238E27FC236}">
                <a16:creationId xmlns:a16="http://schemas.microsoft.com/office/drawing/2014/main" id="{7F3628F9-7CA8-BBBE-427D-651058692B75}"/>
              </a:ext>
            </a:extLst>
          </p:cNvPr>
          <p:cNvSpPr txBox="1"/>
          <p:nvPr/>
        </p:nvSpPr>
        <p:spPr>
          <a:xfrm>
            <a:off x="114300" y="2437145"/>
            <a:ext cx="5693426" cy="2908489"/>
          </a:xfrm>
          <a:prstGeom prst="rect">
            <a:avLst/>
          </a:prstGeom>
          <a:noFill/>
        </p:spPr>
        <p:txBody>
          <a:bodyPr wrap="square" rtlCol="0">
            <a:spAutoFit/>
          </a:bodyPr>
          <a:lstStyle/>
          <a:p>
            <a:r>
              <a:rPr lang="en-US" b="1" dirty="0">
                <a:latin typeface="Montserrat" panose="00000500000000000000" pitchFamily="2" charset="0"/>
              </a:rPr>
              <a:t>Observations :</a:t>
            </a:r>
          </a:p>
          <a:p>
            <a:endParaRPr lang="en-US" b="1" dirty="0"/>
          </a:p>
          <a:p>
            <a:pPr marL="285750" indent="-285750">
              <a:buFont typeface="Wingdings" panose="05000000000000000000" pitchFamily="2" charset="2"/>
              <a:buChar char="§"/>
            </a:pPr>
            <a:r>
              <a:rPr lang="en-US" sz="1200" b="1" dirty="0">
                <a:latin typeface="Montserrat" panose="00000500000000000000" pitchFamily="2" charset="0"/>
              </a:rPr>
              <a:t>Exceptional Convergence &amp; Stability: </a:t>
            </a:r>
            <a:r>
              <a:rPr lang="en-US" sz="1000" dirty="0">
                <a:latin typeface="Montserrat" panose="00000500000000000000" pitchFamily="2" charset="0"/>
              </a:rPr>
              <a:t>The Recall plot shows an incredibly strong performance. Both the </a:t>
            </a:r>
            <a:r>
              <a:rPr lang="en-US" sz="1000" b="1" dirty="0">
                <a:latin typeface="Montserrat" panose="00000500000000000000" pitchFamily="2" charset="0"/>
              </a:rPr>
              <a:t>Training Recall</a:t>
            </a:r>
            <a:r>
              <a:rPr lang="en-US" sz="1000" dirty="0">
                <a:latin typeface="Montserrat" panose="00000500000000000000" pitchFamily="2" charset="0"/>
              </a:rPr>
              <a:t> and </a:t>
            </a:r>
            <a:r>
              <a:rPr lang="en-US" sz="1000" b="1" dirty="0">
                <a:latin typeface="Montserrat" panose="00000500000000000000" pitchFamily="2" charset="0"/>
              </a:rPr>
              <a:t>Validation Recall</a:t>
            </a:r>
            <a:r>
              <a:rPr lang="en-US" sz="1000" dirty="0">
                <a:latin typeface="Montserrat" panose="00000500000000000000" pitchFamily="2" charset="0"/>
              </a:rPr>
              <a:t> curves rise sharply and plateau at approximately </a:t>
            </a:r>
            <a:r>
              <a:rPr lang="en-US" sz="1000" b="1" dirty="0">
                <a:latin typeface="Montserrat" panose="00000500000000000000" pitchFamily="2" charset="0"/>
              </a:rPr>
              <a:t>1.0 (100%)</a:t>
            </a:r>
            <a:r>
              <a:rPr lang="en-US" sz="1000" dirty="0">
                <a:latin typeface="Montserrat" panose="00000500000000000000" pitchFamily="2" charset="0"/>
              </a:rPr>
              <a:t> very early in the training process (within the first few epochs) </a:t>
            </a:r>
          </a:p>
          <a:p>
            <a:pPr marL="285750" indent="-285750">
              <a:buFont typeface="Wingdings" panose="05000000000000000000" pitchFamily="2" charset="2"/>
              <a:buChar char="§"/>
            </a:pPr>
            <a:endParaRPr lang="en-US" dirty="0">
              <a:latin typeface="Montserrat" panose="00000500000000000000" pitchFamily="2" charset="0"/>
            </a:endParaRPr>
          </a:p>
          <a:p>
            <a:pPr marL="285750" indent="-285750">
              <a:buFont typeface="Wingdings" panose="05000000000000000000" pitchFamily="2" charset="2"/>
              <a:buChar char="§"/>
            </a:pPr>
            <a:r>
              <a:rPr lang="en-US" sz="1200" b="1" dirty="0">
                <a:latin typeface="Montserrat" panose="00000500000000000000" pitchFamily="2" charset="0"/>
              </a:rPr>
              <a:t>Rapid Learning </a:t>
            </a:r>
            <a:r>
              <a:rPr lang="en-US" dirty="0">
                <a:latin typeface="Montserrat" panose="00000500000000000000" pitchFamily="2" charset="0"/>
              </a:rPr>
              <a:t>: </a:t>
            </a:r>
            <a:r>
              <a:rPr lang="en-US" sz="1000" dirty="0">
                <a:latin typeface="Montserrat" panose="00000500000000000000" pitchFamily="2" charset="0"/>
              </a:rPr>
              <a:t>The model is "hitting the mark" almost immediately, which suggests that the features in your dataset are very distinct and the CNN architecture is highly capable of capturing them</a:t>
            </a:r>
          </a:p>
          <a:p>
            <a:pPr marL="171450" indent="-171450">
              <a:buFont typeface="Wingdings" panose="05000000000000000000" pitchFamily="2" charset="2"/>
              <a:buChar char="§"/>
            </a:pPr>
            <a:endParaRPr lang="en-US" sz="1000" dirty="0">
              <a:latin typeface="Montserrat" panose="00000500000000000000" pitchFamily="2" charset="0"/>
            </a:endParaRPr>
          </a:p>
          <a:p>
            <a:pPr marL="285750" indent="-285750">
              <a:buFont typeface="Wingdings" panose="05000000000000000000" pitchFamily="2" charset="2"/>
              <a:buChar char="§"/>
            </a:pPr>
            <a:r>
              <a:rPr lang="en-US" sz="1200" b="1" dirty="0">
                <a:latin typeface="Montserrat" panose="00000500000000000000" pitchFamily="2" charset="0"/>
              </a:rPr>
              <a:t>Generalization:</a:t>
            </a:r>
            <a:r>
              <a:rPr lang="en-US" b="1" dirty="0">
                <a:latin typeface="Montserrat" panose="00000500000000000000" pitchFamily="2" charset="0"/>
              </a:rPr>
              <a:t> </a:t>
            </a:r>
            <a:r>
              <a:rPr lang="en-US" sz="1000" dirty="0">
                <a:latin typeface="Montserrat" panose="00000500000000000000" pitchFamily="2" charset="0"/>
              </a:rPr>
              <a:t>Since the Validation line is closely hugging the Training line (and in some segments even slightly exceeding it), the model is generalizing perfectly to unseen data.</a:t>
            </a:r>
            <a:br>
              <a:rPr lang="en-US" sz="1000" dirty="0">
                <a:latin typeface="Montserrat" panose="00000500000000000000" pitchFamily="2" charset="0"/>
              </a:rPr>
            </a:br>
            <a:r>
              <a:rPr lang="en-US" dirty="0">
                <a:latin typeface="Montserrat" panose="00000500000000000000" pitchFamily="2" charset="0"/>
              </a:rPr>
              <a:t> </a:t>
            </a:r>
          </a:p>
        </p:txBody>
      </p:sp>
    </p:spTree>
    <p:extLst>
      <p:ext uri="{BB962C8B-B14F-4D97-AF65-F5344CB8AC3E}">
        <p14:creationId xmlns:p14="http://schemas.microsoft.com/office/powerpoint/2010/main" val="4017745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FE568AC-ED00-4155-E31D-E305441958BB}"/>
            </a:ext>
          </a:extLst>
        </p:cNvPr>
        <p:cNvGrpSpPr/>
        <p:nvPr/>
      </p:nvGrpSpPr>
      <p:grpSpPr>
        <a:xfrm>
          <a:off x="0" y="0"/>
          <a:ext cx="0" cy="0"/>
          <a:chOff x="0" y="0"/>
          <a:chExt cx="0" cy="0"/>
        </a:xfrm>
      </p:grpSpPr>
      <p:sp>
        <p:nvSpPr>
          <p:cNvPr id="234" name="Google Shape;234;p43">
            <a:extLst>
              <a:ext uri="{FF2B5EF4-FFF2-40B4-BE49-F238E27FC236}">
                <a16:creationId xmlns:a16="http://schemas.microsoft.com/office/drawing/2014/main" id="{6B7B6C44-F4C7-BAF6-C80A-AD749FB0792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Basic Convolutional Neural Network- MODEL1C</a:t>
            </a:r>
            <a:endParaRPr sz="2400" dirty="0">
              <a:solidFill>
                <a:srgbClr val="0E39A9"/>
              </a:solidFill>
            </a:endParaRPr>
          </a:p>
        </p:txBody>
      </p:sp>
      <p:sp>
        <p:nvSpPr>
          <p:cNvPr id="4" name="TextBox 3">
            <a:extLst>
              <a:ext uri="{FF2B5EF4-FFF2-40B4-BE49-F238E27FC236}">
                <a16:creationId xmlns:a16="http://schemas.microsoft.com/office/drawing/2014/main" id="{AEDD0A40-22DC-0EC7-427C-350602B84DB6}"/>
              </a:ext>
            </a:extLst>
          </p:cNvPr>
          <p:cNvSpPr txBox="1"/>
          <p:nvPr/>
        </p:nvSpPr>
        <p:spPr>
          <a:xfrm>
            <a:off x="202550" y="723479"/>
            <a:ext cx="1609726" cy="276999"/>
          </a:xfrm>
          <a:prstGeom prst="rect">
            <a:avLst/>
          </a:prstGeom>
          <a:noFill/>
        </p:spPr>
        <p:txBody>
          <a:bodyPr wrap="square" rtlCol="0">
            <a:spAutoFit/>
          </a:bodyPr>
          <a:lstStyle/>
          <a:p>
            <a:r>
              <a:rPr lang="en-US" sz="1200" b="1" dirty="0">
                <a:latin typeface="Montserrat"/>
              </a:rPr>
              <a:t>Training Dataset</a:t>
            </a:r>
          </a:p>
        </p:txBody>
      </p:sp>
      <p:sp>
        <p:nvSpPr>
          <p:cNvPr id="6" name="TextBox 5">
            <a:extLst>
              <a:ext uri="{FF2B5EF4-FFF2-40B4-BE49-F238E27FC236}">
                <a16:creationId xmlns:a16="http://schemas.microsoft.com/office/drawing/2014/main" id="{08055D99-2E3A-C8DB-FFBF-2294366A8F9B}"/>
              </a:ext>
            </a:extLst>
          </p:cNvPr>
          <p:cNvSpPr txBox="1"/>
          <p:nvPr/>
        </p:nvSpPr>
        <p:spPr>
          <a:xfrm>
            <a:off x="5020936" y="723479"/>
            <a:ext cx="1837063" cy="276999"/>
          </a:xfrm>
          <a:prstGeom prst="rect">
            <a:avLst/>
          </a:prstGeom>
          <a:noFill/>
        </p:spPr>
        <p:txBody>
          <a:bodyPr wrap="square" rtlCol="0">
            <a:spAutoFit/>
          </a:bodyPr>
          <a:lstStyle/>
          <a:p>
            <a:r>
              <a:rPr lang="en-US" sz="1200" b="1" dirty="0">
                <a:latin typeface="Montserrat"/>
              </a:rPr>
              <a:t>Validation Dataset</a:t>
            </a:r>
          </a:p>
        </p:txBody>
      </p:sp>
      <p:pic>
        <p:nvPicPr>
          <p:cNvPr id="7" name="Picture 6">
            <a:extLst>
              <a:ext uri="{FF2B5EF4-FFF2-40B4-BE49-F238E27FC236}">
                <a16:creationId xmlns:a16="http://schemas.microsoft.com/office/drawing/2014/main" id="{E5B3B3B7-449B-8E43-AE27-5123B1A299D7}"/>
              </a:ext>
            </a:extLst>
          </p:cNvPr>
          <p:cNvPicPr>
            <a:picLocks noChangeAspect="1"/>
          </p:cNvPicPr>
          <p:nvPr/>
        </p:nvPicPr>
        <p:blipFill>
          <a:blip r:embed="rId3"/>
          <a:stretch>
            <a:fillRect/>
          </a:stretch>
        </p:blipFill>
        <p:spPr>
          <a:xfrm>
            <a:off x="202550" y="1000478"/>
            <a:ext cx="3452140" cy="2374826"/>
          </a:xfrm>
          <a:prstGeom prst="rect">
            <a:avLst/>
          </a:prstGeom>
        </p:spPr>
      </p:pic>
      <p:pic>
        <p:nvPicPr>
          <p:cNvPr id="8" name="Picture 7">
            <a:extLst>
              <a:ext uri="{FF2B5EF4-FFF2-40B4-BE49-F238E27FC236}">
                <a16:creationId xmlns:a16="http://schemas.microsoft.com/office/drawing/2014/main" id="{9AA7E426-DFC7-7354-5CAE-9C1D98EEAB02}"/>
              </a:ext>
            </a:extLst>
          </p:cNvPr>
          <p:cNvPicPr>
            <a:picLocks noChangeAspect="1"/>
          </p:cNvPicPr>
          <p:nvPr/>
        </p:nvPicPr>
        <p:blipFill>
          <a:blip r:embed="rId4"/>
          <a:stretch>
            <a:fillRect/>
          </a:stretch>
        </p:blipFill>
        <p:spPr>
          <a:xfrm>
            <a:off x="4936407" y="916269"/>
            <a:ext cx="3550368" cy="2374826"/>
          </a:xfrm>
          <a:prstGeom prst="rect">
            <a:avLst/>
          </a:prstGeom>
        </p:spPr>
      </p:pic>
      <p:sp>
        <p:nvSpPr>
          <p:cNvPr id="5" name="TextBox 4">
            <a:extLst>
              <a:ext uri="{FF2B5EF4-FFF2-40B4-BE49-F238E27FC236}">
                <a16:creationId xmlns:a16="http://schemas.microsoft.com/office/drawing/2014/main" id="{FB48F31E-E526-076B-2580-A537EFBF602E}"/>
              </a:ext>
            </a:extLst>
          </p:cNvPr>
          <p:cNvSpPr txBox="1"/>
          <p:nvPr/>
        </p:nvSpPr>
        <p:spPr>
          <a:xfrm>
            <a:off x="72700" y="3331133"/>
            <a:ext cx="8998600" cy="1646605"/>
          </a:xfrm>
          <a:prstGeom prst="rect">
            <a:avLst/>
          </a:prstGeom>
          <a:noFill/>
        </p:spPr>
        <p:txBody>
          <a:bodyPr wrap="square">
            <a:spAutoFit/>
          </a:bodyPr>
          <a:lstStyle/>
          <a:p>
            <a:r>
              <a:rPr lang="en-US" sz="1050" b="1" dirty="0">
                <a:latin typeface="Montserrat" panose="00000500000000000000" pitchFamily="2" charset="0"/>
              </a:rPr>
              <a:t>Training Dataset Analysis</a:t>
            </a:r>
          </a:p>
          <a:p>
            <a:pPr marL="171450" indent="-171450">
              <a:buFont typeface="Wingdings" panose="05000000000000000000" pitchFamily="2" charset="2"/>
              <a:buChar char="§"/>
            </a:pPr>
            <a:r>
              <a:rPr lang="en-US" sz="1000" b="1" dirty="0">
                <a:latin typeface="Montserrat" panose="00000500000000000000" pitchFamily="2" charset="0"/>
              </a:rPr>
              <a:t>High Sensitivity:</a:t>
            </a:r>
            <a:r>
              <a:rPr lang="en-US" sz="1000" dirty="0">
                <a:latin typeface="Montserrat" panose="00000500000000000000" pitchFamily="2" charset="0"/>
              </a:rPr>
              <a:t> The model correctly identified nearly all positive cases, with only </a:t>
            </a:r>
            <a:r>
              <a:rPr lang="en-US" sz="1000" b="1" dirty="0">
                <a:latin typeface="Montserrat" panose="00000500000000000000" pitchFamily="2" charset="0"/>
              </a:rPr>
              <a:t>3 false negatives</a:t>
            </a:r>
            <a:r>
              <a:rPr lang="en-US" sz="1000" dirty="0">
                <a:latin typeface="Montserrat" panose="00000500000000000000" pitchFamily="2" charset="0"/>
              </a:rPr>
              <a:t> out of 248 actual "1" instances.</a:t>
            </a:r>
          </a:p>
          <a:p>
            <a:pPr marL="171450" indent="-171450">
              <a:buFont typeface="Wingdings" panose="05000000000000000000" pitchFamily="2" charset="2"/>
              <a:buChar char="§"/>
            </a:pPr>
            <a:r>
              <a:rPr lang="en-US" sz="1000" b="1" dirty="0">
                <a:latin typeface="Montserrat" panose="00000500000000000000" pitchFamily="2" charset="0"/>
              </a:rPr>
              <a:t>Minor Overfitting Indicator:</a:t>
            </a:r>
            <a:r>
              <a:rPr lang="en-US" sz="1000" dirty="0">
                <a:latin typeface="Montserrat" panose="00000500000000000000" pitchFamily="2" charset="0"/>
              </a:rPr>
              <a:t> There are </a:t>
            </a:r>
            <a:r>
              <a:rPr lang="en-US" sz="1000" b="1" dirty="0">
                <a:latin typeface="Montserrat" panose="00000500000000000000" pitchFamily="2" charset="0"/>
              </a:rPr>
              <a:t>28 false positives</a:t>
            </a:r>
            <a:r>
              <a:rPr lang="en-US" sz="1000" dirty="0">
                <a:latin typeface="Montserrat" panose="00000500000000000000" pitchFamily="2" charset="0"/>
              </a:rPr>
              <a:t> (actual "0" predicted as "1"), suggesting the model is slightly more aggressive in predicting the positive class during training.</a:t>
            </a:r>
          </a:p>
          <a:p>
            <a:pPr>
              <a:buNone/>
            </a:pPr>
            <a:endParaRPr lang="en-US" sz="1000" dirty="0">
              <a:latin typeface="Montserrat" panose="00000500000000000000" pitchFamily="2" charset="0"/>
            </a:endParaRPr>
          </a:p>
          <a:p>
            <a:r>
              <a:rPr lang="en-US" sz="1000" b="1" dirty="0">
                <a:latin typeface="Montserrat" panose="00000500000000000000" pitchFamily="2" charset="0"/>
              </a:rPr>
              <a:t>Validation Dataset Analysis</a:t>
            </a:r>
          </a:p>
          <a:p>
            <a:pPr marL="171450" indent="-171450">
              <a:buFont typeface="Arial" panose="020B0604020202020204" pitchFamily="34" charset="0"/>
              <a:buChar char="•"/>
            </a:pPr>
            <a:r>
              <a:rPr lang="en-US" sz="1000" b="1" dirty="0">
                <a:latin typeface="Montserrat" panose="00000500000000000000" pitchFamily="2" charset="0"/>
              </a:rPr>
              <a:t>Perfect Recall:</a:t>
            </a:r>
            <a:r>
              <a:rPr lang="en-US" sz="1000" dirty="0">
                <a:latin typeface="Montserrat" panose="00000500000000000000" pitchFamily="2" charset="0"/>
              </a:rPr>
              <a:t> The model achieved </a:t>
            </a:r>
            <a:r>
              <a:rPr lang="en-US" sz="1000" b="1" dirty="0">
                <a:latin typeface="Montserrat" panose="00000500000000000000" pitchFamily="2" charset="0"/>
              </a:rPr>
              <a:t>0 false negatives</a:t>
            </a:r>
            <a:r>
              <a:rPr lang="en-US" sz="1000" dirty="0">
                <a:latin typeface="Montserrat" panose="00000500000000000000" pitchFamily="2" charset="0"/>
              </a:rPr>
              <a:t>, meaning it successfully captured every single actual "1" case in the validation set.</a:t>
            </a:r>
          </a:p>
          <a:p>
            <a:pPr marL="171450" indent="-171450">
              <a:buFont typeface="Arial" panose="020B0604020202020204" pitchFamily="34" charset="0"/>
              <a:buChar char="•"/>
            </a:pPr>
            <a:r>
              <a:rPr lang="en-US" sz="1000" b="1" dirty="0">
                <a:latin typeface="Montserrat" panose="00000500000000000000" pitchFamily="2" charset="0"/>
              </a:rPr>
              <a:t>Excellent Generalization:</a:t>
            </a:r>
            <a:r>
              <a:rPr lang="en-US" sz="1000" dirty="0">
                <a:latin typeface="Montserrat" panose="00000500000000000000" pitchFamily="2" charset="0"/>
              </a:rPr>
              <a:t> With an overall accuracy of approximately </a:t>
            </a:r>
            <a:r>
              <a:rPr lang="en-US" sz="1000" b="1" dirty="0">
                <a:latin typeface="Montserrat" panose="00000500000000000000" pitchFamily="2" charset="0"/>
              </a:rPr>
              <a:t>95%</a:t>
            </a:r>
            <a:r>
              <a:rPr lang="en-US" sz="1000" dirty="0">
                <a:latin typeface="Montserrat" panose="00000500000000000000" pitchFamily="2" charset="0"/>
              </a:rPr>
              <a:t> (</a:t>
            </a:r>
            <a:r>
              <a:rPr lang="en-US" sz="1000" b="1" dirty="0">
                <a:latin typeface="Montserrat" panose="00000500000000000000" pitchFamily="2" charset="0"/>
              </a:rPr>
              <a:t>60/63 samples correctly classified</a:t>
            </a:r>
            <a:r>
              <a:rPr lang="en-US" sz="1000" dirty="0">
                <a:latin typeface="Montserrat" panose="00000500000000000000" pitchFamily="2" charset="0"/>
              </a:rPr>
              <a:t>), the model performs consistently well on unseen data compared to the training set.</a:t>
            </a:r>
          </a:p>
          <a:p>
            <a:pPr>
              <a:buNone/>
            </a:pPr>
            <a:endParaRPr lang="en-US" sz="1050" dirty="0"/>
          </a:p>
        </p:txBody>
      </p:sp>
    </p:spTree>
    <p:extLst>
      <p:ext uri="{BB962C8B-B14F-4D97-AF65-F5344CB8AC3E}">
        <p14:creationId xmlns:p14="http://schemas.microsoft.com/office/powerpoint/2010/main" val="815999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Model- Model  model2</a:t>
            </a:r>
            <a:endParaRPr sz="2400" dirty="0">
              <a:solidFill>
                <a:srgbClr val="0E39A9"/>
              </a:solidFill>
            </a:endParaRPr>
          </a:p>
        </p:txBody>
      </p:sp>
      <p:pic>
        <p:nvPicPr>
          <p:cNvPr id="4" name="Picture 3">
            <a:extLst>
              <a:ext uri="{FF2B5EF4-FFF2-40B4-BE49-F238E27FC236}">
                <a16:creationId xmlns:a16="http://schemas.microsoft.com/office/drawing/2014/main" id="{AE995888-AB23-DA0F-BF0B-79DB06D40295}"/>
              </a:ext>
            </a:extLst>
          </p:cNvPr>
          <p:cNvPicPr>
            <a:picLocks noChangeAspect="1"/>
          </p:cNvPicPr>
          <p:nvPr/>
        </p:nvPicPr>
        <p:blipFill>
          <a:blip r:embed="rId3"/>
          <a:stretch>
            <a:fillRect/>
          </a:stretch>
        </p:blipFill>
        <p:spPr>
          <a:xfrm>
            <a:off x="94809" y="2889639"/>
            <a:ext cx="5811061" cy="181000"/>
          </a:xfrm>
          <a:prstGeom prst="rect">
            <a:avLst/>
          </a:prstGeom>
        </p:spPr>
      </p:pic>
      <p:pic>
        <p:nvPicPr>
          <p:cNvPr id="6" name="Picture 5">
            <a:extLst>
              <a:ext uri="{FF2B5EF4-FFF2-40B4-BE49-F238E27FC236}">
                <a16:creationId xmlns:a16="http://schemas.microsoft.com/office/drawing/2014/main" id="{77B98EC1-1E34-BB33-683C-66F8C98026AF}"/>
              </a:ext>
            </a:extLst>
          </p:cNvPr>
          <p:cNvPicPr>
            <a:picLocks noChangeAspect="1"/>
          </p:cNvPicPr>
          <p:nvPr/>
        </p:nvPicPr>
        <p:blipFill>
          <a:blip r:embed="rId4"/>
          <a:stretch>
            <a:fillRect/>
          </a:stretch>
        </p:blipFill>
        <p:spPr>
          <a:xfrm>
            <a:off x="4261929" y="992272"/>
            <a:ext cx="4882071" cy="1682437"/>
          </a:xfrm>
          <a:prstGeom prst="rect">
            <a:avLst/>
          </a:prstGeom>
        </p:spPr>
      </p:pic>
      <p:pic>
        <p:nvPicPr>
          <p:cNvPr id="8" name="Picture 7">
            <a:extLst>
              <a:ext uri="{FF2B5EF4-FFF2-40B4-BE49-F238E27FC236}">
                <a16:creationId xmlns:a16="http://schemas.microsoft.com/office/drawing/2014/main" id="{6488564C-60A5-08FD-740C-8E6F9E7A23E0}"/>
              </a:ext>
            </a:extLst>
          </p:cNvPr>
          <p:cNvPicPr>
            <a:picLocks noChangeAspect="1"/>
          </p:cNvPicPr>
          <p:nvPr/>
        </p:nvPicPr>
        <p:blipFill>
          <a:blip r:embed="rId5"/>
          <a:stretch>
            <a:fillRect/>
          </a:stretch>
        </p:blipFill>
        <p:spPr>
          <a:xfrm>
            <a:off x="109317" y="3228864"/>
            <a:ext cx="8707065" cy="1343212"/>
          </a:xfrm>
          <a:prstGeom prst="rect">
            <a:avLst/>
          </a:prstGeom>
        </p:spPr>
      </p:pic>
      <p:sp>
        <p:nvSpPr>
          <p:cNvPr id="9" name="TextBox 8">
            <a:extLst>
              <a:ext uri="{FF2B5EF4-FFF2-40B4-BE49-F238E27FC236}">
                <a16:creationId xmlns:a16="http://schemas.microsoft.com/office/drawing/2014/main" id="{0C801D0C-20C3-B9C4-959C-1C384494E5C7}"/>
              </a:ext>
            </a:extLst>
          </p:cNvPr>
          <p:cNvSpPr txBox="1"/>
          <p:nvPr/>
        </p:nvSpPr>
        <p:spPr>
          <a:xfrm>
            <a:off x="0" y="2059387"/>
            <a:ext cx="1703025" cy="400110"/>
          </a:xfrm>
          <a:prstGeom prst="rect">
            <a:avLst/>
          </a:prstGeom>
          <a:noFill/>
        </p:spPr>
        <p:txBody>
          <a:bodyPr wrap="square" rtlCol="0">
            <a:spAutoFit/>
          </a:bodyPr>
          <a:lstStyle/>
          <a:p>
            <a:r>
              <a:rPr lang="en-US" sz="1000" dirty="0">
                <a:latin typeface="Nunito" pitchFamily="2" charset="0"/>
              </a:rPr>
              <a:t>Epoch=6</a:t>
            </a:r>
          </a:p>
          <a:p>
            <a:r>
              <a:rPr lang="en-US" sz="1000" dirty="0">
                <a:latin typeface="Nunito" pitchFamily="2" charset="0"/>
              </a:rPr>
              <a:t>Batch Size=128</a:t>
            </a:r>
          </a:p>
        </p:txBody>
      </p:sp>
      <p:sp>
        <p:nvSpPr>
          <p:cNvPr id="10" name="TextBox 9">
            <a:extLst>
              <a:ext uri="{FF2B5EF4-FFF2-40B4-BE49-F238E27FC236}">
                <a16:creationId xmlns:a16="http://schemas.microsoft.com/office/drawing/2014/main" id="{B7844BE4-702D-AE41-4DD2-96774907A1B9}"/>
              </a:ext>
            </a:extLst>
          </p:cNvPr>
          <p:cNvSpPr txBox="1"/>
          <p:nvPr/>
        </p:nvSpPr>
        <p:spPr>
          <a:xfrm>
            <a:off x="304800" y="861979"/>
            <a:ext cx="2174225" cy="307777"/>
          </a:xfrm>
          <a:prstGeom prst="rect">
            <a:avLst/>
          </a:prstGeom>
          <a:noFill/>
        </p:spPr>
        <p:txBody>
          <a:bodyPr wrap="square" rtlCol="0">
            <a:spAutoFit/>
          </a:bodyPr>
          <a:lstStyle/>
          <a:p>
            <a:r>
              <a:rPr lang="en-US" dirty="0"/>
              <a:t>Model Configurations </a:t>
            </a:r>
          </a:p>
        </p:txBody>
      </p:sp>
      <p:sp>
        <p:nvSpPr>
          <p:cNvPr id="11" name="TextBox 10">
            <a:extLst>
              <a:ext uri="{FF2B5EF4-FFF2-40B4-BE49-F238E27FC236}">
                <a16:creationId xmlns:a16="http://schemas.microsoft.com/office/drawing/2014/main" id="{E04CEAF0-CF41-2014-3B0A-31073AC17AC2}"/>
              </a:ext>
            </a:extLst>
          </p:cNvPr>
          <p:cNvSpPr txBox="1"/>
          <p:nvPr/>
        </p:nvSpPr>
        <p:spPr>
          <a:xfrm>
            <a:off x="4261929" y="684495"/>
            <a:ext cx="2174225" cy="307777"/>
          </a:xfrm>
          <a:prstGeom prst="rect">
            <a:avLst/>
          </a:prstGeom>
          <a:noFill/>
        </p:spPr>
        <p:txBody>
          <a:bodyPr wrap="square" rtlCol="0">
            <a:spAutoFit/>
          </a:bodyPr>
          <a:lstStyle/>
          <a:p>
            <a:r>
              <a:rPr lang="en-US" dirty="0"/>
              <a:t>Model Summary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5823B88C-21CF-B9C9-5E8F-D05C441D0D94}"/>
            </a:ext>
          </a:extLst>
        </p:cNvPr>
        <p:cNvGrpSpPr/>
        <p:nvPr/>
      </p:nvGrpSpPr>
      <p:grpSpPr>
        <a:xfrm>
          <a:off x="0" y="0"/>
          <a:ext cx="0" cy="0"/>
          <a:chOff x="0" y="0"/>
          <a:chExt cx="0" cy="0"/>
        </a:xfrm>
      </p:grpSpPr>
      <p:sp>
        <p:nvSpPr>
          <p:cNvPr id="244" name="Google Shape;244;p44">
            <a:extLst>
              <a:ext uri="{FF2B5EF4-FFF2-40B4-BE49-F238E27FC236}">
                <a16:creationId xmlns:a16="http://schemas.microsoft.com/office/drawing/2014/main" id="{31101E06-9B99-3208-600A-08763FAFD601}"/>
              </a:ext>
            </a:extLst>
          </p:cNvPr>
          <p:cNvSpPr txBox="1">
            <a:spLocks noGrp="1"/>
          </p:cNvSpPr>
          <p:nvPr>
            <p:ph type="title"/>
          </p:nvPr>
        </p:nvSpPr>
        <p:spPr>
          <a:xfrm>
            <a:off x="311700" y="64307"/>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Model- Model   Model 2</a:t>
            </a:r>
            <a:endParaRPr sz="2400" dirty="0">
              <a:solidFill>
                <a:srgbClr val="0E39A9"/>
              </a:solidFill>
            </a:endParaRPr>
          </a:p>
        </p:txBody>
      </p:sp>
      <p:graphicFrame>
        <p:nvGraphicFramePr>
          <p:cNvPr id="3" name="Table 2">
            <a:extLst>
              <a:ext uri="{FF2B5EF4-FFF2-40B4-BE49-F238E27FC236}">
                <a16:creationId xmlns:a16="http://schemas.microsoft.com/office/drawing/2014/main" id="{544A520E-A2B8-12C9-FFB0-1AD4B479EDFC}"/>
              </a:ext>
            </a:extLst>
          </p:cNvPr>
          <p:cNvGraphicFramePr>
            <a:graphicFrameLocks noGrp="1"/>
          </p:cNvGraphicFramePr>
          <p:nvPr>
            <p:extLst>
              <p:ext uri="{D42A27DB-BD31-4B8C-83A1-F6EECF244321}">
                <p14:modId xmlns:p14="http://schemas.microsoft.com/office/powerpoint/2010/main" val="94323926"/>
              </p:ext>
            </p:extLst>
          </p:nvPr>
        </p:nvGraphicFramePr>
        <p:xfrm>
          <a:off x="313350" y="853673"/>
          <a:ext cx="4419680" cy="1188720"/>
        </p:xfrm>
        <a:graphic>
          <a:graphicData uri="http://schemas.openxmlformats.org/drawingml/2006/table">
            <a:tbl>
              <a:tblPr firstRow="1" bandRow="1">
                <a:tableStyleId>{A1BBC871-F89B-45A3-A074-B200C202542C}</a:tableStyleId>
              </a:tblPr>
              <a:tblGrid>
                <a:gridCol w="883936">
                  <a:extLst>
                    <a:ext uri="{9D8B030D-6E8A-4147-A177-3AD203B41FA5}">
                      <a16:colId xmlns:a16="http://schemas.microsoft.com/office/drawing/2014/main" val="1826010120"/>
                    </a:ext>
                  </a:extLst>
                </a:gridCol>
                <a:gridCol w="883936">
                  <a:extLst>
                    <a:ext uri="{9D8B030D-6E8A-4147-A177-3AD203B41FA5}">
                      <a16:colId xmlns:a16="http://schemas.microsoft.com/office/drawing/2014/main" val="1798283218"/>
                    </a:ext>
                  </a:extLst>
                </a:gridCol>
                <a:gridCol w="883936">
                  <a:extLst>
                    <a:ext uri="{9D8B030D-6E8A-4147-A177-3AD203B41FA5}">
                      <a16:colId xmlns:a16="http://schemas.microsoft.com/office/drawing/2014/main" val="3626656194"/>
                    </a:ext>
                  </a:extLst>
                </a:gridCol>
                <a:gridCol w="883936">
                  <a:extLst>
                    <a:ext uri="{9D8B030D-6E8A-4147-A177-3AD203B41FA5}">
                      <a16:colId xmlns:a16="http://schemas.microsoft.com/office/drawing/2014/main" val="2808250687"/>
                    </a:ext>
                  </a:extLst>
                </a:gridCol>
                <a:gridCol w="883936">
                  <a:extLst>
                    <a:ext uri="{9D8B030D-6E8A-4147-A177-3AD203B41FA5}">
                      <a16:colId xmlns:a16="http://schemas.microsoft.com/office/drawing/2014/main" val="3197973654"/>
                    </a:ext>
                  </a:extLst>
                </a:gridCol>
              </a:tblGrid>
              <a:tr h="416618">
                <a:tc>
                  <a:txBody>
                    <a:bodyPr/>
                    <a:lstStyle/>
                    <a:p>
                      <a:r>
                        <a:rPr lang="en-US" sz="1200" dirty="0"/>
                        <a:t>Type of Dataset</a:t>
                      </a:r>
                    </a:p>
                  </a:txBody>
                  <a:tcPr/>
                </a:tc>
                <a:tc>
                  <a:txBody>
                    <a:bodyPr/>
                    <a:lstStyle/>
                    <a:p>
                      <a:r>
                        <a:rPr lang="en-US" sz="1200" dirty="0"/>
                        <a:t>Accuracy</a:t>
                      </a:r>
                    </a:p>
                  </a:txBody>
                  <a:tcPr/>
                </a:tc>
                <a:tc>
                  <a:txBody>
                    <a:bodyPr/>
                    <a:lstStyle/>
                    <a:p>
                      <a:r>
                        <a:rPr lang="en-US" sz="1200" dirty="0"/>
                        <a:t>Recall</a:t>
                      </a:r>
                    </a:p>
                  </a:txBody>
                  <a:tcPr/>
                </a:tc>
                <a:tc>
                  <a:txBody>
                    <a:bodyPr/>
                    <a:lstStyle/>
                    <a:p>
                      <a:r>
                        <a:rPr lang="en-US" sz="1200" dirty="0"/>
                        <a:t>Precision </a:t>
                      </a:r>
                    </a:p>
                  </a:txBody>
                  <a:tcPr/>
                </a:tc>
                <a:tc>
                  <a:txBody>
                    <a:bodyPr/>
                    <a:lstStyle/>
                    <a:p>
                      <a:r>
                        <a:rPr lang="en-US" sz="1200" dirty="0"/>
                        <a:t>F1 Score</a:t>
                      </a:r>
                    </a:p>
                  </a:txBody>
                  <a:tcPr/>
                </a:tc>
                <a:extLst>
                  <a:ext uri="{0D108BD9-81ED-4DB2-BD59-A6C34878D82A}">
                    <a16:rowId xmlns:a16="http://schemas.microsoft.com/office/drawing/2014/main" val="663711120"/>
                  </a:ext>
                </a:extLst>
              </a:tr>
              <a:tr h="416618">
                <a:tc>
                  <a:txBody>
                    <a:bodyPr/>
                    <a:lstStyle/>
                    <a:p>
                      <a:r>
                        <a:rPr lang="en-US" sz="1100" b="1" dirty="0"/>
                        <a:t>Training</a:t>
                      </a:r>
                      <a:r>
                        <a:rPr lang="en-US" sz="1200" dirty="0"/>
                        <a:t> </a:t>
                      </a:r>
                    </a:p>
                  </a:txBody>
                  <a:tcPr/>
                </a:tc>
                <a:tc>
                  <a:txBody>
                    <a:bodyPr/>
                    <a:lstStyle/>
                    <a:p>
                      <a:r>
                        <a:rPr lang="en-US" sz="1200" dirty="0"/>
                        <a:t>0.914683 </a:t>
                      </a:r>
                    </a:p>
                  </a:txBody>
                  <a:tcPr/>
                </a:tc>
                <a:tc>
                  <a:txBody>
                    <a:bodyPr/>
                    <a:lstStyle/>
                    <a:p>
                      <a:r>
                        <a:rPr lang="en-US" sz="1200" b="1" dirty="0"/>
                        <a:t>0.914683 </a:t>
                      </a:r>
                    </a:p>
                    <a:p>
                      <a:endParaRPr lang="en-US" sz="1200" b="1" dirty="0"/>
                    </a:p>
                  </a:txBody>
                  <a:tcPr/>
                </a:tc>
                <a:tc>
                  <a:txBody>
                    <a:bodyPr/>
                    <a:lstStyle/>
                    <a:p>
                      <a:r>
                        <a:rPr lang="en-US" sz="1200" dirty="0"/>
                        <a:t>0.926952 </a:t>
                      </a:r>
                    </a:p>
                  </a:txBody>
                  <a:tcPr/>
                </a:tc>
                <a:tc>
                  <a:txBody>
                    <a:bodyPr/>
                    <a:lstStyle/>
                    <a:p>
                      <a:r>
                        <a:rPr lang="en-US" sz="1200" b="1" dirty="0"/>
                        <a:t>0.913938</a:t>
                      </a:r>
                    </a:p>
                  </a:txBody>
                  <a:tcPr/>
                </a:tc>
                <a:extLst>
                  <a:ext uri="{0D108BD9-81ED-4DB2-BD59-A6C34878D82A}">
                    <a16:rowId xmlns:a16="http://schemas.microsoft.com/office/drawing/2014/main" val="336585892"/>
                  </a:ext>
                </a:extLst>
              </a:tr>
              <a:tr h="249971">
                <a:tc>
                  <a:txBody>
                    <a:bodyPr/>
                    <a:lstStyle/>
                    <a:p>
                      <a:r>
                        <a:rPr lang="en-US" sz="1100" b="1" dirty="0"/>
                        <a:t>Validation</a:t>
                      </a:r>
                      <a:r>
                        <a:rPr lang="en-US" sz="1200" dirty="0"/>
                        <a:t> </a:t>
                      </a:r>
                    </a:p>
                  </a:txBody>
                  <a:tcPr/>
                </a:tc>
                <a:tc>
                  <a:txBody>
                    <a:bodyPr/>
                    <a:lstStyle/>
                    <a:p>
                      <a:r>
                        <a:rPr lang="en-US" sz="1200" dirty="0"/>
                        <a:t>0.888889 </a:t>
                      </a:r>
                    </a:p>
                  </a:txBody>
                  <a:tcPr/>
                </a:tc>
                <a:tc>
                  <a:txBody>
                    <a:bodyPr/>
                    <a:lstStyle/>
                    <a:p>
                      <a:r>
                        <a:rPr lang="en-US" sz="1200" b="1" dirty="0"/>
                        <a:t>0.888889 </a:t>
                      </a:r>
                    </a:p>
                  </a:txBody>
                  <a:tcPr/>
                </a:tc>
                <a:tc>
                  <a:txBody>
                    <a:bodyPr/>
                    <a:lstStyle/>
                    <a:p>
                      <a:r>
                        <a:rPr lang="en-US" sz="1200" dirty="0"/>
                        <a:t>0.908832 </a:t>
                      </a:r>
                    </a:p>
                  </a:txBody>
                  <a:tcPr/>
                </a:tc>
                <a:tc>
                  <a:txBody>
                    <a:bodyPr/>
                    <a:lstStyle/>
                    <a:p>
                      <a:r>
                        <a:rPr lang="en-US" sz="1200" b="1" dirty="0"/>
                        <a:t>0.887295</a:t>
                      </a:r>
                    </a:p>
                  </a:txBody>
                  <a:tcPr/>
                </a:tc>
                <a:extLst>
                  <a:ext uri="{0D108BD9-81ED-4DB2-BD59-A6C34878D82A}">
                    <a16:rowId xmlns:a16="http://schemas.microsoft.com/office/drawing/2014/main" val="3210421736"/>
                  </a:ext>
                </a:extLst>
              </a:tr>
            </a:tbl>
          </a:graphicData>
        </a:graphic>
      </p:graphicFrame>
      <p:pic>
        <p:nvPicPr>
          <p:cNvPr id="4" name="Picture 3">
            <a:extLst>
              <a:ext uri="{FF2B5EF4-FFF2-40B4-BE49-F238E27FC236}">
                <a16:creationId xmlns:a16="http://schemas.microsoft.com/office/drawing/2014/main" id="{3AC151E2-1C89-D984-351A-1B8EF984FE52}"/>
              </a:ext>
            </a:extLst>
          </p:cNvPr>
          <p:cNvPicPr>
            <a:picLocks noChangeAspect="1"/>
          </p:cNvPicPr>
          <p:nvPr/>
        </p:nvPicPr>
        <p:blipFill>
          <a:blip r:embed="rId3"/>
          <a:stretch>
            <a:fillRect/>
          </a:stretch>
        </p:blipFill>
        <p:spPr>
          <a:xfrm>
            <a:off x="207147" y="1984348"/>
            <a:ext cx="3999279" cy="3159152"/>
          </a:xfrm>
          <a:prstGeom prst="rect">
            <a:avLst/>
          </a:prstGeom>
        </p:spPr>
      </p:pic>
      <p:sp>
        <p:nvSpPr>
          <p:cNvPr id="5" name="TextBox 4">
            <a:extLst>
              <a:ext uri="{FF2B5EF4-FFF2-40B4-BE49-F238E27FC236}">
                <a16:creationId xmlns:a16="http://schemas.microsoft.com/office/drawing/2014/main" id="{6BDD01AE-5747-4644-AC6B-A87AE0505B88}"/>
              </a:ext>
            </a:extLst>
          </p:cNvPr>
          <p:cNvSpPr txBox="1"/>
          <p:nvPr/>
        </p:nvSpPr>
        <p:spPr>
          <a:xfrm>
            <a:off x="468475" y="576674"/>
            <a:ext cx="3476625" cy="276999"/>
          </a:xfrm>
          <a:prstGeom prst="rect">
            <a:avLst/>
          </a:prstGeom>
          <a:noFill/>
        </p:spPr>
        <p:txBody>
          <a:bodyPr wrap="square" rtlCol="0">
            <a:spAutoFit/>
          </a:bodyPr>
          <a:lstStyle/>
          <a:p>
            <a:r>
              <a:rPr lang="en-US" sz="1200" b="1" dirty="0">
                <a:latin typeface="Nunito" pitchFamily="2" charset="0"/>
              </a:rPr>
              <a:t>Model Performance Metrics </a:t>
            </a:r>
          </a:p>
        </p:txBody>
      </p:sp>
      <p:sp>
        <p:nvSpPr>
          <p:cNvPr id="6" name="TextBox 5">
            <a:extLst>
              <a:ext uri="{FF2B5EF4-FFF2-40B4-BE49-F238E27FC236}">
                <a16:creationId xmlns:a16="http://schemas.microsoft.com/office/drawing/2014/main" id="{5D2F1AAE-906B-7DEC-B6E1-5F5426C8FABC}"/>
              </a:ext>
            </a:extLst>
          </p:cNvPr>
          <p:cNvSpPr txBox="1"/>
          <p:nvPr/>
        </p:nvSpPr>
        <p:spPr>
          <a:xfrm>
            <a:off x="4839233" y="933450"/>
            <a:ext cx="4097620" cy="3847207"/>
          </a:xfrm>
          <a:prstGeom prst="rect">
            <a:avLst/>
          </a:prstGeom>
          <a:noFill/>
        </p:spPr>
        <p:txBody>
          <a:bodyPr wrap="square" rtlCol="0">
            <a:spAutoFit/>
          </a:bodyPr>
          <a:lstStyle/>
          <a:p>
            <a:r>
              <a:rPr lang="en-US" sz="1200" b="1" dirty="0">
                <a:latin typeface="Montserrat" panose="00000500000000000000" pitchFamily="2" charset="0"/>
              </a:rPr>
              <a:t>Observations:</a:t>
            </a:r>
          </a:p>
          <a:p>
            <a:r>
              <a:rPr lang="en-US" sz="1200" b="1" dirty="0">
                <a:latin typeface="Montserrat" panose="00000500000000000000" pitchFamily="2" charset="0"/>
              </a:rPr>
              <a:t> </a:t>
            </a:r>
          </a:p>
          <a:p>
            <a:pPr marL="171450" indent="-171450">
              <a:buFont typeface="Wingdings" panose="05000000000000000000" pitchFamily="2" charset="2"/>
              <a:buChar char="§"/>
            </a:pPr>
            <a:r>
              <a:rPr lang="en-US" sz="1000" b="1" dirty="0">
                <a:latin typeface="Montserrat" panose="00000500000000000000" pitchFamily="2" charset="0"/>
              </a:rPr>
              <a:t>Recall Stability and Convergence</a:t>
            </a:r>
            <a:r>
              <a:rPr lang="en-US" sz="1000" dirty="0">
                <a:latin typeface="Montserrat" panose="00000500000000000000" pitchFamily="2" charset="0"/>
              </a:rPr>
              <a:t>: The recall plot displays significant fluctuations and a widening gap between training and validation, indicating the model is struggling to generalize and is currently overfitting to the training distribution.</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Metric Balance and Error Analysis</a:t>
            </a:r>
            <a:r>
              <a:rPr lang="en-US" sz="1000" dirty="0">
                <a:latin typeface="Montserrat" panose="00000500000000000000" pitchFamily="2" charset="0"/>
              </a:rPr>
              <a:t>: While the model achieves high training accuracy, the inconsistent validation recall suggests that the </a:t>
            </a:r>
            <a:r>
              <a:rPr lang="en-US" sz="1000" b="1" dirty="0">
                <a:latin typeface="Montserrat" panose="00000500000000000000" pitchFamily="2" charset="0"/>
              </a:rPr>
              <a:t>VGG-16's deep architecture is "memorizing</a:t>
            </a:r>
            <a:r>
              <a:rPr lang="en-US" sz="1000" dirty="0">
                <a:latin typeface="Montserrat" panose="00000500000000000000" pitchFamily="2" charset="0"/>
              </a:rPr>
              <a:t>" specific features rather than learning robust, class-agnostic representations.</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Optimization and Gradient Behavior</a:t>
            </a:r>
            <a:r>
              <a:rPr lang="en-US" sz="1000" dirty="0">
                <a:latin typeface="Montserrat" panose="00000500000000000000" pitchFamily="2" charset="0"/>
              </a:rPr>
              <a:t>: The erratic spikes in the validation curve point to an unstable learning rate; the model would benefit from a decay schedule to smooth out convergence and minimize the variance in its sensitivity.</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Architecture-Specific Generalization</a:t>
            </a:r>
            <a:r>
              <a:rPr lang="en-US" sz="1000" dirty="0">
                <a:latin typeface="Montserrat" panose="00000500000000000000" pitchFamily="2" charset="0"/>
              </a:rPr>
              <a:t>: The disparity in performance metrics suggests that the fully connected layers are over-parameterized for this dataset, necessitating stronger regularization like Dropout to stabilize the recall.</a:t>
            </a:r>
          </a:p>
        </p:txBody>
      </p:sp>
    </p:spTree>
    <p:extLst>
      <p:ext uri="{BB962C8B-B14F-4D97-AF65-F5344CB8AC3E}">
        <p14:creationId xmlns:p14="http://schemas.microsoft.com/office/powerpoint/2010/main" val="2320842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1EF5FF4B-74E0-A10C-F054-7CD4BDCCBF1A}"/>
            </a:ext>
          </a:extLst>
        </p:cNvPr>
        <p:cNvGrpSpPr/>
        <p:nvPr/>
      </p:nvGrpSpPr>
      <p:grpSpPr>
        <a:xfrm>
          <a:off x="0" y="0"/>
          <a:ext cx="0" cy="0"/>
          <a:chOff x="0" y="0"/>
          <a:chExt cx="0" cy="0"/>
        </a:xfrm>
      </p:grpSpPr>
      <p:sp>
        <p:nvSpPr>
          <p:cNvPr id="244" name="Google Shape;244;p44">
            <a:extLst>
              <a:ext uri="{FF2B5EF4-FFF2-40B4-BE49-F238E27FC236}">
                <a16:creationId xmlns:a16="http://schemas.microsoft.com/office/drawing/2014/main" id="{F72BDD6C-6AE4-CD6D-985C-089A7BFBCF0A}"/>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Model- Model   Model2 Confusion Metrics</a:t>
            </a:r>
            <a:endParaRPr sz="2400" dirty="0">
              <a:solidFill>
                <a:srgbClr val="0E39A9"/>
              </a:solidFill>
            </a:endParaRPr>
          </a:p>
        </p:txBody>
      </p:sp>
      <p:sp>
        <p:nvSpPr>
          <p:cNvPr id="5" name="TextBox 4">
            <a:extLst>
              <a:ext uri="{FF2B5EF4-FFF2-40B4-BE49-F238E27FC236}">
                <a16:creationId xmlns:a16="http://schemas.microsoft.com/office/drawing/2014/main" id="{8F37A38C-AB26-9CB2-E724-B61744F7052D}"/>
              </a:ext>
            </a:extLst>
          </p:cNvPr>
          <p:cNvSpPr txBox="1"/>
          <p:nvPr/>
        </p:nvSpPr>
        <p:spPr>
          <a:xfrm>
            <a:off x="592373" y="723479"/>
            <a:ext cx="2047090" cy="276999"/>
          </a:xfrm>
          <a:prstGeom prst="rect">
            <a:avLst/>
          </a:prstGeom>
          <a:noFill/>
        </p:spPr>
        <p:txBody>
          <a:bodyPr wrap="square" rtlCol="0">
            <a:spAutoFit/>
          </a:bodyPr>
          <a:lstStyle/>
          <a:p>
            <a:r>
              <a:rPr lang="en-US" sz="1200" b="1" dirty="0">
                <a:latin typeface="Nunito" pitchFamily="2" charset="0"/>
              </a:rPr>
              <a:t>Training Data </a:t>
            </a:r>
          </a:p>
        </p:txBody>
      </p:sp>
      <p:sp>
        <p:nvSpPr>
          <p:cNvPr id="8" name="TextBox 7">
            <a:extLst>
              <a:ext uri="{FF2B5EF4-FFF2-40B4-BE49-F238E27FC236}">
                <a16:creationId xmlns:a16="http://schemas.microsoft.com/office/drawing/2014/main" id="{3BB48905-0180-B40C-9459-E6370F95881C}"/>
              </a:ext>
            </a:extLst>
          </p:cNvPr>
          <p:cNvSpPr txBox="1"/>
          <p:nvPr/>
        </p:nvSpPr>
        <p:spPr>
          <a:xfrm>
            <a:off x="535444" y="2938596"/>
            <a:ext cx="2047090" cy="276999"/>
          </a:xfrm>
          <a:prstGeom prst="rect">
            <a:avLst/>
          </a:prstGeom>
          <a:noFill/>
        </p:spPr>
        <p:txBody>
          <a:bodyPr wrap="square" rtlCol="0">
            <a:spAutoFit/>
          </a:bodyPr>
          <a:lstStyle/>
          <a:p>
            <a:r>
              <a:rPr lang="en-US" sz="1200" b="1" dirty="0">
                <a:latin typeface="Nunito" pitchFamily="2" charset="0"/>
              </a:rPr>
              <a:t>Validation Data</a:t>
            </a:r>
          </a:p>
        </p:txBody>
      </p:sp>
      <p:pic>
        <p:nvPicPr>
          <p:cNvPr id="2" name="Picture 1">
            <a:extLst>
              <a:ext uri="{FF2B5EF4-FFF2-40B4-BE49-F238E27FC236}">
                <a16:creationId xmlns:a16="http://schemas.microsoft.com/office/drawing/2014/main" id="{A29F0186-C4F3-ED19-20F4-CF1772E7DCEC}"/>
              </a:ext>
            </a:extLst>
          </p:cNvPr>
          <p:cNvPicPr>
            <a:picLocks noChangeAspect="1"/>
          </p:cNvPicPr>
          <p:nvPr/>
        </p:nvPicPr>
        <p:blipFill>
          <a:blip r:embed="rId3"/>
          <a:stretch>
            <a:fillRect/>
          </a:stretch>
        </p:blipFill>
        <p:spPr>
          <a:xfrm>
            <a:off x="107856" y="955240"/>
            <a:ext cx="3111593" cy="2021648"/>
          </a:xfrm>
          <a:prstGeom prst="rect">
            <a:avLst/>
          </a:prstGeom>
        </p:spPr>
      </p:pic>
      <p:pic>
        <p:nvPicPr>
          <p:cNvPr id="9" name="Picture 8">
            <a:extLst>
              <a:ext uri="{FF2B5EF4-FFF2-40B4-BE49-F238E27FC236}">
                <a16:creationId xmlns:a16="http://schemas.microsoft.com/office/drawing/2014/main" id="{A976FEF2-7A57-2B05-9BD5-21C12249E698}"/>
              </a:ext>
            </a:extLst>
          </p:cNvPr>
          <p:cNvPicPr>
            <a:picLocks noChangeAspect="1"/>
          </p:cNvPicPr>
          <p:nvPr/>
        </p:nvPicPr>
        <p:blipFill>
          <a:blip r:embed="rId4"/>
          <a:stretch>
            <a:fillRect/>
          </a:stretch>
        </p:blipFill>
        <p:spPr>
          <a:xfrm>
            <a:off x="164787" y="3158032"/>
            <a:ext cx="3054662" cy="1915499"/>
          </a:xfrm>
          <a:prstGeom prst="rect">
            <a:avLst/>
          </a:prstGeom>
        </p:spPr>
      </p:pic>
      <p:sp>
        <p:nvSpPr>
          <p:cNvPr id="3" name="TextBox 2">
            <a:extLst>
              <a:ext uri="{FF2B5EF4-FFF2-40B4-BE49-F238E27FC236}">
                <a16:creationId xmlns:a16="http://schemas.microsoft.com/office/drawing/2014/main" id="{9C3757F1-037D-504D-DF9D-3A6024DB4834}"/>
              </a:ext>
            </a:extLst>
          </p:cNvPr>
          <p:cNvSpPr txBox="1"/>
          <p:nvPr/>
        </p:nvSpPr>
        <p:spPr>
          <a:xfrm>
            <a:off x="3962400" y="942915"/>
            <a:ext cx="4646156" cy="3385542"/>
          </a:xfrm>
          <a:prstGeom prst="rect">
            <a:avLst/>
          </a:prstGeom>
          <a:noFill/>
        </p:spPr>
        <p:txBody>
          <a:bodyPr wrap="square" rtlCol="0">
            <a:spAutoFit/>
          </a:bodyPr>
          <a:lstStyle/>
          <a:p>
            <a:r>
              <a:rPr lang="en-US" sz="1200" b="1" dirty="0">
                <a:latin typeface="Montserrat" panose="00000500000000000000" pitchFamily="2" charset="0"/>
              </a:rPr>
              <a:t>Observations </a:t>
            </a:r>
          </a:p>
          <a:p>
            <a:endParaRPr lang="en-US" sz="1200" b="1" dirty="0">
              <a:latin typeface="Montserrat" panose="00000500000000000000" pitchFamily="2" charset="0"/>
            </a:endParaRPr>
          </a:p>
          <a:p>
            <a:pPr marL="171450" indent="-171450">
              <a:buFont typeface="Arial" panose="020B0604020202020204" pitchFamily="34" charset="0"/>
              <a:buChar char="•"/>
            </a:pPr>
            <a:r>
              <a:rPr lang="en-US" sz="1000" b="1" dirty="0">
                <a:latin typeface="Montserrat" panose="00000500000000000000" pitchFamily="2" charset="0"/>
              </a:rPr>
              <a:t>Training Class Separation:</a:t>
            </a:r>
            <a:r>
              <a:rPr lang="en-US" sz="1000" dirty="0">
                <a:latin typeface="Montserrat" panose="00000500000000000000" pitchFamily="2" charset="0"/>
              </a:rPr>
              <a:t> The training confusion matrix shows perfect identification for </a:t>
            </a:r>
            <a:r>
              <a:rPr lang="en-US" sz="1000" b="1" dirty="0">
                <a:latin typeface="Montserrat" panose="00000500000000000000" pitchFamily="2" charset="0"/>
              </a:rPr>
              <a:t>Class 0 (256 correct, 0 missed), </a:t>
            </a:r>
            <a:r>
              <a:rPr lang="en-US" sz="1000" dirty="0">
                <a:latin typeface="Montserrat" panose="00000500000000000000" pitchFamily="2" charset="0"/>
              </a:rPr>
              <a:t>but significant </a:t>
            </a:r>
            <a:r>
              <a:rPr lang="en-US" sz="1000" b="1" dirty="0">
                <a:latin typeface="Montserrat" panose="00000500000000000000" pitchFamily="2" charset="0"/>
              </a:rPr>
              <a:t>leakage</a:t>
            </a:r>
            <a:r>
              <a:rPr lang="en-US" sz="1000" dirty="0">
                <a:latin typeface="Montserrat" panose="00000500000000000000" pitchFamily="2" charset="0"/>
              </a:rPr>
              <a:t> in Class 1 where </a:t>
            </a:r>
            <a:r>
              <a:rPr lang="en-US" sz="1000" b="1" dirty="0">
                <a:latin typeface="Montserrat" panose="00000500000000000000" pitchFamily="2" charset="0"/>
              </a:rPr>
              <a:t>43 instances were misclassified as Class 0.</a:t>
            </a:r>
          </a:p>
          <a:p>
            <a:pPr marL="171450" indent="-171450">
              <a:buFont typeface="Arial" panose="020B0604020202020204" pitchFamily="34" charset="0"/>
              <a:buChar char="•"/>
            </a:pPr>
            <a:endParaRPr lang="en-US" sz="1000" dirty="0">
              <a:latin typeface="Montserrat" panose="00000500000000000000" pitchFamily="2" charset="0"/>
            </a:endParaRPr>
          </a:p>
          <a:p>
            <a:pPr marL="171450" indent="-171450">
              <a:buFont typeface="Arial" panose="020B0604020202020204" pitchFamily="34" charset="0"/>
              <a:buChar char="•"/>
            </a:pPr>
            <a:r>
              <a:rPr lang="en-US" sz="1000" b="1" dirty="0">
                <a:latin typeface="Montserrat" panose="00000500000000000000" pitchFamily="2" charset="0"/>
              </a:rPr>
              <a:t>Validation Generalization:</a:t>
            </a:r>
            <a:r>
              <a:rPr lang="en-US" sz="1000" dirty="0">
                <a:latin typeface="Montserrat" panose="00000500000000000000" pitchFamily="2" charset="0"/>
              </a:rPr>
              <a:t> Similar to training, the validation set achieves </a:t>
            </a:r>
            <a:r>
              <a:rPr lang="en-US" sz="1000" b="1" dirty="0">
                <a:latin typeface="Montserrat" panose="00000500000000000000" pitchFamily="2" charset="0"/>
              </a:rPr>
              <a:t>100% accuracy on Class 0 </a:t>
            </a:r>
            <a:r>
              <a:rPr lang="en-US" sz="1000" dirty="0">
                <a:latin typeface="Montserrat" panose="00000500000000000000" pitchFamily="2" charset="0"/>
              </a:rPr>
              <a:t>but struggles with Class 1, failing to identify 7 out of 31 total instances (</a:t>
            </a:r>
            <a:r>
              <a:rPr lang="en-US" sz="1000" b="1" dirty="0">
                <a:latin typeface="Montserrat" panose="00000500000000000000" pitchFamily="2" charset="0"/>
              </a:rPr>
              <a:t>approx. 22.6% error for that class).</a:t>
            </a:r>
          </a:p>
          <a:p>
            <a:pPr marL="171450" indent="-171450">
              <a:buFont typeface="Arial" panose="020B0604020202020204" pitchFamily="34" charset="0"/>
              <a:buChar char="•"/>
            </a:pPr>
            <a:endParaRPr lang="en-US" sz="1000" dirty="0">
              <a:latin typeface="Montserrat" panose="00000500000000000000" pitchFamily="2" charset="0"/>
            </a:endParaRPr>
          </a:p>
          <a:p>
            <a:pPr marL="171450" indent="-171450">
              <a:buFont typeface="Arial" panose="020B0604020202020204" pitchFamily="34" charset="0"/>
              <a:buChar char="•"/>
            </a:pPr>
            <a:r>
              <a:rPr lang="en-US" sz="1000" b="1" dirty="0">
                <a:latin typeface="Montserrat" panose="00000500000000000000" pitchFamily="2" charset="0"/>
              </a:rPr>
              <a:t>Asymmetric Error Profile:</a:t>
            </a:r>
            <a:r>
              <a:rPr lang="en-US" sz="1000" dirty="0">
                <a:latin typeface="Montserrat" panose="00000500000000000000" pitchFamily="2" charset="0"/>
              </a:rPr>
              <a:t> The model exhibits a strong "False Negative" bias for Class 1 across both datasets, suggesting the decision boundary is </a:t>
            </a:r>
            <a:r>
              <a:rPr lang="en-US" sz="1000" b="1" dirty="0">
                <a:latin typeface="Montserrat" panose="00000500000000000000" pitchFamily="2" charset="0"/>
              </a:rPr>
              <a:t>heavily weighted toward the features defining Class 0.</a:t>
            </a:r>
          </a:p>
          <a:p>
            <a:pPr marL="171450" indent="-171450">
              <a:buFont typeface="Arial" panose="020B0604020202020204" pitchFamily="34" charset="0"/>
              <a:buChar char="•"/>
            </a:pPr>
            <a:endParaRPr lang="en-US" sz="1000" dirty="0">
              <a:latin typeface="Montserrat" panose="00000500000000000000" pitchFamily="2" charset="0"/>
            </a:endParaRPr>
          </a:p>
          <a:p>
            <a:pPr marL="171450" indent="-171450">
              <a:buFont typeface="Arial" panose="020B0604020202020204" pitchFamily="34" charset="0"/>
              <a:buChar char="•"/>
            </a:pPr>
            <a:r>
              <a:rPr lang="en-US" sz="1000" b="1" dirty="0">
                <a:latin typeface="Montserrat" panose="00000500000000000000" pitchFamily="2" charset="0"/>
              </a:rPr>
              <a:t>Over Learned :</a:t>
            </a:r>
            <a:r>
              <a:rPr lang="en-US" sz="1000" dirty="0">
                <a:latin typeface="Montserrat" panose="00000500000000000000" pitchFamily="2" charset="0"/>
              </a:rPr>
              <a:t> The zero misclassifications for Class 0 compared to the repeated errors in Class 1 indicates the model has likely over-learned the majority class and requires better class-weight balancing.</a:t>
            </a:r>
          </a:p>
        </p:txBody>
      </p:sp>
    </p:spTree>
    <p:extLst>
      <p:ext uri="{BB962C8B-B14F-4D97-AF65-F5344CB8AC3E}">
        <p14:creationId xmlns:p14="http://schemas.microsoft.com/office/powerpoint/2010/main" val="982982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296854" y="35363"/>
            <a:ext cx="744602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with FFNN-Model model3C </a:t>
            </a:r>
            <a:endParaRPr sz="2400" dirty="0">
              <a:solidFill>
                <a:srgbClr val="0E39A9"/>
              </a:solidFill>
            </a:endParaRPr>
          </a:p>
        </p:txBody>
      </p:sp>
      <p:sp>
        <p:nvSpPr>
          <p:cNvPr id="5" name="TextBox 4">
            <a:extLst>
              <a:ext uri="{FF2B5EF4-FFF2-40B4-BE49-F238E27FC236}">
                <a16:creationId xmlns:a16="http://schemas.microsoft.com/office/drawing/2014/main" id="{5537366B-957B-1471-35F4-4032AD2DC521}"/>
              </a:ext>
            </a:extLst>
          </p:cNvPr>
          <p:cNvSpPr txBox="1"/>
          <p:nvPr/>
        </p:nvSpPr>
        <p:spPr>
          <a:xfrm>
            <a:off x="349900" y="861979"/>
            <a:ext cx="2174225" cy="307777"/>
          </a:xfrm>
          <a:prstGeom prst="rect">
            <a:avLst/>
          </a:prstGeom>
          <a:noFill/>
        </p:spPr>
        <p:txBody>
          <a:bodyPr wrap="square" rtlCol="0">
            <a:spAutoFit/>
          </a:bodyPr>
          <a:lstStyle/>
          <a:p>
            <a:r>
              <a:rPr lang="en-US" dirty="0"/>
              <a:t>Model 3 Configurations </a:t>
            </a:r>
          </a:p>
        </p:txBody>
      </p:sp>
      <p:pic>
        <p:nvPicPr>
          <p:cNvPr id="3" name="Picture 2">
            <a:extLst>
              <a:ext uri="{FF2B5EF4-FFF2-40B4-BE49-F238E27FC236}">
                <a16:creationId xmlns:a16="http://schemas.microsoft.com/office/drawing/2014/main" id="{53C6858D-61F3-341E-7A48-3D359F834EAA}"/>
              </a:ext>
            </a:extLst>
          </p:cNvPr>
          <p:cNvPicPr>
            <a:picLocks noChangeAspect="1"/>
          </p:cNvPicPr>
          <p:nvPr/>
        </p:nvPicPr>
        <p:blipFill>
          <a:blip r:embed="rId3"/>
          <a:stretch>
            <a:fillRect/>
          </a:stretch>
        </p:blipFill>
        <p:spPr>
          <a:xfrm>
            <a:off x="349900" y="1169756"/>
            <a:ext cx="4324954" cy="2076740"/>
          </a:xfrm>
          <a:prstGeom prst="rect">
            <a:avLst/>
          </a:prstGeom>
        </p:spPr>
      </p:pic>
      <p:pic>
        <p:nvPicPr>
          <p:cNvPr id="8" name="Picture 7">
            <a:extLst>
              <a:ext uri="{FF2B5EF4-FFF2-40B4-BE49-F238E27FC236}">
                <a16:creationId xmlns:a16="http://schemas.microsoft.com/office/drawing/2014/main" id="{12C273DE-C096-5497-D415-5CA87E28D9C8}"/>
              </a:ext>
            </a:extLst>
          </p:cNvPr>
          <p:cNvPicPr>
            <a:picLocks noChangeAspect="1"/>
          </p:cNvPicPr>
          <p:nvPr/>
        </p:nvPicPr>
        <p:blipFill>
          <a:blip r:embed="rId4"/>
          <a:stretch>
            <a:fillRect/>
          </a:stretch>
        </p:blipFill>
        <p:spPr>
          <a:xfrm>
            <a:off x="296854" y="3554273"/>
            <a:ext cx="8756000" cy="388189"/>
          </a:xfrm>
          <a:prstGeom prst="rect">
            <a:avLst/>
          </a:prstGeom>
        </p:spPr>
      </p:pic>
      <p:pic>
        <p:nvPicPr>
          <p:cNvPr id="10" name="Picture 9">
            <a:extLst>
              <a:ext uri="{FF2B5EF4-FFF2-40B4-BE49-F238E27FC236}">
                <a16:creationId xmlns:a16="http://schemas.microsoft.com/office/drawing/2014/main" id="{98ADD5E2-C17D-8E2C-2105-B33651ABCF47}"/>
              </a:ext>
            </a:extLst>
          </p:cNvPr>
          <p:cNvPicPr>
            <a:picLocks noChangeAspect="1"/>
          </p:cNvPicPr>
          <p:nvPr/>
        </p:nvPicPr>
        <p:blipFill>
          <a:blip r:embed="rId5"/>
          <a:stretch>
            <a:fillRect/>
          </a:stretch>
        </p:blipFill>
        <p:spPr>
          <a:xfrm>
            <a:off x="4411220" y="861608"/>
            <a:ext cx="4641634" cy="2384888"/>
          </a:xfrm>
          <a:prstGeom prst="rect">
            <a:avLst/>
          </a:prstGeom>
        </p:spPr>
      </p:pic>
      <p:sp>
        <p:nvSpPr>
          <p:cNvPr id="11" name="TextBox 10">
            <a:extLst>
              <a:ext uri="{FF2B5EF4-FFF2-40B4-BE49-F238E27FC236}">
                <a16:creationId xmlns:a16="http://schemas.microsoft.com/office/drawing/2014/main" id="{C4448BD1-46E6-F5C9-91BB-6D5CCAEC6266}"/>
              </a:ext>
            </a:extLst>
          </p:cNvPr>
          <p:cNvSpPr txBox="1"/>
          <p:nvPr/>
        </p:nvSpPr>
        <p:spPr>
          <a:xfrm>
            <a:off x="349900" y="4050184"/>
            <a:ext cx="1497950" cy="400110"/>
          </a:xfrm>
          <a:prstGeom prst="rect">
            <a:avLst/>
          </a:prstGeom>
          <a:noFill/>
        </p:spPr>
        <p:txBody>
          <a:bodyPr wrap="square" rtlCol="0">
            <a:spAutoFit/>
          </a:bodyPr>
          <a:lstStyle/>
          <a:p>
            <a:r>
              <a:rPr lang="en-US" sz="1000" dirty="0">
                <a:latin typeface="Nunito" pitchFamily="2" charset="0"/>
              </a:rPr>
              <a:t>Epoch=6</a:t>
            </a:r>
          </a:p>
          <a:p>
            <a:r>
              <a:rPr lang="en-US" sz="1000" dirty="0">
                <a:latin typeface="Nunito" pitchFamily="2" charset="0"/>
              </a:rPr>
              <a:t>Batch Size=128</a:t>
            </a:r>
          </a:p>
        </p:txBody>
      </p:sp>
      <p:sp>
        <p:nvSpPr>
          <p:cNvPr id="12" name="TextBox 11">
            <a:extLst>
              <a:ext uri="{FF2B5EF4-FFF2-40B4-BE49-F238E27FC236}">
                <a16:creationId xmlns:a16="http://schemas.microsoft.com/office/drawing/2014/main" id="{84C6D8E6-D34E-4A42-FBC2-142E79E95624}"/>
              </a:ext>
            </a:extLst>
          </p:cNvPr>
          <p:cNvSpPr txBox="1"/>
          <p:nvPr/>
        </p:nvSpPr>
        <p:spPr>
          <a:xfrm>
            <a:off x="5626750" y="608063"/>
            <a:ext cx="2964800" cy="307777"/>
          </a:xfrm>
          <a:prstGeom prst="rect">
            <a:avLst/>
          </a:prstGeom>
          <a:noFill/>
        </p:spPr>
        <p:txBody>
          <a:bodyPr wrap="square" rtlCol="0">
            <a:spAutoFit/>
          </a:bodyPr>
          <a:lstStyle/>
          <a:p>
            <a:r>
              <a:rPr lang="en-US" dirty="0"/>
              <a:t>Model 3C-Summary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F9ABB691-BD65-A90A-737C-A160DFB9FA9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0ED45DC-C40B-A005-EDA5-8E151F2B87DD}"/>
              </a:ext>
            </a:extLst>
          </p:cNvPr>
          <p:cNvSpPr/>
          <p:nvPr/>
        </p:nvSpPr>
        <p:spPr>
          <a:xfrm>
            <a:off x="3562184" y="1131130"/>
            <a:ext cx="900595" cy="11192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EF76CBA0-54C6-2387-BCF2-ED12861A0F8E}"/>
              </a:ext>
            </a:extLst>
          </p:cNvPr>
          <p:cNvSpPr/>
          <p:nvPr/>
        </p:nvSpPr>
        <p:spPr>
          <a:xfrm>
            <a:off x="1876508" y="1131130"/>
            <a:ext cx="803082" cy="11192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4" name="Google Shape;254;p45">
            <a:extLst>
              <a:ext uri="{FF2B5EF4-FFF2-40B4-BE49-F238E27FC236}">
                <a16:creationId xmlns:a16="http://schemas.microsoft.com/office/drawing/2014/main" id="{EC797FF5-C93A-EFF6-A650-1F7734920BE3}"/>
              </a:ext>
            </a:extLst>
          </p:cNvPr>
          <p:cNvSpPr txBox="1">
            <a:spLocks noGrp="1"/>
          </p:cNvSpPr>
          <p:nvPr>
            <p:ph type="title"/>
          </p:nvPr>
        </p:nvSpPr>
        <p:spPr>
          <a:xfrm>
            <a:off x="252699" y="89253"/>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with FFNN-Model model3C </a:t>
            </a:r>
            <a:endParaRPr sz="2400" dirty="0">
              <a:solidFill>
                <a:srgbClr val="0E39A9"/>
              </a:solidFill>
            </a:endParaRPr>
          </a:p>
        </p:txBody>
      </p:sp>
      <p:graphicFrame>
        <p:nvGraphicFramePr>
          <p:cNvPr id="3" name="Table 2">
            <a:extLst>
              <a:ext uri="{FF2B5EF4-FFF2-40B4-BE49-F238E27FC236}">
                <a16:creationId xmlns:a16="http://schemas.microsoft.com/office/drawing/2014/main" id="{6FF50B19-CA9A-9C74-BF7F-DE47E0AF4733}"/>
              </a:ext>
            </a:extLst>
          </p:cNvPr>
          <p:cNvGraphicFramePr>
            <a:graphicFrameLocks noGrp="1"/>
          </p:cNvGraphicFramePr>
          <p:nvPr>
            <p:extLst>
              <p:ext uri="{D42A27DB-BD31-4B8C-83A1-F6EECF244321}">
                <p14:modId xmlns:p14="http://schemas.microsoft.com/office/powerpoint/2010/main" val="3139281307"/>
              </p:ext>
            </p:extLst>
          </p:nvPr>
        </p:nvGraphicFramePr>
        <p:xfrm>
          <a:off x="93319" y="1131130"/>
          <a:ext cx="4354855" cy="1119205"/>
        </p:xfrm>
        <a:graphic>
          <a:graphicData uri="http://schemas.openxmlformats.org/drawingml/2006/table">
            <a:tbl>
              <a:tblPr firstRow="1" bandRow="1">
                <a:tableStyleId>{A1BBC871-F89B-45A3-A074-B200C202542C}</a:tableStyleId>
              </a:tblPr>
              <a:tblGrid>
                <a:gridCol w="870971">
                  <a:extLst>
                    <a:ext uri="{9D8B030D-6E8A-4147-A177-3AD203B41FA5}">
                      <a16:colId xmlns:a16="http://schemas.microsoft.com/office/drawing/2014/main" val="1826010120"/>
                    </a:ext>
                  </a:extLst>
                </a:gridCol>
                <a:gridCol w="870971">
                  <a:extLst>
                    <a:ext uri="{9D8B030D-6E8A-4147-A177-3AD203B41FA5}">
                      <a16:colId xmlns:a16="http://schemas.microsoft.com/office/drawing/2014/main" val="1798283218"/>
                    </a:ext>
                  </a:extLst>
                </a:gridCol>
                <a:gridCol w="870971">
                  <a:extLst>
                    <a:ext uri="{9D8B030D-6E8A-4147-A177-3AD203B41FA5}">
                      <a16:colId xmlns:a16="http://schemas.microsoft.com/office/drawing/2014/main" val="3626656194"/>
                    </a:ext>
                  </a:extLst>
                </a:gridCol>
                <a:gridCol w="870971">
                  <a:extLst>
                    <a:ext uri="{9D8B030D-6E8A-4147-A177-3AD203B41FA5}">
                      <a16:colId xmlns:a16="http://schemas.microsoft.com/office/drawing/2014/main" val="2808250687"/>
                    </a:ext>
                  </a:extLst>
                </a:gridCol>
                <a:gridCol w="870971">
                  <a:extLst>
                    <a:ext uri="{9D8B030D-6E8A-4147-A177-3AD203B41FA5}">
                      <a16:colId xmlns:a16="http://schemas.microsoft.com/office/drawing/2014/main" val="3197973654"/>
                    </a:ext>
                  </a:extLst>
                </a:gridCol>
              </a:tblGrid>
              <a:tr h="425449">
                <a:tc>
                  <a:txBody>
                    <a:bodyPr/>
                    <a:lstStyle/>
                    <a:p>
                      <a:r>
                        <a:rPr lang="en-US" sz="1200" dirty="0"/>
                        <a:t>Type of Dataset</a:t>
                      </a:r>
                    </a:p>
                  </a:txBody>
                  <a:tcPr/>
                </a:tc>
                <a:tc>
                  <a:txBody>
                    <a:bodyPr/>
                    <a:lstStyle/>
                    <a:p>
                      <a:r>
                        <a:rPr lang="en-US" sz="1200" dirty="0"/>
                        <a:t>Accuracy</a:t>
                      </a:r>
                    </a:p>
                  </a:txBody>
                  <a:tcPr/>
                </a:tc>
                <a:tc>
                  <a:txBody>
                    <a:bodyPr/>
                    <a:lstStyle/>
                    <a:p>
                      <a:r>
                        <a:rPr lang="en-US" sz="1200" dirty="0"/>
                        <a:t>Recall</a:t>
                      </a:r>
                    </a:p>
                  </a:txBody>
                  <a:tcPr/>
                </a:tc>
                <a:tc>
                  <a:txBody>
                    <a:bodyPr/>
                    <a:lstStyle/>
                    <a:p>
                      <a:r>
                        <a:rPr lang="en-US" sz="1200" dirty="0"/>
                        <a:t>Precision </a:t>
                      </a:r>
                    </a:p>
                  </a:txBody>
                  <a:tcPr/>
                </a:tc>
                <a:tc>
                  <a:txBody>
                    <a:bodyPr/>
                    <a:lstStyle/>
                    <a:p>
                      <a:r>
                        <a:rPr lang="en-US" sz="1200" dirty="0"/>
                        <a:t>F1 Score</a:t>
                      </a:r>
                    </a:p>
                  </a:txBody>
                  <a:tcPr/>
                </a:tc>
                <a:extLst>
                  <a:ext uri="{0D108BD9-81ED-4DB2-BD59-A6C34878D82A}">
                    <a16:rowId xmlns:a16="http://schemas.microsoft.com/office/drawing/2014/main" val="663711120"/>
                  </a:ext>
                </a:extLst>
              </a:tr>
              <a:tr h="387685">
                <a:tc>
                  <a:txBody>
                    <a:bodyPr/>
                    <a:lstStyle/>
                    <a:p>
                      <a:r>
                        <a:rPr lang="en-US" sz="1100" b="1" dirty="0"/>
                        <a:t>Training</a:t>
                      </a:r>
                      <a:r>
                        <a:rPr lang="en-US" sz="1200" dirty="0"/>
                        <a:t> </a:t>
                      </a:r>
                    </a:p>
                  </a:txBody>
                  <a:tcPr/>
                </a:tc>
                <a:tc>
                  <a:txBody>
                    <a:bodyPr/>
                    <a:lstStyle/>
                    <a:p>
                      <a:r>
                        <a:rPr lang="en-US" sz="1200" dirty="0"/>
                        <a:t>0.962302 </a:t>
                      </a:r>
                    </a:p>
                  </a:txBody>
                  <a:tcPr/>
                </a:tc>
                <a:tc>
                  <a:txBody>
                    <a:bodyPr/>
                    <a:lstStyle/>
                    <a:p>
                      <a:r>
                        <a:rPr lang="en-US" sz="1200" b="1" dirty="0"/>
                        <a:t>0.962302 </a:t>
                      </a:r>
                    </a:p>
                  </a:txBody>
                  <a:tcPr/>
                </a:tc>
                <a:tc>
                  <a:txBody>
                    <a:bodyPr/>
                    <a:lstStyle/>
                    <a:p>
                      <a:r>
                        <a:rPr lang="en-US" sz="1200" dirty="0"/>
                        <a:t>0.964984 </a:t>
                      </a:r>
                    </a:p>
                  </a:txBody>
                  <a:tcPr/>
                </a:tc>
                <a:tc>
                  <a:txBody>
                    <a:bodyPr/>
                    <a:lstStyle/>
                    <a:p>
                      <a:r>
                        <a:rPr lang="en-US" sz="1200" b="1" dirty="0"/>
                        <a:t>0.962271</a:t>
                      </a:r>
                    </a:p>
                  </a:txBody>
                  <a:tcPr/>
                </a:tc>
                <a:extLst>
                  <a:ext uri="{0D108BD9-81ED-4DB2-BD59-A6C34878D82A}">
                    <a16:rowId xmlns:a16="http://schemas.microsoft.com/office/drawing/2014/main" val="336585892"/>
                  </a:ext>
                </a:extLst>
              </a:tr>
              <a:tr h="255269">
                <a:tc>
                  <a:txBody>
                    <a:bodyPr/>
                    <a:lstStyle/>
                    <a:p>
                      <a:r>
                        <a:rPr lang="en-US" sz="1100" b="1" dirty="0"/>
                        <a:t>Validation</a:t>
                      </a:r>
                      <a:r>
                        <a:rPr lang="en-US" sz="1200" dirty="0"/>
                        <a:t> </a:t>
                      </a:r>
                    </a:p>
                  </a:txBody>
                  <a:tcPr/>
                </a:tc>
                <a:tc>
                  <a:txBody>
                    <a:bodyPr/>
                    <a:lstStyle/>
                    <a:p>
                      <a:r>
                        <a:rPr lang="en-US" sz="1200" dirty="0"/>
                        <a:t>0.984127 </a:t>
                      </a:r>
                    </a:p>
                  </a:txBody>
                  <a:tcPr/>
                </a:tc>
                <a:tc>
                  <a:txBody>
                    <a:bodyPr/>
                    <a:lstStyle/>
                    <a:p>
                      <a:r>
                        <a:rPr lang="en-US" sz="1200" b="1" dirty="0"/>
                        <a:t>0.984127</a:t>
                      </a:r>
                    </a:p>
                  </a:txBody>
                  <a:tcPr/>
                </a:tc>
                <a:tc>
                  <a:txBody>
                    <a:bodyPr/>
                    <a:lstStyle/>
                    <a:p>
                      <a:r>
                        <a:rPr lang="en-US" sz="1200" dirty="0"/>
                        <a:t>0.984623 </a:t>
                      </a:r>
                    </a:p>
                  </a:txBody>
                  <a:tcPr/>
                </a:tc>
                <a:tc>
                  <a:txBody>
                    <a:bodyPr/>
                    <a:lstStyle/>
                    <a:p>
                      <a:r>
                        <a:rPr lang="en-US" sz="1200" b="1" dirty="0"/>
                        <a:t>0.984127</a:t>
                      </a:r>
                    </a:p>
                  </a:txBody>
                  <a:tcPr/>
                </a:tc>
                <a:extLst>
                  <a:ext uri="{0D108BD9-81ED-4DB2-BD59-A6C34878D82A}">
                    <a16:rowId xmlns:a16="http://schemas.microsoft.com/office/drawing/2014/main" val="3210421736"/>
                  </a:ext>
                </a:extLst>
              </a:tr>
            </a:tbl>
          </a:graphicData>
        </a:graphic>
      </p:graphicFrame>
      <p:pic>
        <p:nvPicPr>
          <p:cNvPr id="4" name="Picture 3">
            <a:extLst>
              <a:ext uri="{FF2B5EF4-FFF2-40B4-BE49-F238E27FC236}">
                <a16:creationId xmlns:a16="http://schemas.microsoft.com/office/drawing/2014/main" id="{1EA5C4DF-ED50-F281-9A9C-A5E3D07AD0E9}"/>
              </a:ext>
            </a:extLst>
          </p:cNvPr>
          <p:cNvPicPr>
            <a:picLocks noChangeAspect="1"/>
          </p:cNvPicPr>
          <p:nvPr/>
        </p:nvPicPr>
        <p:blipFill>
          <a:blip r:embed="rId3"/>
          <a:stretch>
            <a:fillRect/>
          </a:stretch>
        </p:blipFill>
        <p:spPr>
          <a:xfrm>
            <a:off x="252699" y="2473989"/>
            <a:ext cx="3195351" cy="2489528"/>
          </a:xfrm>
          <a:prstGeom prst="rect">
            <a:avLst/>
          </a:prstGeom>
        </p:spPr>
      </p:pic>
      <p:sp>
        <p:nvSpPr>
          <p:cNvPr id="5" name="TextBox 4">
            <a:extLst>
              <a:ext uri="{FF2B5EF4-FFF2-40B4-BE49-F238E27FC236}">
                <a16:creationId xmlns:a16="http://schemas.microsoft.com/office/drawing/2014/main" id="{774548DE-7F8E-769E-9164-494F083854B5}"/>
              </a:ext>
            </a:extLst>
          </p:cNvPr>
          <p:cNvSpPr txBox="1"/>
          <p:nvPr/>
        </p:nvSpPr>
        <p:spPr>
          <a:xfrm>
            <a:off x="252699" y="659410"/>
            <a:ext cx="3476625" cy="276999"/>
          </a:xfrm>
          <a:prstGeom prst="rect">
            <a:avLst/>
          </a:prstGeom>
          <a:noFill/>
        </p:spPr>
        <p:txBody>
          <a:bodyPr wrap="square" rtlCol="0">
            <a:spAutoFit/>
          </a:bodyPr>
          <a:lstStyle/>
          <a:p>
            <a:r>
              <a:rPr lang="en-US" sz="1200" b="1" dirty="0">
                <a:latin typeface="Nunito" pitchFamily="2" charset="0"/>
              </a:rPr>
              <a:t>Model Performance Metrics </a:t>
            </a:r>
          </a:p>
        </p:txBody>
      </p:sp>
      <p:sp>
        <p:nvSpPr>
          <p:cNvPr id="2" name="TextBox 1">
            <a:extLst>
              <a:ext uri="{FF2B5EF4-FFF2-40B4-BE49-F238E27FC236}">
                <a16:creationId xmlns:a16="http://schemas.microsoft.com/office/drawing/2014/main" id="{C43C5EB2-C647-7D92-AE64-F7DCFF772895}"/>
              </a:ext>
            </a:extLst>
          </p:cNvPr>
          <p:cNvSpPr txBox="1"/>
          <p:nvPr/>
        </p:nvSpPr>
        <p:spPr>
          <a:xfrm>
            <a:off x="4572000" y="653042"/>
            <a:ext cx="4354855" cy="3662541"/>
          </a:xfrm>
          <a:prstGeom prst="rect">
            <a:avLst/>
          </a:prstGeom>
          <a:noFill/>
        </p:spPr>
        <p:txBody>
          <a:bodyPr wrap="square" rtlCol="0">
            <a:spAutoFit/>
          </a:bodyPr>
          <a:lstStyle/>
          <a:p>
            <a:r>
              <a:rPr lang="en-US" b="1" dirty="0">
                <a:latin typeface="Montserrat" panose="00000500000000000000" pitchFamily="2" charset="0"/>
              </a:rPr>
              <a:t>Observations</a:t>
            </a:r>
            <a:r>
              <a:rPr lang="en-US" dirty="0">
                <a:latin typeface="Montserrat" panose="00000500000000000000" pitchFamily="2" charset="0"/>
              </a:rPr>
              <a:t> : </a:t>
            </a:r>
            <a:br>
              <a:rPr lang="en-US" dirty="0">
                <a:latin typeface="Montserrat" panose="00000500000000000000" pitchFamily="2" charset="0"/>
              </a:rPr>
            </a:br>
            <a:endParaRPr lang="en-US"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Exceptional Recall Convergence:</a:t>
            </a:r>
            <a:r>
              <a:rPr lang="en-US" sz="1000" dirty="0">
                <a:latin typeface="Montserrat" panose="00000500000000000000" pitchFamily="2" charset="0"/>
              </a:rPr>
              <a:t> The model achieves near-perfect recall on both training and validation sets </a:t>
            </a:r>
            <a:r>
              <a:rPr lang="en-US" sz="1000" b="1" dirty="0">
                <a:latin typeface="Montserrat" panose="00000500000000000000" pitchFamily="2" charset="0"/>
              </a:rPr>
              <a:t>by epoch 3</a:t>
            </a:r>
            <a:r>
              <a:rPr lang="en-US" sz="1000" dirty="0">
                <a:latin typeface="Montserrat" panose="00000500000000000000" pitchFamily="2" charset="0"/>
              </a:rPr>
              <a:t>, demonstrating highly efficient feature extraction and class sensitivity.</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Superior Generalization Power:</a:t>
            </a:r>
            <a:r>
              <a:rPr lang="en-US" sz="1000" dirty="0">
                <a:latin typeface="Montserrat" panose="00000500000000000000" pitchFamily="2" charset="0"/>
              </a:rPr>
              <a:t> With a </a:t>
            </a:r>
            <a:r>
              <a:rPr lang="en-US" sz="1000" b="1" dirty="0">
                <a:latin typeface="Montserrat" panose="00000500000000000000" pitchFamily="2" charset="0"/>
              </a:rPr>
              <a:t>validation accuracy of 98.41% </a:t>
            </a:r>
            <a:r>
              <a:rPr lang="en-US" sz="1000" dirty="0">
                <a:latin typeface="Montserrat" panose="00000500000000000000" pitchFamily="2" charset="0"/>
              </a:rPr>
              <a:t>slightly </a:t>
            </a:r>
            <a:r>
              <a:rPr lang="en-US" sz="1000" b="1" dirty="0">
                <a:latin typeface="Montserrat" panose="00000500000000000000" pitchFamily="2" charset="0"/>
              </a:rPr>
              <a:t>outperforming</a:t>
            </a:r>
            <a:r>
              <a:rPr lang="en-US" sz="1000" dirty="0">
                <a:latin typeface="Montserrat" panose="00000500000000000000" pitchFamily="2" charset="0"/>
              </a:rPr>
              <a:t> the training accuracy of </a:t>
            </a:r>
            <a:r>
              <a:rPr lang="en-US" sz="1000" b="1" dirty="0">
                <a:latin typeface="Montserrat" panose="00000500000000000000" pitchFamily="2" charset="0"/>
              </a:rPr>
              <a:t>96.23%</a:t>
            </a:r>
            <a:r>
              <a:rPr lang="en-US" sz="1000" dirty="0">
                <a:latin typeface="Montserrat" panose="00000500000000000000" pitchFamily="2" charset="0"/>
              </a:rPr>
              <a:t>, the model shows </a:t>
            </a:r>
            <a:r>
              <a:rPr lang="en-US" sz="1000" b="1" dirty="0">
                <a:latin typeface="Montserrat" panose="00000500000000000000" pitchFamily="2" charset="0"/>
              </a:rPr>
              <a:t>excellent stability and no signs of overfitting.</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High-Precision Feature Alignment:</a:t>
            </a:r>
            <a:r>
              <a:rPr lang="en-US" sz="1000" dirty="0">
                <a:latin typeface="Montserrat" panose="00000500000000000000" pitchFamily="2" charset="0"/>
              </a:rPr>
              <a:t> The precision and F1 scores are closely aligned above 98% in validation, confirming that the FFNN integration effectively minimizes false positives compared to standard VGG-16 blocks.</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Rapid Learning Dynamics:</a:t>
            </a:r>
            <a:r>
              <a:rPr lang="en-US" sz="1000" dirty="0">
                <a:latin typeface="Montserrat" panose="00000500000000000000" pitchFamily="2" charset="0"/>
              </a:rPr>
              <a:t> The steep upward trajectory of the training recall curve suggests that the FFNN layers are quickly optimizing the decision boundary for this specific dataset distribution.</a:t>
            </a:r>
          </a:p>
          <a:p>
            <a:endParaRPr lang="en-US" dirty="0">
              <a:latin typeface="Montserrat" panose="00000500000000000000" pitchFamily="2" charset="0"/>
            </a:endParaRPr>
          </a:p>
        </p:txBody>
      </p:sp>
    </p:spTree>
    <p:extLst>
      <p:ext uri="{BB962C8B-B14F-4D97-AF65-F5344CB8AC3E}">
        <p14:creationId xmlns:p14="http://schemas.microsoft.com/office/powerpoint/2010/main" val="2384355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D1DC113E-BF9D-1D46-9A64-A9F9410D7C47}"/>
            </a:ext>
          </a:extLst>
        </p:cNvPr>
        <p:cNvGrpSpPr/>
        <p:nvPr/>
      </p:nvGrpSpPr>
      <p:grpSpPr>
        <a:xfrm>
          <a:off x="0" y="0"/>
          <a:ext cx="0" cy="0"/>
          <a:chOff x="0" y="0"/>
          <a:chExt cx="0" cy="0"/>
        </a:xfrm>
      </p:grpSpPr>
      <p:sp>
        <p:nvSpPr>
          <p:cNvPr id="254" name="Google Shape;254;p45">
            <a:extLst>
              <a:ext uri="{FF2B5EF4-FFF2-40B4-BE49-F238E27FC236}">
                <a16:creationId xmlns:a16="http://schemas.microsoft.com/office/drawing/2014/main" id="{C0D0B922-3E8C-4DF8-7147-18F962503D28}"/>
              </a:ext>
            </a:extLst>
          </p:cNvPr>
          <p:cNvSpPr txBox="1">
            <a:spLocks noGrp="1"/>
          </p:cNvSpPr>
          <p:nvPr>
            <p:ph type="title"/>
          </p:nvPr>
        </p:nvSpPr>
        <p:spPr>
          <a:xfrm>
            <a:off x="311700" y="46788"/>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with FFNN-Model  </a:t>
            </a:r>
            <a:r>
              <a:rPr lang="en" sz="2000" dirty="0">
                <a:solidFill>
                  <a:srgbClr val="0E39A9"/>
                </a:solidFill>
              </a:rPr>
              <a:t>Model3C Confusion Metrics </a:t>
            </a:r>
            <a:endParaRPr sz="2400" dirty="0">
              <a:solidFill>
                <a:srgbClr val="0E39A9"/>
              </a:solidFill>
            </a:endParaRPr>
          </a:p>
        </p:txBody>
      </p:sp>
      <p:sp>
        <p:nvSpPr>
          <p:cNvPr id="5" name="TextBox 4">
            <a:extLst>
              <a:ext uri="{FF2B5EF4-FFF2-40B4-BE49-F238E27FC236}">
                <a16:creationId xmlns:a16="http://schemas.microsoft.com/office/drawing/2014/main" id="{D671279B-E168-80FA-AC0F-207ECC197524}"/>
              </a:ext>
            </a:extLst>
          </p:cNvPr>
          <p:cNvSpPr txBox="1"/>
          <p:nvPr/>
        </p:nvSpPr>
        <p:spPr>
          <a:xfrm>
            <a:off x="364200" y="499035"/>
            <a:ext cx="2375816" cy="307777"/>
          </a:xfrm>
          <a:prstGeom prst="rect">
            <a:avLst/>
          </a:prstGeom>
          <a:noFill/>
        </p:spPr>
        <p:txBody>
          <a:bodyPr wrap="square" rtlCol="0">
            <a:spAutoFit/>
          </a:bodyPr>
          <a:lstStyle/>
          <a:p>
            <a:r>
              <a:rPr lang="en-US" dirty="0">
                <a:latin typeface="Nunito" pitchFamily="2" charset="0"/>
              </a:rPr>
              <a:t>Training Data</a:t>
            </a:r>
          </a:p>
        </p:txBody>
      </p:sp>
      <p:sp>
        <p:nvSpPr>
          <p:cNvPr id="8" name="TextBox 7">
            <a:extLst>
              <a:ext uri="{FF2B5EF4-FFF2-40B4-BE49-F238E27FC236}">
                <a16:creationId xmlns:a16="http://schemas.microsoft.com/office/drawing/2014/main" id="{DF984E12-6042-20BD-0E52-9B6E3AA81FC4}"/>
              </a:ext>
            </a:extLst>
          </p:cNvPr>
          <p:cNvSpPr txBox="1"/>
          <p:nvPr/>
        </p:nvSpPr>
        <p:spPr>
          <a:xfrm>
            <a:off x="230643" y="2907049"/>
            <a:ext cx="2375816" cy="307777"/>
          </a:xfrm>
          <a:prstGeom prst="rect">
            <a:avLst/>
          </a:prstGeom>
          <a:noFill/>
        </p:spPr>
        <p:txBody>
          <a:bodyPr wrap="square" rtlCol="0">
            <a:spAutoFit/>
          </a:bodyPr>
          <a:lstStyle/>
          <a:p>
            <a:r>
              <a:rPr lang="en-US" dirty="0">
                <a:latin typeface="Nunito" pitchFamily="2" charset="0"/>
              </a:rPr>
              <a:t>Validation Data </a:t>
            </a:r>
          </a:p>
        </p:txBody>
      </p:sp>
      <p:pic>
        <p:nvPicPr>
          <p:cNvPr id="2" name="Picture 1">
            <a:extLst>
              <a:ext uri="{FF2B5EF4-FFF2-40B4-BE49-F238E27FC236}">
                <a16:creationId xmlns:a16="http://schemas.microsoft.com/office/drawing/2014/main" id="{8E51FD2D-FF28-8829-3F0D-D9D1C38FFB90}"/>
              </a:ext>
            </a:extLst>
          </p:cNvPr>
          <p:cNvPicPr>
            <a:picLocks noChangeAspect="1"/>
          </p:cNvPicPr>
          <p:nvPr/>
        </p:nvPicPr>
        <p:blipFill>
          <a:blip r:embed="rId3"/>
          <a:stretch>
            <a:fillRect/>
          </a:stretch>
        </p:blipFill>
        <p:spPr>
          <a:xfrm>
            <a:off x="230643" y="712584"/>
            <a:ext cx="2769732" cy="2161669"/>
          </a:xfrm>
          <a:prstGeom prst="rect">
            <a:avLst/>
          </a:prstGeom>
        </p:spPr>
      </p:pic>
      <p:pic>
        <p:nvPicPr>
          <p:cNvPr id="9" name="Picture 8">
            <a:extLst>
              <a:ext uri="{FF2B5EF4-FFF2-40B4-BE49-F238E27FC236}">
                <a16:creationId xmlns:a16="http://schemas.microsoft.com/office/drawing/2014/main" id="{93B5A17A-015A-E3CD-B03E-756DA7F62AA0}"/>
              </a:ext>
            </a:extLst>
          </p:cNvPr>
          <p:cNvPicPr>
            <a:picLocks noChangeAspect="1"/>
          </p:cNvPicPr>
          <p:nvPr/>
        </p:nvPicPr>
        <p:blipFill>
          <a:blip r:embed="rId4"/>
          <a:stretch>
            <a:fillRect/>
          </a:stretch>
        </p:blipFill>
        <p:spPr>
          <a:xfrm>
            <a:off x="270209" y="3205436"/>
            <a:ext cx="2730166" cy="1891276"/>
          </a:xfrm>
          <a:prstGeom prst="rect">
            <a:avLst/>
          </a:prstGeom>
        </p:spPr>
      </p:pic>
      <p:sp>
        <p:nvSpPr>
          <p:cNvPr id="3" name="TextBox 2">
            <a:extLst>
              <a:ext uri="{FF2B5EF4-FFF2-40B4-BE49-F238E27FC236}">
                <a16:creationId xmlns:a16="http://schemas.microsoft.com/office/drawing/2014/main" id="{1627E019-FDC4-B468-E900-AC3D5E40B45A}"/>
              </a:ext>
            </a:extLst>
          </p:cNvPr>
          <p:cNvSpPr txBox="1"/>
          <p:nvPr/>
        </p:nvSpPr>
        <p:spPr>
          <a:xfrm>
            <a:off x="3133932" y="806812"/>
            <a:ext cx="5948156" cy="2985433"/>
          </a:xfrm>
          <a:prstGeom prst="rect">
            <a:avLst/>
          </a:prstGeom>
          <a:noFill/>
        </p:spPr>
        <p:txBody>
          <a:bodyPr wrap="square" rtlCol="0">
            <a:spAutoFit/>
          </a:bodyPr>
          <a:lstStyle/>
          <a:p>
            <a:r>
              <a:rPr lang="en-US" b="1" dirty="0"/>
              <a:t>Observations :</a:t>
            </a:r>
          </a:p>
          <a:p>
            <a:endParaRPr lang="en-US" b="1" dirty="0"/>
          </a:p>
          <a:p>
            <a:pPr marL="171450" indent="-171450">
              <a:buFont typeface="Wingdings" panose="05000000000000000000" pitchFamily="2" charset="2"/>
              <a:buChar char="§"/>
            </a:pPr>
            <a:r>
              <a:rPr lang="en-US" sz="1000" b="1" dirty="0">
                <a:latin typeface="Montserrat" panose="00000500000000000000" pitchFamily="2" charset="0"/>
              </a:rPr>
              <a:t>Training Sensitivity and Precision:</a:t>
            </a:r>
            <a:r>
              <a:rPr lang="en-US" sz="1000" dirty="0">
                <a:latin typeface="Montserrat" panose="00000500000000000000" pitchFamily="2" charset="0"/>
              </a:rPr>
              <a:t> The training matrix reveals an exceptional ability to capture Class 1 instances </a:t>
            </a:r>
            <a:r>
              <a:rPr lang="en-US" sz="1000" b="1" dirty="0">
                <a:latin typeface="Montserrat" panose="00000500000000000000" pitchFamily="2" charset="0"/>
              </a:rPr>
              <a:t>(248 True Positives, 0 False Negatives)</a:t>
            </a:r>
            <a:r>
              <a:rPr lang="en-US" sz="1000" dirty="0">
                <a:latin typeface="Montserrat" panose="00000500000000000000" pitchFamily="2" charset="0"/>
              </a:rPr>
              <a:t>, though it shows a minor "</a:t>
            </a:r>
            <a:r>
              <a:rPr lang="en-US" sz="1000" b="1" dirty="0">
                <a:latin typeface="Montserrat" panose="00000500000000000000" pitchFamily="2" charset="0"/>
              </a:rPr>
              <a:t>False Alarm" rate with 19 Class 0 instances </a:t>
            </a:r>
            <a:r>
              <a:rPr lang="en-US" sz="1000" dirty="0">
                <a:latin typeface="Montserrat" panose="00000500000000000000" pitchFamily="2" charset="0"/>
              </a:rPr>
              <a:t>being misclassified as Cl</a:t>
            </a:r>
            <a:r>
              <a:rPr lang="en-US" sz="1000" b="1" dirty="0">
                <a:latin typeface="Montserrat" panose="00000500000000000000" pitchFamily="2" charset="0"/>
              </a:rPr>
              <a:t>ass 1</a:t>
            </a:r>
            <a:r>
              <a:rPr lang="en-US" sz="1000" dirty="0">
                <a:latin typeface="Montserrat" panose="00000500000000000000" pitchFamily="2" charset="0"/>
              </a:rPr>
              <a:t>.</a:t>
            </a:r>
          </a:p>
          <a:p>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Validation Consistency:</a:t>
            </a:r>
            <a:r>
              <a:rPr lang="en-US" sz="1000" dirty="0">
                <a:latin typeface="Montserrat" panose="00000500000000000000" pitchFamily="2" charset="0"/>
              </a:rPr>
              <a:t> On unseen data, the model maintains </a:t>
            </a:r>
            <a:r>
              <a:rPr lang="en-US" sz="1000" b="1" dirty="0">
                <a:latin typeface="Montserrat" panose="00000500000000000000" pitchFamily="2" charset="0"/>
              </a:rPr>
              <a:t>high reliability</a:t>
            </a:r>
            <a:r>
              <a:rPr lang="en-US" sz="1000" dirty="0">
                <a:latin typeface="Montserrat" panose="00000500000000000000" pitchFamily="2" charset="0"/>
              </a:rPr>
              <a:t>, correctly </a:t>
            </a:r>
            <a:r>
              <a:rPr lang="en-US" sz="1000" b="1" dirty="0">
                <a:latin typeface="Montserrat" panose="00000500000000000000" pitchFamily="2" charset="0"/>
              </a:rPr>
              <a:t>identifying 29 out of 31 Class 1 samples (93.5% recall), </a:t>
            </a:r>
            <a:r>
              <a:rPr lang="en-US" sz="1000" dirty="0">
                <a:latin typeface="Montserrat" panose="00000500000000000000" pitchFamily="2" charset="0"/>
              </a:rPr>
              <a:t>proving that the FFNN layers have successfully generalized the features learned during training.</a:t>
            </a:r>
          </a:p>
          <a:p>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Error Symmetry Analysis:</a:t>
            </a:r>
            <a:r>
              <a:rPr lang="en-US" sz="1000" dirty="0">
                <a:latin typeface="Montserrat" panose="00000500000000000000" pitchFamily="2" charset="0"/>
              </a:rPr>
              <a:t> The model exhibits very </a:t>
            </a:r>
            <a:r>
              <a:rPr lang="en-US" sz="1000" b="1" dirty="0">
                <a:latin typeface="Montserrat" panose="00000500000000000000" pitchFamily="2" charset="0"/>
              </a:rPr>
              <a:t>low "Type II" errors (missing a positive</a:t>
            </a:r>
            <a:r>
              <a:rPr lang="en-US" sz="1000" dirty="0">
                <a:latin typeface="Montserrat" panose="00000500000000000000" pitchFamily="2" charset="0"/>
              </a:rPr>
              <a:t>) in both sets, which is a critical improvement over standard VGG-16 models that often struggle with high false negative rates in minority classes.</a:t>
            </a:r>
          </a:p>
          <a:p>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Decision Boundary Robustness:</a:t>
            </a:r>
            <a:r>
              <a:rPr lang="en-US" sz="1000" dirty="0">
                <a:latin typeface="Montserrat" panose="00000500000000000000" pitchFamily="2" charset="0"/>
              </a:rPr>
              <a:t> The concentration of values along the diagonal in both matrices (237/256 for Training Class 0 and </a:t>
            </a:r>
            <a:r>
              <a:rPr lang="en-US" sz="1000" b="1" dirty="0">
                <a:latin typeface="Montserrat" panose="00000500000000000000" pitchFamily="2" charset="0"/>
              </a:rPr>
              <a:t>31/33 for </a:t>
            </a:r>
            <a:r>
              <a:rPr lang="en-US" sz="1000" dirty="0">
                <a:latin typeface="Montserrat" panose="00000500000000000000" pitchFamily="2" charset="0"/>
              </a:rPr>
              <a:t>Validation Class 0) confirms that the </a:t>
            </a:r>
            <a:r>
              <a:rPr lang="en-US" sz="1000" b="1" dirty="0">
                <a:latin typeface="Montserrat" panose="00000500000000000000" pitchFamily="2" charset="0"/>
              </a:rPr>
              <a:t>added Feed-Forward layers have optimized the spatial hierarchy for better class separation.</a:t>
            </a:r>
          </a:p>
        </p:txBody>
      </p:sp>
    </p:spTree>
    <p:extLst>
      <p:ext uri="{BB962C8B-B14F-4D97-AF65-F5344CB8AC3E}">
        <p14:creationId xmlns:p14="http://schemas.microsoft.com/office/powerpoint/2010/main" val="319503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3">
          <a:extLst>
            <a:ext uri="{FF2B5EF4-FFF2-40B4-BE49-F238E27FC236}">
              <a16:creationId xmlns:a16="http://schemas.microsoft.com/office/drawing/2014/main" id="{161ABE8C-65DF-23F0-0B77-F6D95999B854}"/>
            </a:ext>
          </a:extLst>
        </p:cNvPr>
        <p:cNvGrpSpPr/>
        <p:nvPr/>
      </p:nvGrpSpPr>
      <p:grpSpPr>
        <a:xfrm>
          <a:off x="0" y="0"/>
          <a:ext cx="0" cy="0"/>
          <a:chOff x="0" y="0"/>
          <a:chExt cx="0" cy="0"/>
        </a:xfrm>
      </p:grpSpPr>
      <p:sp>
        <p:nvSpPr>
          <p:cNvPr id="264" name="Google Shape;264;p46">
            <a:extLst>
              <a:ext uri="{FF2B5EF4-FFF2-40B4-BE49-F238E27FC236}">
                <a16:creationId xmlns:a16="http://schemas.microsoft.com/office/drawing/2014/main" id="{AD8466FC-F32A-7F31-C7D4-68F1CE2EEA0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with Data Augmentation- </a:t>
            </a:r>
            <a:r>
              <a:rPr lang="en" sz="2000" dirty="0">
                <a:solidFill>
                  <a:srgbClr val="0E39A9"/>
                </a:solidFill>
              </a:rPr>
              <a:t>Model4E</a:t>
            </a:r>
            <a:endParaRPr sz="2400" dirty="0">
              <a:solidFill>
                <a:srgbClr val="0E39A9"/>
              </a:solidFill>
            </a:endParaRPr>
          </a:p>
        </p:txBody>
      </p:sp>
      <p:pic>
        <p:nvPicPr>
          <p:cNvPr id="7" name="Picture 6">
            <a:extLst>
              <a:ext uri="{FF2B5EF4-FFF2-40B4-BE49-F238E27FC236}">
                <a16:creationId xmlns:a16="http://schemas.microsoft.com/office/drawing/2014/main" id="{6AA35A3C-8D57-6340-B1D3-27F347D05B64}"/>
              </a:ext>
            </a:extLst>
          </p:cNvPr>
          <p:cNvPicPr>
            <a:picLocks noChangeAspect="1"/>
          </p:cNvPicPr>
          <p:nvPr/>
        </p:nvPicPr>
        <p:blipFill>
          <a:blip r:embed="rId3"/>
          <a:stretch>
            <a:fillRect/>
          </a:stretch>
        </p:blipFill>
        <p:spPr>
          <a:xfrm>
            <a:off x="0" y="1011277"/>
            <a:ext cx="4191585" cy="2086266"/>
          </a:xfrm>
          <a:prstGeom prst="rect">
            <a:avLst/>
          </a:prstGeom>
        </p:spPr>
      </p:pic>
      <p:pic>
        <p:nvPicPr>
          <p:cNvPr id="9" name="Picture 8">
            <a:extLst>
              <a:ext uri="{FF2B5EF4-FFF2-40B4-BE49-F238E27FC236}">
                <a16:creationId xmlns:a16="http://schemas.microsoft.com/office/drawing/2014/main" id="{1A2DC768-7449-503D-F077-D2929497E373}"/>
              </a:ext>
            </a:extLst>
          </p:cNvPr>
          <p:cNvPicPr>
            <a:picLocks noChangeAspect="1"/>
          </p:cNvPicPr>
          <p:nvPr/>
        </p:nvPicPr>
        <p:blipFill>
          <a:blip r:embed="rId4"/>
          <a:stretch>
            <a:fillRect/>
          </a:stretch>
        </p:blipFill>
        <p:spPr>
          <a:xfrm>
            <a:off x="0" y="3169967"/>
            <a:ext cx="6963747" cy="609685"/>
          </a:xfrm>
          <a:prstGeom prst="rect">
            <a:avLst/>
          </a:prstGeom>
        </p:spPr>
      </p:pic>
      <p:sp>
        <p:nvSpPr>
          <p:cNvPr id="10" name="TextBox 9">
            <a:extLst>
              <a:ext uri="{FF2B5EF4-FFF2-40B4-BE49-F238E27FC236}">
                <a16:creationId xmlns:a16="http://schemas.microsoft.com/office/drawing/2014/main" id="{CD0551BC-0662-40FA-BB31-34D7B6F1D6A4}"/>
              </a:ext>
            </a:extLst>
          </p:cNvPr>
          <p:cNvSpPr txBox="1"/>
          <p:nvPr/>
        </p:nvSpPr>
        <p:spPr>
          <a:xfrm>
            <a:off x="93982" y="4385492"/>
            <a:ext cx="1838325" cy="215444"/>
          </a:xfrm>
          <a:prstGeom prst="rect">
            <a:avLst/>
          </a:prstGeom>
          <a:noFill/>
        </p:spPr>
        <p:txBody>
          <a:bodyPr wrap="square" rtlCol="0">
            <a:spAutoFit/>
          </a:bodyPr>
          <a:lstStyle/>
          <a:p>
            <a:r>
              <a:rPr lang="en-US" sz="800" b="1" dirty="0"/>
              <a:t>Epoch4 ==3</a:t>
            </a:r>
          </a:p>
        </p:txBody>
      </p:sp>
      <p:pic>
        <p:nvPicPr>
          <p:cNvPr id="12" name="Picture 11">
            <a:extLst>
              <a:ext uri="{FF2B5EF4-FFF2-40B4-BE49-F238E27FC236}">
                <a16:creationId xmlns:a16="http://schemas.microsoft.com/office/drawing/2014/main" id="{98D7796B-6F2E-C4C5-1FAA-949C250CEE52}"/>
              </a:ext>
            </a:extLst>
          </p:cNvPr>
          <p:cNvPicPr>
            <a:picLocks noChangeAspect="1"/>
          </p:cNvPicPr>
          <p:nvPr/>
        </p:nvPicPr>
        <p:blipFill>
          <a:blip r:embed="rId5"/>
          <a:stretch>
            <a:fillRect/>
          </a:stretch>
        </p:blipFill>
        <p:spPr>
          <a:xfrm>
            <a:off x="4462850" y="1017492"/>
            <a:ext cx="4478600" cy="2407613"/>
          </a:xfrm>
          <a:prstGeom prst="rect">
            <a:avLst/>
          </a:prstGeom>
        </p:spPr>
      </p:pic>
      <p:sp>
        <p:nvSpPr>
          <p:cNvPr id="2" name="TextBox 1">
            <a:extLst>
              <a:ext uri="{FF2B5EF4-FFF2-40B4-BE49-F238E27FC236}">
                <a16:creationId xmlns:a16="http://schemas.microsoft.com/office/drawing/2014/main" id="{B749DEAD-0C4E-13D5-07A7-DEA74D5F9A72}"/>
              </a:ext>
            </a:extLst>
          </p:cNvPr>
          <p:cNvSpPr txBox="1"/>
          <p:nvPr/>
        </p:nvSpPr>
        <p:spPr>
          <a:xfrm>
            <a:off x="100982" y="766547"/>
            <a:ext cx="2400301" cy="261610"/>
          </a:xfrm>
          <a:prstGeom prst="rect">
            <a:avLst/>
          </a:prstGeom>
          <a:noFill/>
        </p:spPr>
        <p:txBody>
          <a:bodyPr wrap="square" rtlCol="0">
            <a:spAutoFit/>
          </a:bodyPr>
          <a:lstStyle/>
          <a:p>
            <a:r>
              <a:rPr lang="en-US" sz="1100" b="1" dirty="0"/>
              <a:t>Model Configurations </a:t>
            </a:r>
          </a:p>
        </p:txBody>
      </p:sp>
      <p:sp>
        <p:nvSpPr>
          <p:cNvPr id="3" name="TextBox 2">
            <a:extLst>
              <a:ext uri="{FF2B5EF4-FFF2-40B4-BE49-F238E27FC236}">
                <a16:creationId xmlns:a16="http://schemas.microsoft.com/office/drawing/2014/main" id="{A1915F7F-01DF-EF4C-421F-C1D3500599BB}"/>
              </a:ext>
            </a:extLst>
          </p:cNvPr>
          <p:cNvSpPr txBox="1"/>
          <p:nvPr/>
        </p:nvSpPr>
        <p:spPr>
          <a:xfrm>
            <a:off x="4426741" y="683458"/>
            <a:ext cx="2400301" cy="261610"/>
          </a:xfrm>
          <a:prstGeom prst="rect">
            <a:avLst/>
          </a:prstGeom>
          <a:noFill/>
        </p:spPr>
        <p:txBody>
          <a:bodyPr wrap="square" rtlCol="0">
            <a:spAutoFit/>
          </a:bodyPr>
          <a:lstStyle/>
          <a:p>
            <a:r>
              <a:rPr lang="en-US" sz="1100" b="1" dirty="0"/>
              <a:t>Model Summary </a:t>
            </a:r>
          </a:p>
        </p:txBody>
      </p:sp>
      <p:sp>
        <p:nvSpPr>
          <p:cNvPr id="4" name="TextBox 3">
            <a:extLst>
              <a:ext uri="{FF2B5EF4-FFF2-40B4-BE49-F238E27FC236}">
                <a16:creationId xmlns:a16="http://schemas.microsoft.com/office/drawing/2014/main" id="{81FAE240-77CB-0598-925D-EFFB4F93C9E2}"/>
              </a:ext>
            </a:extLst>
          </p:cNvPr>
          <p:cNvSpPr txBox="1"/>
          <p:nvPr/>
        </p:nvSpPr>
        <p:spPr>
          <a:xfrm>
            <a:off x="53357" y="3014454"/>
            <a:ext cx="1838325" cy="215444"/>
          </a:xfrm>
          <a:prstGeom prst="rect">
            <a:avLst/>
          </a:prstGeom>
          <a:noFill/>
        </p:spPr>
        <p:txBody>
          <a:bodyPr wrap="square" rtlCol="0">
            <a:spAutoFit/>
          </a:bodyPr>
          <a:lstStyle/>
          <a:p>
            <a:r>
              <a:rPr lang="en-US" sz="800" b="1" dirty="0">
                <a:solidFill>
                  <a:srgbClr val="00B050"/>
                </a:solidFill>
              </a:rPr>
              <a:t>#Optimization Layer </a:t>
            </a:r>
          </a:p>
        </p:txBody>
      </p:sp>
      <p:sp>
        <p:nvSpPr>
          <p:cNvPr id="5" name="TextBox 4">
            <a:extLst>
              <a:ext uri="{FF2B5EF4-FFF2-40B4-BE49-F238E27FC236}">
                <a16:creationId xmlns:a16="http://schemas.microsoft.com/office/drawing/2014/main" id="{8F5BDE85-426F-C664-591C-A781B3653D27}"/>
              </a:ext>
            </a:extLst>
          </p:cNvPr>
          <p:cNvSpPr txBox="1"/>
          <p:nvPr/>
        </p:nvSpPr>
        <p:spPr>
          <a:xfrm>
            <a:off x="100982" y="3785328"/>
            <a:ext cx="7357093" cy="707886"/>
          </a:xfrm>
          <a:prstGeom prst="rect">
            <a:avLst/>
          </a:prstGeom>
          <a:noFill/>
        </p:spPr>
        <p:txBody>
          <a:bodyPr wrap="square" rtlCol="0">
            <a:spAutoFit/>
          </a:bodyPr>
          <a:lstStyle/>
          <a:p>
            <a:r>
              <a:rPr lang="en-US" sz="800" b="1" dirty="0">
                <a:solidFill>
                  <a:srgbClr val="00B050"/>
                </a:solidFill>
              </a:rPr>
              <a:t>#Data Augmentation Configurations</a:t>
            </a:r>
          </a:p>
          <a:p>
            <a:r>
              <a:rPr lang="en-US" sz="800" dirty="0">
                <a:solidFill>
                  <a:schemeClr val="tx1"/>
                </a:solidFill>
                <a:latin typeface="Nunito" pitchFamily="2" charset="0"/>
              </a:rPr>
              <a:t>rotation_range=20</a:t>
            </a:r>
            <a:r>
              <a:rPr lang="en-US" sz="800" b="1" dirty="0">
                <a:solidFill>
                  <a:srgbClr val="00B050"/>
                </a:solidFill>
                <a:latin typeface="Nunito" pitchFamily="2" charset="0"/>
              </a:rPr>
              <a:t>  </a:t>
            </a:r>
          </a:p>
          <a:p>
            <a:r>
              <a:rPr lang="en-US" sz="800" dirty="0" err="1">
                <a:solidFill>
                  <a:schemeClr val="tx1"/>
                </a:solidFill>
                <a:latin typeface="Nunito" pitchFamily="2" charset="0"/>
              </a:rPr>
              <a:t>fill_mode</a:t>
            </a:r>
            <a:r>
              <a:rPr lang="en-US" sz="800" dirty="0">
                <a:solidFill>
                  <a:schemeClr val="tx1"/>
                </a:solidFill>
                <a:latin typeface="Nunito" pitchFamily="2" charset="0"/>
              </a:rPr>
              <a:t>=</a:t>
            </a:r>
            <a:r>
              <a:rPr lang="en-US" sz="800" dirty="0">
                <a:solidFill>
                  <a:srgbClr val="C00000"/>
                </a:solidFill>
                <a:latin typeface="Nunito" pitchFamily="2" charset="0"/>
              </a:rPr>
              <a:t>'nearest</a:t>
            </a:r>
            <a:r>
              <a:rPr lang="en-US" sz="800" dirty="0">
                <a:solidFill>
                  <a:schemeClr val="tx1"/>
                </a:solidFill>
                <a:latin typeface="Nunito" pitchFamily="2" charset="0"/>
              </a:rPr>
              <a:t>’</a:t>
            </a:r>
          </a:p>
          <a:p>
            <a:r>
              <a:rPr lang="en-US" sz="800" dirty="0" err="1">
                <a:latin typeface="Nunito" pitchFamily="2" charset="0"/>
              </a:rPr>
              <a:t>width_shift_range</a:t>
            </a:r>
            <a:r>
              <a:rPr lang="en-US" sz="800" dirty="0">
                <a:latin typeface="Nunito" pitchFamily="2" charset="0"/>
              </a:rPr>
              <a:t>=0.2,height_shift_range=0.2,shear_range=0.3,zoom_range=0.3</a:t>
            </a:r>
          </a:p>
          <a:p>
            <a:endParaRPr lang="en-US" sz="800" b="1" dirty="0">
              <a:solidFill>
                <a:srgbClr val="00B050"/>
              </a:solidFill>
            </a:endParaRPr>
          </a:p>
        </p:txBody>
      </p:sp>
    </p:spTree>
    <p:extLst>
      <p:ext uri="{BB962C8B-B14F-4D97-AF65-F5344CB8AC3E}">
        <p14:creationId xmlns:p14="http://schemas.microsoft.com/office/powerpoint/2010/main" val="1832395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4" name="Rectangle 3">
            <a:extLst>
              <a:ext uri="{FF2B5EF4-FFF2-40B4-BE49-F238E27FC236}">
                <a16:creationId xmlns:a16="http://schemas.microsoft.com/office/drawing/2014/main" id="{D6EF7173-C1C5-12CE-128B-F03F49B59256}"/>
              </a:ext>
            </a:extLst>
          </p:cNvPr>
          <p:cNvSpPr/>
          <p:nvPr/>
        </p:nvSpPr>
        <p:spPr>
          <a:xfrm>
            <a:off x="3665551" y="1210533"/>
            <a:ext cx="906449" cy="11481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96E8B39B-46B0-686E-FAB0-58EE99534238}"/>
              </a:ext>
            </a:extLst>
          </p:cNvPr>
          <p:cNvSpPr/>
          <p:nvPr/>
        </p:nvSpPr>
        <p:spPr>
          <a:xfrm>
            <a:off x="1900362" y="1210533"/>
            <a:ext cx="811033" cy="11481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with Data Augmentation Model 4</a:t>
            </a:r>
            <a:endParaRPr sz="2400" dirty="0">
              <a:solidFill>
                <a:srgbClr val="0E39A9"/>
              </a:solidFill>
            </a:endParaRPr>
          </a:p>
        </p:txBody>
      </p:sp>
      <p:pic>
        <p:nvPicPr>
          <p:cNvPr id="13" name="Picture 12">
            <a:extLst>
              <a:ext uri="{FF2B5EF4-FFF2-40B4-BE49-F238E27FC236}">
                <a16:creationId xmlns:a16="http://schemas.microsoft.com/office/drawing/2014/main" id="{E42B5037-EE22-3367-68DA-4885CB1C0736}"/>
              </a:ext>
            </a:extLst>
          </p:cNvPr>
          <p:cNvPicPr>
            <a:picLocks noChangeAspect="1"/>
          </p:cNvPicPr>
          <p:nvPr/>
        </p:nvPicPr>
        <p:blipFill>
          <a:blip r:embed="rId3"/>
          <a:stretch>
            <a:fillRect/>
          </a:stretch>
        </p:blipFill>
        <p:spPr>
          <a:xfrm>
            <a:off x="100982" y="2358671"/>
            <a:ext cx="3363854" cy="2699389"/>
          </a:xfrm>
          <a:prstGeom prst="rect">
            <a:avLst/>
          </a:prstGeom>
        </p:spPr>
      </p:pic>
      <p:graphicFrame>
        <p:nvGraphicFramePr>
          <p:cNvPr id="14" name="Table 13">
            <a:extLst>
              <a:ext uri="{FF2B5EF4-FFF2-40B4-BE49-F238E27FC236}">
                <a16:creationId xmlns:a16="http://schemas.microsoft.com/office/drawing/2014/main" id="{6011B108-4604-656B-91B2-BFB6D8995DD5}"/>
              </a:ext>
            </a:extLst>
          </p:cNvPr>
          <p:cNvGraphicFramePr>
            <a:graphicFrameLocks noGrp="1"/>
          </p:cNvGraphicFramePr>
          <p:nvPr>
            <p:extLst>
              <p:ext uri="{D42A27DB-BD31-4B8C-83A1-F6EECF244321}">
                <p14:modId xmlns:p14="http://schemas.microsoft.com/office/powerpoint/2010/main" val="41906852"/>
              </p:ext>
            </p:extLst>
          </p:nvPr>
        </p:nvGraphicFramePr>
        <p:xfrm>
          <a:off x="135795" y="1210533"/>
          <a:ext cx="4419680" cy="1148138"/>
        </p:xfrm>
        <a:graphic>
          <a:graphicData uri="http://schemas.openxmlformats.org/drawingml/2006/table">
            <a:tbl>
              <a:tblPr firstRow="1" bandRow="1">
                <a:tableStyleId>{A1BBC871-F89B-45A3-A074-B200C202542C}</a:tableStyleId>
              </a:tblPr>
              <a:tblGrid>
                <a:gridCol w="883936">
                  <a:extLst>
                    <a:ext uri="{9D8B030D-6E8A-4147-A177-3AD203B41FA5}">
                      <a16:colId xmlns:a16="http://schemas.microsoft.com/office/drawing/2014/main" val="1826010120"/>
                    </a:ext>
                  </a:extLst>
                </a:gridCol>
                <a:gridCol w="883936">
                  <a:extLst>
                    <a:ext uri="{9D8B030D-6E8A-4147-A177-3AD203B41FA5}">
                      <a16:colId xmlns:a16="http://schemas.microsoft.com/office/drawing/2014/main" val="1798283218"/>
                    </a:ext>
                  </a:extLst>
                </a:gridCol>
                <a:gridCol w="883936">
                  <a:extLst>
                    <a:ext uri="{9D8B030D-6E8A-4147-A177-3AD203B41FA5}">
                      <a16:colId xmlns:a16="http://schemas.microsoft.com/office/drawing/2014/main" val="3626656194"/>
                    </a:ext>
                  </a:extLst>
                </a:gridCol>
                <a:gridCol w="883936">
                  <a:extLst>
                    <a:ext uri="{9D8B030D-6E8A-4147-A177-3AD203B41FA5}">
                      <a16:colId xmlns:a16="http://schemas.microsoft.com/office/drawing/2014/main" val="2808250687"/>
                    </a:ext>
                  </a:extLst>
                </a:gridCol>
                <a:gridCol w="883936">
                  <a:extLst>
                    <a:ext uri="{9D8B030D-6E8A-4147-A177-3AD203B41FA5}">
                      <a16:colId xmlns:a16="http://schemas.microsoft.com/office/drawing/2014/main" val="3197973654"/>
                    </a:ext>
                  </a:extLst>
                </a:gridCol>
              </a:tblGrid>
              <a:tr h="416618">
                <a:tc>
                  <a:txBody>
                    <a:bodyPr/>
                    <a:lstStyle/>
                    <a:p>
                      <a:r>
                        <a:rPr lang="en-US" sz="1200" dirty="0"/>
                        <a:t>Type of Dataset</a:t>
                      </a:r>
                    </a:p>
                  </a:txBody>
                  <a:tcPr/>
                </a:tc>
                <a:tc>
                  <a:txBody>
                    <a:bodyPr/>
                    <a:lstStyle/>
                    <a:p>
                      <a:r>
                        <a:rPr lang="en-US" sz="1200" dirty="0"/>
                        <a:t>Accuracy</a:t>
                      </a:r>
                    </a:p>
                  </a:txBody>
                  <a:tcPr/>
                </a:tc>
                <a:tc>
                  <a:txBody>
                    <a:bodyPr/>
                    <a:lstStyle/>
                    <a:p>
                      <a:r>
                        <a:rPr lang="en-US" sz="1200" dirty="0"/>
                        <a:t>Recall</a:t>
                      </a:r>
                    </a:p>
                  </a:txBody>
                  <a:tcPr/>
                </a:tc>
                <a:tc>
                  <a:txBody>
                    <a:bodyPr/>
                    <a:lstStyle/>
                    <a:p>
                      <a:r>
                        <a:rPr lang="en-US" sz="1200" dirty="0"/>
                        <a:t>Precision </a:t>
                      </a:r>
                    </a:p>
                  </a:txBody>
                  <a:tcPr/>
                </a:tc>
                <a:tc>
                  <a:txBody>
                    <a:bodyPr/>
                    <a:lstStyle/>
                    <a:p>
                      <a:r>
                        <a:rPr lang="en-US" sz="1200" dirty="0"/>
                        <a:t>F1 Score</a:t>
                      </a:r>
                    </a:p>
                  </a:txBody>
                  <a:tcPr/>
                </a:tc>
                <a:extLst>
                  <a:ext uri="{0D108BD9-81ED-4DB2-BD59-A6C34878D82A}">
                    <a16:rowId xmlns:a16="http://schemas.microsoft.com/office/drawing/2014/main" val="663711120"/>
                  </a:ext>
                </a:extLst>
              </a:tr>
              <a:tr h="416618">
                <a:tc>
                  <a:txBody>
                    <a:bodyPr/>
                    <a:lstStyle/>
                    <a:p>
                      <a:r>
                        <a:rPr lang="en-US" sz="1100" b="1" dirty="0"/>
                        <a:t>Training</a:t>
                      </a:r>
                      <a:r>
                        <a:rPr lang="en-US" sz="1200" dirty="0"/>
                        <a:t> </a:t>
                      </a:r>
                    </a:p>
                  </a:txBody>
                  <a:tcPr/>
                </a:tc>
                <a:tc>
                  <a:txBody>
                    <a:bodyPr/>
                    <a:lstStyle/>
                    <a:p>
                      <a:r>
                        <a:rPr lang="en-US" sz="1200" dirty="0"/>
                        <a:t>0.978175 </a:t>
                      </a:r>
                    </a:p>
                  </a:txBody>
                  <a:tcPr/>
                </a:tc>
                <a:tc>
                  <a:txBody>
                    <a:bodyPr/>
                    <a:lstStyle/>
                    <a:p>
                      <a:r>
                        <a:rPr lang="en-US" sz="1200" b="1" dirty="0"/>
                        <a:t>0.978175 </a:t>
                      </a:r>
                    </a:p>
                  </a:txBody>
                  <a:tcPr/>
                </a:tc>
                <a:tc>
                  <a:txBody>
                    <a:bodyPr/>
                    <a:lstStyle/>
                    <a:p>
                      <a:r>
                        <a:rPr lang="en-US" sz="1200" dirty="0"/>
                        <a:t>0.978774 </a:t>
                      </a:r>
                    </a:p>
                  </a:txBody>
                  <a:tcPr/>
                </a:tc>
                <a:tc>
                  <a:txBody>
                    <a:bodyPr/>
                    <a:lstStyle/>
                    <a:p>
                      <a:r>
                        <a:rPr lang="en-US" sz="1200" b="1" dirty="0"/>
                        <a:t>0.978161</a:t>
                      </a:r>
                    </a:p>
                  </a:txBody>
                  <a:tcPr/>
                </a:tc>
                <a:extLst>
                  <a:ext uri="{0D108BD9-81ED-4DB2-BD59-A6C34878D82A}">
                    <a16:rowId xmlns:a16="http://schemas.microsoft.com/office/drawing/2014/main" val="336585892"/>
                  </a:ext>
                </a:extLst>
              </a:tr>
              <a:tr h="249971">
                <a:tc>
                  <a:txBody>
                    <a:bodyPr/>
                    <a:lstStyle/>
                    <a:p>
                      <a:r>
                        <a:rPr lang="en-US" sz="1100" b="1" dirty="0"/>
                        <a:t>Validation</a:t>
                      </a:r>
                      <a:r>
                        <a:rPr lang="en-US" sz="1200" dirty="0"/>
                        <a:t> </a:t>
                      </a:r>
                    </a:p>
                  </a:txBody>
                  <a:tcPr/>
                </a:tc>
                <a:tc>
                  <a:txBody>
                    <a:bodyPr/>
                    <a:lstStyle/>
                    <a:p>
                      <a:r>
                        <a:rPr lang="en-US" sz="1200" dirty="0"/>
                        <a:t>0.968254 </a:t>
                      </a:r>
                    </a:p>
                  </a:txBody>
                  <a:tcPr/>
                </a:tc>
                <a:tc>
                  <a:txBody>
                    <a:bodyPr/>
                    <a:lstStyle/>
                    <a:p>
                      <a:r>
                        <a:rPr lang="en-US" sz="1200" b="1" dirty="0"/>
                        <a:t>0.968254 </a:t>
                      </a:r>
                    </a:p>
                  </a:txBody>
                  <a:tcPr/>
                </a:tc>
                <a:tc>
                  <a:txBody>
                    <a:bodyPr/>
                    <a:lstStyle/>
                    <a:p>
                      <a:r>
                        <a:rPr lang="en-US" sz="1200" dirty="0"/>
                        <a:t>0.970121 </a:t>
                      </a:r>
                    </a:p>
                  </a:txBody>
                  <a:tcPr/>
                </a:tc>
                <a:tc>
                  <a:txBody>
                    <a:bodyPr/>
                    <a:lstStyle/>
                    <a:p>
                      <a:r>
                        <a:rPr lang="en-US" sz="1200" b="1" dirty="0"/>
                        <a:t>0.968206</a:t>
                      </a:r>
                    </a:p>
                  </a:txBody>
                  <a:tcPr/>
                </a:tc>
                <a:extLst>
                  <a:ext uri="{0D108BD9-81ED-4DB2-BD59-A6C34878D82A}">
                    <a16:rowId xmlns:a16="http://schemas.microsoft.com/office/drawing/2014/main" val="3210421736"/>
                  </a:ext>
                </a:extLst>
              </a:tr>
            </a:tbl>
          </a:graphicData>
        </a:graphic>
      </p:graphicFrame>
      <p:sp>
        <p:nvSpPr>
          <p:cNvPr id="15" name="TextBox 14">
            <a:extLst>
              <a:ext uri="{FF2B5EF4-FFF2-40B4-BE49-F238E27FC236}">
                <a16:creationId xmlns:a16="http://schemas.microsoft.com/office/drawing/2014/main" id="{BC02B87A-9823-B911-83A5-A54DF938EEEF}"/>
              </a:ext>
            </a:extLst>
          </p:cNvPr>
          <p:cNvSpPr txBox="1"/>
          <p:nvPr/>
        </p:nvSpPr>
        <p:spPr>
          <a:xfrm>
            <a:off x="100982" y="766547"/>
            <a:ext cx="2400301" cy="261610"/>
          </a:xfrm>
          <a:prstGeom prst="rect">
            <a:avLst/>
          </a:prstGeom>
          <a:noFill/>
        </p:spPr>
        <p:txBody>
          <a:bodyPr wrap="square" rtlCol="0">
            <a:spAutoFit/>
          </a:bodyPr>
          <a:lstStyle/>
          <a:p>
            <a:r>
              <a:rPr lang="en-US" sz="1100" b="1" dirty="0"/>
              <a:t>Model Performance Metrics </a:t>
            </a:r>
          </a:p>
        </p:txBody>
      </p:sp>
      <p:sp>
        <p:nvSpPr>
          <p:cNvPr id="2" name="TextBox 1">
            <a:extLst>
              <a:ext uri="{FF2B5EF4-FFF2-40B4-BE49-F238E27FC236}">
                <a16:creationId xmlns:a16="http://schemas.microsoft.com/office/drawing/2014/main" id="{1605F94B-CDE1-87A7-C371-17E57905062C}"/>
              </a:ext>
            </a:extLst>
          </p:cNvPr>
          <p:cNvSpPr txBox="1"/>
          <p:nvPr/>
        </p:nvSpPr>
        <p:spPr>
          <a:xfrm>
            <a:off x="4670537" y="748355"/>
            <a:ext cx="4337668" cy="4154984"/>
          </a:xfrm>
          <a:prstGeom prst="rect">
            <a:avLst/>
          </a:prstGeom>
          <a:noFill/>
        </p:spPr>
        <p:txBody>
          <a:bodyPr wrap="square" rtlCol="0">
            <a:spAutoFit/>
          </a:bodyPr>
          <a:lstStyle/>
          <a:p>
            <a:r>
              <a:rPr lang="en-US" sz="1200" b="1" dirty="0">
                <a:latin typeface="Montserrat" panose="00000500000000000000" pitchFamily="2" charset="0"/>
              </a:rPr>
              <a:t>Observations </a:t>
            </a:r>
          </a:p>
          <a:p>
            <a:endParaRPr lang="en-US" sz="1200" b="1"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Enhanced Generalization and Overfitting Mitigation:</a:t>
            </a:r>
            <a:r>
              <a:rPr lang="en-US" sz="1000" dirty="0">
                <a:latin typeface="Montserrat" panose="00000500000000000000" pitchFamily="2" charset="0"/>
              </a:rPr>
              <a:t> The recall plot demonstrates that data augmentation has successfully </a:t>
            </a:r>
            <a:r>
              <a:rPr lang="en-US" sz="1000" b="1" dirty="0">
                <a:latin typeface="Montserrat" panose="00000500000000000000" pitchFamily="2" charset="0"/>
              </a:rPr>
              <a:t>minimized the gap between training and validation sensitivity</a:t>
            </a:r>
            <a:r>
              <a:rPr lang="en-US" sz="1000" dirty="0">
                <a:latin typeface="Montserrat" panose="00000500000000000000" pitchFamily="2" charset="0"/>
              </a:rPr>
              <a:t>, preventing the "</a:t>
            </a:r>
            <a:r>
              <a:rPr lang="en-US" sz="1000" b="1" dirty="0">
                <a:latin typeface="Montserrat" panose="00000500000000000000" pitchFamily="2" charset="0"/>
              </a:rPr>
              <a:t>memorization</a:t>
            </a:r>
            <a:r>
              <a:rPr lang="en-US" sz="1000" dirty="0">
                <a:latin typeface="Montserrat" panose="00000500000000000000" pitchFamily="2" charset="0"/>
              </a:rPr>
              <a:t>" behavior typically seen in deep </a:t>
            </a:r>
            <a:r>
              <a:rPr lang="en-US" sz="1000" b="1" dirty="0">
                <a:latin typeface="Montserrat" panose="00000500000000000000" pitchFamily="2" charset="0"/>
              </a:rPr>
              <a:t>VGG-16 architectures.</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Stabilized Learning Trajectory:</a:t>
            </a:r>
            <a:r>
              <a:rPr lang="en-US" sz="1000" dirty="0">
                <a:latin typeface="Montserrat" panose="00000500000000000000" pitchFamily="2" charset="0"/>
              </a:rPr>
              <a:t> By introducing variations like rotation and fill mode, the model has achieved </a:t>
            </a:r>
            <a:r>
              <a:rPr lang="en-US" sz="1000" b="1" dirty="0">
                <a:latin typeface="Montserrat" panose="00000500000000000000" pitchFamily="2" charset="0"/>
              </a:rPr>
              <a:t>a smoother convergence in its recall curve</a:t>
            </a:r>
            <a:r>
              <a:rPr lang="en-US" sz="1000" dirty="0">
                <a:latin typeface="Montserrat" panose="00000500000000000000" pitchFamily="2" charset="0"/>
              </a:rPr>
              <a:t>, indicating that the optimization process is less sensitive to specific pixel noise and more focused on </a:t>
            </a:r>
            <a:r>
              <a:rPr lang="en-US" sz="1000" b="1" dirty="0">
                <a:latin typeface="Montserrat" panose="00000500000000000000" pitchFamily="2" charset="0"/>
              </a:rPr>
              <a:t>robust spatial hierarchies</a:t>
            </a:r>
          </a:p>
          <a:p>
            <a:pPr marL="171450" indent="-171450">
              <a:buFont typeface="Wingdings" panose="05000000000000000000" pitchFamily="2" charset="2"/>
              <a:buChar char="§"/>
            </a:pPr>
            <a:endParaRPr lang="en-US" sz="1000" b="1" dirty="0">
              <a:latin typeface="Montserrat" panose="00000500000000000000" pitchFamily="2" charset="0"/>
            </a:endParaRPr>
          </a:p>
          <a:p>
            <a:pPr marL="171450" indent="-171450">
              <a:buFont typeface="Wingdings" panose="05000000000000000000" pitchFamily="2" charset="2"/>
              <a:buChar char="§"/>
            </a:pPr>
            <a:r>
              <a:rPr lang="en-US" sz="1000" dirty="0">
                <a:latin typeface="Montserrat" panose="00000500000000000000" pitchFamily="2" charset="0"/>
              </a:rPr>
              <a:t>. </a:t>
            </a:r>
            <a:r>
              <a:rPr lang="en-US" sz="1000" b="1" dirty="0">
                <a:latin typeface="Montserrat" panose="00000500000000000000" pitchFamily="2" charset="0"/>
              </a:rPr>
              <a:t>Improved Decision Boundary Robustness:</a:t>
            </a:r>
            <a:r>
              <a:rPr lang="en-US" sz="1000" dirty="0">
                <a:latin typeface="Montserrat" panose="00000500000000000000" pitchFamily="2" charset="0"/>
              </a:rPr>
              <a:t> The performance metrics suggest that the model's ability to distinguish between classes has become more invariant to orientation and lighting, </a:t>
            </a:r>
            <a:r>
              <a:rPr lang="en-US" sz="1000" b="1" dirty="0">
                <a:latin typeface="Montserrat" panose="00000500000000000000" pitchFamily="2" charset="0"/>
              </a:rPr>
              <a:t>leading to high precision and recall even when faced with unseen validation samples.</a:t>
            </a:r>
          </a:p>
          <a:p>
            <a:pPr marL="171450" indent="-171450">
              <a:buFont typeface="Wingdings" panose="05000000000000000000" pitchFamily="2" charset="2"/>
              <a:buChar char="§"/>
            </a:pPr>
            <a:endParaRPr lang="en-US" sz="1000" b="1"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Regularization via Data Diversity:</a:t>
            </a:r>
            <a:r>
              <a:rPr lang="en-US" sz="1000" dirty="0">
                <a:latin typeface="Montserrat" panose="00000500000000000000" pitchFamily="2" charset="0"/>
              </a:rPr>
              <a:t> The use of an </a:t>
            </a:r>
            <a:r>
              <a:rPr lang="en-US" sz="1000" dirty="0" err="1">
                <a:latin typeface="Montserrat" panose="00000500000000000000" pitchFamily="2" charset="0"/>
              </a:rPr>
              <a:t>ImageDataGenerator</a:t>
            </a:r>
            <a:r>
              <a:rPr lang="en-US" sz="1000" dirty="0">
                <a:latin typeface="Montserrat" panose="00000500000000000000" pitchFamily="2" charset="0"/>
              </a:rPr>
              <a:t> for real-time augmentation has effectively acted as a powerful </a:t>
            </a:r>
            <a:r>
              <a:rPr lang="en-US" sz="1000" b="1" dirty="0" err="1">
                <a:latin typeface="Montserrat" panose="00000500000000000000" pitchFamily="2" charset="0"/>
              </a:rPr>
              <a:t>regularizer</a:t>
            </a:r>
            <a:r>
              <a:rPr lang="en-US" sz="1000" dirty="0">
                <a:latin typeface="Montserrat" panose="00000500000000000000" pitchFamily="2" charset="0"/>
              </a:rPr>
              <a:t>, forcing the 138 million parameters of the VGG-16 to learn more generalized features rather than over-adjusting to a limited training set.</a:t>
            </a:r>
          </a:p>
          <a:p>
            <a:endParaRPr lang="en-US" sz="1000" dirty="0">
              <a:latin typeface="Montserrat" panose="00000500000000000000" pitchFamily="2"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
          <a:extLst>
            <a:ext uri="{FF2B5EF4-FFF2-40B4-BE49-F238E27FC236}">
              <a16:creationId xmlns:a16="http://schemas.microsoft.com/office/drawing/2014/main" id="{4A095634-3DBC-91AE-D878-2F5D0081D988}"/>
            </a:ext>
          </a:extLst>
        </p:cNvPr>
        <p:cNvGrpSpPr/>
        <p:nvPr/>
      </p:nvGrpSpPr>
      <p:grpSpPr>
        <a:xfrm>
          <a:off x="0" y="0"/>
          <a:ext cx="0" cy="0"/>
          <a:chOff x="0" y="0"/>
          <a:chExt cx="0" cy="0"/>
        </a:xfrm>
      </p:grpSpPr>
      <p:sp>
        <p:nvSpPr>
          <p:cNvPr id="264" name="Google Shape;264;p46">
            <a:extLst>
              <a:ext uri="{FF2B5EF4-FFF2-40B4-BE49-F238E27FC236}">
                <a16:creationId xmlns:a16="http://schemas.microsoft.com/office/drawing/2014/main" id="{E62703BF-9F10-4534-1A7B-28D86450562A}"/>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VGG-16 with Data </a:t>
            </a:r>
            <a:r>
              <a:rPr lang="en" sz="2000" dirty="0">
                <a:solidFill>
                  <a:srgbClr val="0E39A9"/>
                </a:solidFill>
              </a:rPr>
              <a:t>Augmentation-Model 4 Confusion Metrics </a:t>
            </a:r>
            <a:endParaRPr sz="2400" dirty="0">
              <a:solidFill>
                <a:srgbClr val="0E39A9"/>
              </a:solidFill>
            </a:endParaRPr>
          </a:p>
        </p:txBody>
      </p:sp>
      <p:sp>
        <p:nvSpPr>
          <p:cNvPr id="15" name="TextBox 14">
            <a:extLst>
              <a:ext uri="{FF2B5EF4-FFF2-40B4-BE49-F238E27FC236}">
                <a16:creationId xmlns:a16="http://schemas.microsoft.com/office/drawing/2014/main" id="{856B3CD8-85B7-9967-5700-420DB517B602}"/>
              </a:ext>
            </a:extLst>
          </p:cNvPr>
          <p:cNvSpPr txBox="1"/>
          <p:nvPr/>
        </p:nvSpPr>
        <p:spPr>
          <a:xfrm>
            <a:off x="100982" y="766547"/>
            <a:ext cx="2842243" cy="261610"/>
          </a:xfrm>
          <a:prstGeom prst="rect">
            <a:avLst/>
          </a:prstGeom>
          <a:noFill/>
        </p:spPr>
        <p:txBody>
          <a:bodyPr wrap="square" rtlCol="0">
            <a:spAutoFit/>
          </a:bodyPr>
          <a:lstStyle/>
          <a:p>
            <a:r>
              <a:rPr lang="en-US" sz="1100" b="1" dirty="0"/>
              <a:t>Taring Data  </a:t>
            </a:r>
          </a:p>
        </p:txBody>
      </p:sp>
      <p:pic>
        <p:nvPicPr>
          <p:cNvPr id="2" name="Picture 1">
            <a:extLst>
              <a:ext uri="{FF2B5EF4-FFF2-40B4-BE49-F238E27FC236}">
                <a16:creationId xmlns:a16="http://schemas.microsoft.com/office/drawing/2014/main" id="{2B466B9D-7EB2-29BF-00C0-B8045096B4B8}"/>
              </a:ext>
            </a:extLst>
          </p:cNvPr>
          <p:cNvPicPr>
            <a:picLocks noChangeAspect="1"/>
          </p:cNvPicPr>
          <p:nvPr/>
        </p:nvPicPr>
        <p:blipFill>
          <a:blip r:embed="rId3"/>
          <a:stretch>
            <a:fillRect/>
          </a:stretch>
        </p:blipFill>
        <p:spPr>
          <a:xfrm>
            <a:off x="100982" y="1049752"/>
            <a:ext cx="2626315" cy="1839285"/>
          </a:xfrm>
          <a:prstGeom prst="rect">
            <a:avLst/>
          </a:prstGeom>
        </p:spPr>
      </p:pic>
      <p:sp>
        <p:nvSpPr>
          <p:cNvPr id="3" name="TextBox 2">
            <a:extLst>
              <a:ext uri="{FF2B5EF4-FFF2-40B4-BE49-F238E27FC236}">
                <a16:creationId xmlns:a16="http://schemas.microsoft.com/office/drawing/2014/main" id="{4CB2F243-31AB-5F91-3A20-1D2658509FE3}"/>
              </a:ext>
            </a:extLst>
          </p:cNvPr>
          <p:cNvSpPr txBox="1"/>
          <p:nvPr/>
        </p:nvSpPr>
        <p:spPr>
          <a:xfrm>
            <a:off x="100982" y="2793575"/>
            <a:ext cx="3023632" cy="261610"/>
          </a:xfrm>
          <a:prstGeom prst="rect">
            <a:avLst/>
          </a:prstGeom>
          <a:noFill/>
        </p:spPr>
        <p:txBody>
          <a:bodyPr wrap="square" rtlCol="0">
            <a:spAutoFit/>
          </a:bodyPr>
          <a:lstStyle/>
          <a:p>
            <a:r>
              <a:rPr lang="en-US" sz="1100" b="1" dirty="0"/>
              <a:t>Validation  Data  </a:t>
            </a:r>
          </a:p>
        </p:txBody>
      </p:sp>
      <p:pic>
        <p:nvPicPr>
          <p:cNvPr id="4" name="Picture 3">
            <a:extLst>
              <a:ext uri="{FF2B5EF4-FFF2-40B4-BE49-F238E27FC236}">
                <a16:creationId xmlns:a16="http://schemas.microsoft.com/office/drawing/2014/main" id="{666FDA0A-FA93-216F-41CE-E06F529C93A6}"/>
              </a:ext>
            </a:extLst>
          </p:cNvPr>
          <p:cNvPicPr>
            <a:picLocks noChangeAspect="1"/>
          </p:cNvPicPr>
          <p:nvPr/>
        </p:nvPicPr>
        <p:blipFill>
          <a:blip r:embed="rId4"/>
          <a:stretch>
            <a:fillRect/>
          </a:stretch>
        </p:blipFill>
        <p:spPr>
          <a:xfrm>
            <a:off x="100982" y="3028618"/>
            <a:ext cx="2626314" cy="1825603"/>
          </a:xfrm>
          <a:prstGeom prst="rect">
            <a:avLst/>
          </a:prstGeom>
        </p:spPr>
      </p:pic>
      <p:sp>
        <p:nvSpPr>
          <p:cNvPr id="5" name="TextBox 4">
            <a:extLst>
              <a:ext uri="{FF2B5EF4-FFF2-40B4-BE49-F238E27FC236}">
                <a16:creationId xmlns:a16="http://schemas.microsoft.com/office/drawing/2014/main" id="{E3F684F9-15FA-C25E-6E6C-CAB38E3DB9A0}"/>
              </a:ext>
            </a:extLst>
          </p:cNvPr>
          <p:cNvSpPr txBox="1"/>
          <p:nvPr/>
        </p:nvSpPr>
        <p:spPr>
          <a:xfrm>
            <a:off x="3325212" y="1028157"/>
            <a:ext cx="5598536" cy="3077766"/>
          </a:xfrm>
          <a:prstGeom prst="rect">
            <a:avLst/>
          </a:prstGeom>
          <a:noFill/>
        </p:spPr>
        <p:txBody>
          <a:bodyPr wrap="square" rtlCol="0">
            <a:spAutoFit/>
          </a:bodyPr>
          <a:lstStyle/>
          <a:p>
            <a:r>
              <a:rPr lang="en-US" sz="1000" b="1" dirty="0">
                <a:latin typeface="Montserrat" panose="00000500000000000000" pitchFamily="2" charset="0"/>
              </a:rPr>
              <a:t>Observations </a:t>
            </a:r>
          </a:p>
          <a:p>
            <a:endParaRPr lang="en-US" sz="1000" b="1"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Training Set Robustness and Precision:</a:t>
            </a:r>
            <a:r>
              <a:rPr lang="en-US" sz="1000" dirty="0">
                <a:latin typeface="Montserrat" panose="00000500000000000000" pitchFamily="2" charset="0"/>
              </a:rPr>
              <a:t> The training matrix shows a significant reduction in class leakage, with the model achieving a high true positive count while maintaining low false alarms, indicating that the augmentation has effectively "regularized" the 138 million parameters.</a:t>
            </a:r>
          </a:p>
          <a:p>
            <a:pPr marL="171450" indent="-171450">
              <a:buFont typeface="Wingdings" panose="05000000000000000000" pitchFamily="2" charset="2"/>
              <a:buChar char="§"/>
            </a:pPr>
            <a:r>
              <a:rPr lang="en-US" sz="1000" b="1" dirty="0">
                <a:latin typeface="Montserrat" panose="00000500000000000000" pitchFamily="2" charset="0"/>
              </a:rPr>
              <a:t>Validation Sensitivity and Reliability:</a:t>
            </a:r>
            <a:r>
              <a:rPr lang="en-US" sz="1000" dirty="0">
                <a:latin typeface="Montserrat" panose="00000500000000000000" pitchFamily="2" charset="0"/>
              </a:rPr>
              <a:t> The validation matrix confirms that the high training performance is not a result of memorization; the model maintains consistent diagonal dominance, correctly classifying a large majority of unseen samples despite the geometric variations introduced.</a:t>
            </a:r>
          </a:p>
          <a:p>
            <a:pPr marL="171450" indent="-171450">
              <a:buFont typeface="Wingdings" panose="05000000000000000000" pitchFamily="2" charset="2"/>
              <a:buChar char="§"/>
            </a:pPr>
            <a:r>
              <a:rPr lang="en-US" sz="1000" b="1" dirty="0">
                <a:latin typeface="Montserrat" panose="00000500000000000000" pitchFamily="2" charset="0"/>
              </a:rPr>
              <a:t>Mitigation of Class-Specific Bias:</a:t>
            </a:r>
            <a:r>
              <a:rPr lang="en-US" sz="1000" dirty="0">
                <a:latin typeface="Montserrat" panose="00000500000000000000" pitchFamily="2" charset="0"/>
              </a:rPr>
              <a:t> Unlike earlier iterations, the error distribution in Model 4 is more symmetrical across classes, suggesting that augmentation has helped the model learn invariant features that don't lean heavily toward a majority class.</a:t>
            </a:r>
          </a:p>
          <a:p>
            <a:pPr marL="171450" indent="-171450">
              <a:buFont typeface="Wingdings" panose="05000000000000000000" pitchFamily="2" charset="2"/>
              <a:buChar char="§"/>
            </a:pPr>
            <a:r>
              <a:rPr lang="en-US" sz="1000" b="1" dirty="0">
                <a:latin typeface="Montserrat" panose="00000500000000000000" pitchFamily="2" charset="0"/>
              </a:rPr>
              <a:t>Improved Decision Boundary for Unseen Data:</a:t>
            </a:r>
            <a:r>
              <a:rPr lang="en-US" sz="1000" dirty="0">
                <a:latin typeface="Montserrat" panose="00000500000000000000" pitchFamily="2" charset="0"/>
              </a:rPr>
              <a:t> The low off-diagonal counts in both the training and validation matrices prove that the decision boundary is now robust enough to handle the "noise" and variability typical of real-world image datasets.</a:t>
            </a:r>
          </a:p>
          <a:p>
            <a:endParaRPr lang="en-US" dirty="0"/>
          </a:p>
        </p:txBody>
      </p:sp>
    </p:spTree>
    <p:extLst>
      <p:ext uri="{BB962C8B-B14F-4D97-AF65-F5344CB8AC3E}">
        <p14:creationId xmlns:p14="http://schemas.microsoft.com/office/powerpoint/2010/main" val="1040362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0C4306D6-515D-2DFE-DBDB-8629132707F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5C2789E-A5E2-E7FD-3E28-483A3ABFE7B4}"/>
              </a:ext>
            </a:extLst>
          </p:cNvPr>
          <p:cNvSpPr/>
          <p:nvPr/>
        </p:nvSpPr>
        <p:spPr>
          <a:xfrm>
            <a:off x="4874150" y="3586038"/>
            <a:ext cx="834887" cy="13457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74" name="Google Shape;274;p47">
            <a:extLst>
              <a:ext uri="{FF2B5EF4-FFF2-40B4-BE49-F238E27FC236}">
                <a16:creationId xmlns:a16="http://schemas.microsoft.com/office/drawing/2014/main" id="{A3ACA238-4210-AF0E-E324-6C6F160A796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Model Performance Comparison</a:t>
            </a:r>
            <a:endParaRPr sz="2400" dirty="0">
              <a:solidFill>
                <a:srgbClr val="0E39A9"/>
              </a:solidFill>
            </a:endParaRPr>
          </a:p>
        </p:txBody>
      </p:sp>
      <p:sp>
        <p:nvSpPr>
          <p:cNvPr id="4" name="Google Shape;275;p47">
            <a:extLst>
              <a:ext uri="{FF2B5EF4-FFF2-40B4-BE49-F238E27FC236}">
                <a16:creationId xmlns:a16="http://schemas.microsoft.com/office/drawing/2014/main" id="{45AA0CFD-7B78-4D66-76A1-1AEEE7C2A8A3}"/>
              </a:ext>
            </a:extLst>
          </p:cNvPr>
          <p:cNvSpPr txBox="1"/>
          <p:nvPr/>
        </p:nvSpPr>
        <p:spPr>
          <a:xfrm>
            <a:off x="146230" y="2844896"/>
            <a:ext cx="1618959" cy="43239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b="1" dirty="0">
                <a:latin typeface="Nunito"/>
                <a:ea typeface="Nunito"/>
                <a:cs typeface="Nunito"/>
                <a:sym typeface="Nunito"/>
              </a:rPr>
              <a:t>Validation  Data</a:t>
            </a:r>
            <a:endParaRPr b="0" i="1" u="none" strike="noStrike" cap="none" dirty="0">
              <a:solidFill>
                <a:srgbClr val="000000"/>
              </a:solidFill>
              <a:latin typeface="Nunito"/>
              <a:ea typeface="Nunito"/>
              <a:cs typeface="Nunito"/>
              <a:sym typeface="Nunito"/>
            </a:endParaRPr>
          </a:p>
        </p:txBody>
      </p:sp>
      <p:graphicFrame>
        <p:nvGraphicFramePr>
          <p:cNvPr id="3" name="Table 2">
            <a:extLst>
              <a:ext uri="{FF2B5EF4-FFF2-40B4-BE49-F238E27FC236}">
                <a16:creationId xmlns:a16="http://schemas.microsoft.com/office/drawing/2014/main" id="{75F74CD6-007B-A274-8DF0-91C159DD78D5}"/>
              </a:ext>
            </a:extLst>
          </p:cNvPr>
          <p:cNvGraphicFramePr>
            <a:graphicFrameLocks noGrp="1"/>
          </p:cNvGraphicFramePr>
          <p:nvPr>
            <p:extLst>
              <p:ext uri="{D42A27DB-BD31-4B8C-83A1-F6EECF244321}">
                <p14:modId xmlns:p14="http://schemas.microsoft.com/office/powerpoint/2010/main" val="3858917582"/>
              </p:ext>
            </p:extLst>
          </p:nvPr>
        </p:nvGraphicFramePr>
        <p:xfrm>
          <a:off x="231085" y="3255424"/>
          <a:ext cx="8681830" cy="1753895"/>
        </p:xfrm>
        <a:graphic>
          <a:graphicData uri="http://schemas.openxmlformats.org/drawingml/2006/table">
            <a:tbl>
              <a:tblPr firstRow="1" bandRow="1">
                <a:tableStyleId>{3B4B98B0-60AC-42C2-AFA5-B58CD77FA1E5}</a:tableStyleId>
              </a:tblPr>
              <a:tblGrid>
                <a:gridCol w="1744317">
                  <a:extLst>
                    <a:ext uri="{9D8B030D-6E8A-4147-A177-3AD203B41FA5}">
                      <a16:colId xmlns:a16="http://schemas.microsoft.com/office/drawing/2014/main" val="3636173673"/>
                    </a:ext>
                  </a:extLst>
                </a:gridCol>
                <a:gridCol w="1308487">
                  <a:extLst>
                    <a:ext uri="{9D8B030D-6E8A-4147-A177-3AD203B41FA5}">
                      <a16:colId xmlns:a16="http://schemas.microsoft.com/office/drawing/2014/main" val="1249874323"/>
                    </a:ext>
                  </a:extLst>
                </a:gridCol>
                <a:gridCol w="1590261">
                  <a:extLst>
                    <a:ext uri="{9D8B030D-6E8A-4147-A177-3AD203B41FA5}">
                      <a16:colId xmlns:a16="http://schemas.microsoft.com/office/drawing/2014/main" val="2136973078"/>
                    </a:ext>
                  </a:extLst>
                </a:gridCol>
                <a:gridCol w="1832278">
                  <a:extLst>
                    <a:ext uri="{9D8B030D-6E8A-4147-A177-3AD203B41FA5}">
                      <a16:colId xmlns:a16="http://schemas.microsoft.com/office/drawing/2014/main" val="2705340560"/>
                    </a:ext>
                  </a:extLst>
                </a:gridCol>
                <a:gridCol w="2206487">
                  <a:extLst>
                    <a:ext uri="{9D8B030D-6E8A-4147-A177-3AD203B41FA5}">
                      <a16:colId xmlns:a16="http://schemas.microsoft.com/office/drawing/2014/main" val="3970232238"/>
                    </a:ext>
                  </a:extLst>
                </a:gridCol>
              </a:tblGrid>
              <a:tr h="414557">
                <a:tc>
                  <a:txBody>
                    <a:bodyPr/>
                    <a:lstStyle/>
                    <a:p>
                      <a:r>
                        <a:rPr lang="en-US" sz="1000" dirty="0"/>
                        <a:t>Performance </a:t>
                      </a:r>
                    </a:p>
                    <a:p>
                      <a:r>
                        <a:rPr lang="en-US" sz="1000" dirty="0"/>
                        <a:t>Metrics</a:t>
                      </a:r>
                      <a:endParaRPr lang="en-US" sz="1000" dirty="0">
                        <a:latin typeface="Nunito" pitchFamily="2" charset="0"/>
                      </a:endParaRPr>
                    </a:p>
                  </a:txBody>
                  <a:tcPr/>
                </a:tc>
                <a:tc>
                  <a:txBody>
                    <a:bodyPr/>
                    <a:lstStyle/>
                    <a:p>
                      <a:r>
                        <a:rPr lang="en-US" sz="1000" dirty="0"/>
                        <a:t>CNN</a:t>
                      </a:r>
                      <a:endParaRPr lang="en-US" sz="1000" dirty="0">
                        <a:latin typeface="Nunito" pitchFamily="2" charset="0"/>
                      </a:endParaRPr>
                    </a:p>
                  </a:txBody>
                  <a:tcPr/>
                </a:tc>
                <a:tc>
                  <a:txBody>
                    <a:bodyPr/>
                    <a:lstStyle/>
                    <a:p>
                      <a:r>
                        <a:rPr lang="en-US" sz="1000" dirty="0"/>
                        <a:t>VGG-16(Base)</a:t>
                      </a:r>
                      <a:endParaRPr lang="en-US" sz="1000" dirty="0">
                        <a:latin typeface="Nunito" pitchFamily="2" charset="0"/>
                      </a:endParaRPr>
                    </a:p>
                  </a:txBody>
                  <a:tcPr/>
                </a:tc>
                <a:tc>
                  <a:txBody>
                    <a:bodyPr/>
                    <a:lstStyle/>
                    <a:p>
                      <a:r>
                        <a:rPr lang="en-US" sz="1000" dirty="0"/>
                        <a:t>VGG-16(Base+FFNN)</a:t>
                      </a:r>
                      <a:endParaRPr lang="en-US" sz="1000" dirty="0">
                        <a:latin typeface="Nunito" pitchFamily="2" charset="0"/>
                      </a:endParaRPr>
                    </a:p>
                  </a:txBody>
                  <a:tcPr/>
                </a:tc>
                <a:tc>
                  <a:txBody>
                    <a:bodyPr/>
                    <a:lstStyle/>
                    <a:p>
                      <a:r>
                        <a:rPr lang="en-US" sz="1000" dirty="0"/>
                        <a:t>VGG-16( Base+ FFNN + Data Aug</a:t>
                      </a:r>
                    </a:p>
                    <a:p>
                      <a:endParaRPr lang="en-US" sz="1000" dirty="0">
                        <a:latin typeface="Nunito" pitchFamily="2" charset="0"/>
                      </a:endParaRPr>
                    </a:p>
                  </a:txBody>
                  <a:tcPr/>
                </a:tc>
                <a:extLst>
                  <a:ext uri="{0D108BD9-81ED-4DB2-BD59-A6C34878D82A}">
                    <a16:rowId xmlns:a16="http://schemas.microsoft.com/office/drawing/2014/main" val="612895562"/>
                  </a:ext>
                </a:extLst>
              </a:tr>
              <a:tr h="255112">
                <a:tc>
                  <a:txBody>
                    <a:bodyPr/>
                    <a:lstStyle/>
                    <a:p>
                      <a:r>
                        <a:rPr lang="en-US" sz="1000" b="1" dirty="0"/>
                        <a:t>Accuracy</a:t>
                      </a:r>
                      <a:endParaRPr lang="en-US" sz="1000" b="1" dirty="0">
                        <a:latin typeface="Nunito" pitchFamily="2" charset="0"/>
                      </a:endParaRPr>
                    </a:p>
                  </a:txBody>
                  <a:tcPr/>
                </a:tc>
                <a:tc>
                  <a:txBody>
                    <a:bodyPr/>
                    <a:lstStyle/>
                    <a:p>
                      <a:r>
                        <a:rPr lang="en-US" sz="1000" dirty="0"/>
                        <a:t>0.952381</a:t>
                      </a:r>
                      <a:endParaRPr lang="en-US" sz="1000" dirty="0">
                        <a:latin typeface="Nunito" pitchFamily="2" charset="0"/>
                      </a:endParaRPr>
                    </a:p>
                  </a:txBody>
                  <a:tcPr/>
                </a:tc>
                <a:tc>
                  <a:txBody>
                    <a:bodyPr/>
                    <a:lstStyle/>
                    <a:p>
                      <a:r>
                        <a:rPr lang="en-US" sz="1000" dirty="0"/>
                        <a:t>0.888889</a:t>
                      </a:r>
                      <a:endParaRPr lang="en-US" sz="1000" dirty="0">
                        <a:latin typeface="Nunito" pitchFamily="2" charset="0"/>
                      </a:endParaRPr>
                    </a:p>
                  </a:txBody>
                  <a:tcPr/>
                </a:tc>
                <a:tc>
                  <a:txBody>
                    <a:bodyPr/>
                    <a:lstStyle/>
                    <a:p>
                      <a:r>
                        <a:rPr lang="en-US" sz="1000" b="1" dirty="0"/>
                        <a:t>0.984127</a:t>
                      </a:r>
                      <a:endParaRPr lang="en-US" sz="1000" b="1" dirty="0">
                        <a:latin typeface="Nunito" pitchFamily="2" charset="0"/>
                      </a:endParaRPr>
                    </a:p>
                  </a:txBody>
                  <a:tcPr/>
                </a:tc>
                <a:tc>
                  <a:txBody>
                    <a:bodyPr/>
                    <a:lstStyle/>
                    <a:p>
                      <a:r>
                        <a:rPr lang="en-US" sz="1000" dirty="0"/>
                        <a:t>0.968254</a:t>
                      </a:r>
                      <a:endParaRPr lang="en-US" sz="1000" dirty="0">
                        <a:latin typeface="Nunito" pitchFamily="2" charset="0"/>
                      </a:endParaRPr>
                    </a:p>
                  </a:txBody>
                  <a:tcPr/>
                </a:tc>
                <a:extLst>
                  <a:ext uri="{0D108BD9-81ED-4DB2-BD59-A6C34878D82A}">
                    <a16:rowId xmlns:a16="http://schemas.microsoft.com/office/drawing/2014/main" val="1033385968"/>
                  </a:ext>
                </a:extLst>
              </a:tr>
              <a:tr h="414557">
                <a:tc>
                  <a:txBody>
                    <a:bodyPr/>
                    <a:lstStyle/>
                    <a:p>
                      <a:r>
                        <a:rPr lang="en-US" sz="1000" b="1" dirty="0"/>
                        <a:t>Recall</a:t>
                      </a:r>
                      <a:endParaRPr lang="en-US" sz="1000" b="1" dirty="0">
                        <a:latin typeface="Nunito" pitchFamily="2" charset="0"/>
                      </a:endParaRPr>
                    </a:p>
                  </a:txBody>
                  <a:tcPr/>
                </a:tc>
                <a:tc>
                  <a:txBody>
                    <a:bodyPr/>
                    <a:lstStyle/>
                    <a:p>
                      <a:r>
                        <a:rPr lang="en-US" sz="1000" dirty="0"/>
                        <a:t>0.952381</a:t>
                      </a:r>
                      <a:endParaRPr lang="en-US" sz="1000" dirty="0">
                        <a:latin typeface="Nunito" pitchFamily="2" charset="0"/>
                      </a:endParaRPr>
                    </a:p>
                  </a:txBody>
                  <a:tcPr/>
                </a:tc>
                <a:tc>
                  <a:txBody>
                    <a:bodyPr/>
                    <a:lstStyle/>
                    <a:p>
                      <a:r>
                        <a:rPr lang="en-US" sz="1000" dirty="0"/>
                        <a:t>0.888889</a:t>
                      </a:r>
                    </a:p>
                    <a:p>
                      <a:endParaRPr lang="en-US" sz="1000" dirty="0">
                        <a:latin typeface="Nunito" pitchFamily="2" charset="0"/>
                      </a:endParaRPr>
                    </a:p>
                  </a:txBody>
                  <a:tcPr/>
                </a:tc>
                <a:tc>
                  <a:txBody>
                    <a:bodyPr/>
                    <a:lstStyle/>
                    <a:p>
                      <a:r>
                        <a:rPr lang="en-US" sz="1000" b="1" dirty="0"/>
                        <a:t>0.984127</a:t>
                      </a:r>
                      <a:endParaRPr lang="en-US" sz="1000" b="1" dirty="0">
                        <a:latin typeface="Nunito" pitchFamily="2" charset="0"/>
                      </a:endParaRPr>
                    </a:p>
                  </a:txBody>
                  <a:tcPr/>
                </a:tc>
                <a:tc>
                  <a:txBody>
                    <a:bodyPr/>
                    <a:lstStyle/>
                    <a:p>
                      <a:r>
                        <a:rPr lang="en-US" sz="1000" dirty="0"/>
                        <a:t>0.968254</a:t>
                      </a:r>
                      <a:endParaRPr lang="en-US" sz="1000" dirty="0">
                        <a:latin typeface="Nunito" pitchFamily="2" charset="0"/>
                      </a:endParaRPr>
                    </a:p>
                  </a:txBody>
                  <a:tcPr/>
                </a:tc>
                <a:extLst>
                  <a:ext uri="{0D108BD9-81ED-4DB2-BD59-A6C34878D82A}">
                    <a16:rowId xmlns:a16="http://schemas.microsoft.com/office/drawing/2014/main" val="3792027269"/>
                  </a:ext>
                </a:extLst>
              </a:tr>
              <a:tr h="255112">
                <a:tc>
                  <a:txBody>
                    <a:bodyPr/>
                    <a:lstStyle/>
                    <a:p>
                      <a:r>
                        <a:rPr lang="en-US" sz="1000" b="1" dirty="0"/>
                        <a:t>Precession</a:t>
                      </a:r>
                      <a:endParaRPr lang="en-US" sz="1000" b="1" dirty="0">
                        <a:latin typeface="Nunito" pitchFamily="2" charset="0"/>
                      </a:endParaRPr>
                    </a:p>
                  </a:txBody>
                  <a:tcPr/>
                </a:tc>
                <a:tc>
                  <a:txBody>
                    <a:bodyPr/>
                    <a:lstStyle/>
                    <a:p>
                      <a:r>
                        <a:rPr lang="en-US" sz="1000" dirty="0"/>
                        <a:t>0.956583</a:t>
                      </a:r>
                      <a:endParaRPr lang="en-US" sz="1000" dirty="0">
                        <a:latin typeface="Nunito" pitchFamily="2" charset="0"/>
                      </a:endParaRPr>
                    </a:p>
                  </a:txBody>
                  <a:tcPr/>
                </a:tc>
                <a:tc>
                  <a:txBody>
                    <a:bodyPr/>
                    <a:lstStyle/>
                    <a:p>
                      <a:r>
                        <a:rPr lang="en-US" sz="1000" dirty="0"/>
                        <a:t>0.908832</a:t>
                      </a:r>
                      <a:endParaRPr lang="en-US" sz="1000" dirty="0">
                        <a:latin typeface="Nunito" pitchFamily="2" charset="0"/>
                      </a:endParaRPr>
                    </a:p>
                  </a:txBody>
                  <a:tcPr/>
                </a:tc>
                <a:tc>
                  <a:txBody>
                    <a:bodyPr/>
                    <a:lstStyle/>
                    <a:p>
                      <a:r>
                        <a:rPr lang="en-US" sz="1000" b="1" dirty="0"/>
                        <a:t>0.984623</a:t>
                      </a:r>
                      <a:endParaRPr lang="en-US" sz="1000" b="1" dirty="0">
                        <a:latin typeface="Nunito" pitchFamily="2" charset="0"/>
                      </a:endParaRPr>
                    </a:p>
                  </a:txBody>
                  <a:tcPr/>
                </a:tc>
                <a:tc>
                  <a:txBody>
                    <a:bodyPr/>
                    <a:lstStyle/>
                    <a:p>
                      <a:r>
                        <a:rPr lang="en-US" sz="1000" dirty="0"/>
                        <a:t>0.970121</a:t>
                      </a:r>
                      <a:endParaRPr lang="en-US" sz="1000" dirty="0">
                        <a:latin typeface="Nunito" pitchFamily="2" charset="0"/>
                      </a:endParaRPr>
                    </a:p>
                  </a:txBody>
                  <a:tcPr/>
                </a:tc>
                <a:extLst>
                  <a:ext uri="{0D108BD9-81ED-4DB2-BD59-A6C34878D82A}">
                    <a16:rowId xmlns:a16="http://schemas.microsoft.com/office/drawing/2014/main" val="695472846"/>
                  </a:ext>
                </a:extLst>
              </a:tr>
              <a:tr h="414557">
                <a:tc>
                  <a:txBody>
                    <a:bodyPr/>
                    <a:lstStyle/>
                    <a:p>
                      <a:r>
                        <a:rPr lang="en-US" sz="1000" b="1" dirty="0"/>
                        <a:t>F1 Score</a:t>
                      </a:r>
                      <a:endParaRPr lang="en-US" sz="1000" b="1" dirty="0">
                        <a:latin typeface="Nunito" pitchFamily="2" charset="0"/>
                      </a:endParaRPr>
                    </a:p>
                  </a:txBody>
                  <a:tcPr/>
                </a:tc>
                <a:tc>
                  <a:txBody>
                    <a:bodyPr/>
                    <a:lstStyle/>
                    <a:p>
                      <a:r>
                        <a:rPr lang="en-US" sz="1000" dirty="0"/>
                        <a:t>0.952309</a:t>
                      </a:r>
                      <a:endParaRPr lang="en-US" sz="1000" dirty="0">
                        <a:latin typeface="Nunito"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u="none" strike="noStrike" kern="0" cap="none" spc="0" normalizeH="0" baseline="0" noProof="0" dirty="0">
                          <a:ln>
                            <a:noFill/>
                          </a:ln>
                          <a:solidFill>
                            <a:srgbClr val="000000"/>
                          </a:solidFill>
                          <a:effectLst/>
                          <a:uLnTx/>
                          <a:uFillTx/>
                          <a:sym typeface="Arial"/>
                        </a:rPr>
                        <a:t>0.887295</a:t>
                      </a:r>
                    </a:p>
                    <a:p>
                      <a:endParaRPr lang="en-US" sz="1000" dirty="0">
                        <a:latin typeface="Nunito" pitchFamily="2" charset="0"/>
                      </a:endParaRPr>
                    </a:p>
                  </a:txBody>
                  <a:tcPr/>
                </a:tc>
                <a:tc>
                  <a:txBody>
                    <a:bodyPr/>
                    <a:lstStyle/>
                    <a:p>
                      <a:r>
                        <a:rPr lang="en-US" sz="1000" b="1" dirty="0"/>
                        <a:t>0.984127</a:t>
                      </a:r>
                      <a:endParaRPr lang="en-US" sz="1000" b="1" dirty="0">
                        <a:latin typeface="Nunito" pitchFamily="2" charset="0"/>
                      </a:endParaRPr>
                    </a:p>
                  </a:txBody>
                  <a:tcPr/>
                </a:tc>
                <a:tc>
                  <a:txBody>
                    <a:bodyPr/>
                    <a:lstStyle/>
                    <a:p>
                      <a:r>
                        <a:rPr lang="en-US" sz="1000" dirty="0"/>
                        <a:t>0.968206</a:t>
                      </a:r>
                      <a:endParaRPr lang="en-US" sz="1000" dirty="0">
                        <a:latin typeface="Nunito" pitchFamily="2" charset="0"/>
                      </a:endParaRPr>
                    </a:p>
                  </a:txBody>
                  <a:tcPr/>
                </a:tc>
                <a:extLst>
                  <a:ext uri="{0D108BD9-81ED-4DB2-BD59-A6C34878D82A}">
                    <a16:rowId xmlns:a16="http://schemas.microsoft.com/office/drawing/2014/main" val="74644860"/>
                  </a:ext>
                </a:extLst>
              </a:tr>
            </a:tbl>
          </a:graphicData>
        </a:graphic>
      </p:graphicFrame>
      <p:graphicFrame>
        <p:nvGraphicFramePr>
          <p:cNvPr id="7" name="Table 6">
            <a:extLst>
              <a:ext uri="{FF2B5EF4-FFF2-40B4-BE49-F238E27FC236}">
                <a16:creationId xmlns:a16="http://schemas.microsoft.com/office/drawing/2014/main" id="{A994C83B-441E-5C4C-F88F-1255681B8FC8}"/>
              </a:ext>
            </a:extLst>
          </p:cNvPr>
          <p:cNvGraphicFramePr>
            <a:graphicFrameLocks noGrp="1"/>
          </p:cNvGraphicFramePr>
          <p:nvPr>
            <p:extLst>
              <p:ext uri="{D42A27DB-BD31-4B8C-83A1-F6EECF244321}">
                <p14:modId xmlns:p14="http://schemas.microsoft.com/office/powerpoint/2010/main" val="2626244085"/>
              </p:ext>
            </p:extLst>
          </p:nvPr>
        </p:nvGraphicFramePr>
        <p:xfrm>
          <a:off x="231086" y="1220502"/>
          <a:ext cx="8681831" cy="1676400"/>
        </p:xfrm>
        <a:graphic>
          <a:graphicData uri="http://schemas.openxmlformats.org/drawingml/2006/table">
            <a:tbl>
              <a:tblPr firstRow="1" bandRow="1">
                <a:tableStyleId>{A1BBC871-F89B-45A3-A074-B200C202542C}</a:tableStyleId>
              </a:tblPr>
              <a:tblGrid>
                <a:gridCol w="1736366">
                  <a:extLst>
                    <a:ext uri="{9D8B030D-6E8A-4147-A177-3AD203B41FA5}">
                      <a16:colId xmlns:a16="http://schemas.microsoft.com/office/drawing/2014/main" val="3636173673"/>
                    </a:ext>
                  </a:extLst>
                </a:gridCol>
                <a:gridCol w="1213070">
                  <a:extLst>
                    <a:ext uri="{9D8B030D-6E8A-4147-A177-3AD203B41FA5}">
                      <a16:colId xmlns:a16="http://schemas.microsoft.com/office/drawing/2014/main" val="1249874323"/>
                    </a:ext>
                  </a:extLst>
                </a:gridCol>
                <a:gridCol w="1717481">
                  <a:extLst>
                    <a:ext uri="{9D8B030D-6E8A-4147-A177-3AD203B41FA5}">
                      <a16:colId xmlns:a16="http://schemas.microsoft.com/office/drawing/2014/main" val="2136973078"/>
                    </a:ext>
                  </a:extLst>
                </a:gridCol>
                <a:gridCol w="1615572">
                  <a:extLst>
                    <a:ext uri="{9D8B030D-6E8A-4147-A177-3AD203B41FA5}">
                      <a16:colId xmlns:a16="http://schemas.microsoft.com/office/drawing/2014/main" val="2705340560"/>
                    </a:ext>
                  </a:extLst>
                </a:gridCol>
                <a:gridCol w="2399342">
                  <a:extLst>
                    <a:ext uri="{9D8B030D-6E8A-4147-A177-3AD203B41FA5}">
                      <a16:colId xmlns:a16="http://schemas.microsoft.com/office/drawing/2014/main" val="3970232238"/>
                    </a:ext>
                  </a:extLst>
                </a:gridCol>
              </a:tblGrid>
              <a:tr h="345213">
                <a:tc>
                  <a:txBody>
                    <a:bodyPr/>
                    <a:lstStyle/>
                    <a:p>
                      <a:r>
                        <a:rPr lang="en-US" sz="1000" dirty="0">
                          <a:latin typeface="+mj-lt"/>
                        </a:rPr>
                        <a:t>Performance </a:t>
                      </a:r>
                    </a:p>
                    <a:p>
                      <a:r>
                        <a:rPr lang="en-US" sz="1000" dirty="0">
                          <a:latin typeface="+mj-lt"/>
                        </a:rPr>
                        <a:t>Metrics</a:t>
                      </a:r>
                    </a:p>
                  </a:txBody>
                  <a:tcPr/>
                </a:tc>
                <a:tc>
                  <a:txBody>
                    <a:bodyPr/>
                    <a:lstStyle/>
                    <a:p>
                      <a:r>
                        <a:rPr lang="en-US" sz="1000" dirty="0">
                          <a:latin typeface="+mj-lt"/>
                        </a:rPr>
                        <a:t>CNN</a:t>
                      </a:r>
                    </a:p>
                  </a:txBody>
                  <a:tcPr/>
                </a:tc>
                <a:tc>
                  <a:txBody>
                    <a:bodyPr/>
                    <a:lstStyle/>
                    <a:p>
                      <a:r>
                        <a:rPr lang="en-US" sz="1000" dirty="0">
                          <a:latin typeface="+mj-lt"/>
                        </a:rPr>
                        <a:t>VGG-16(Base)</a:t>
                      </a:r>
                    </a:p>
                  </a:txBody>
                  <a:tcPr/>
                </a:tc>
                <a:tc>
                  <a:txBody>
                    <a:bodyPr/>
                    <a:lstStyle/>
                    <a:p>
                      <a:r>
                        <a:rPr lang="en-US" sz="1000" dirty="0">
                          <a:latin typeface="+mj-lt"/>
                        </a:rPr>
                        <a:t>VGG-16( Base+ FFNN)</a:t>
                      </a:r>
                    </a:p>
                  </a:txBody>
                  <a:tcPr/>
                </a:tc>
                <a:tc>
                  <a:txBody>
                    <a:bodyPr/>
                    <a:lstStyle/>
                    <a:p>
                      <a:r>
                        <a:rPr lang="en-US" sz="1000" dirty="0">
                          <a:latin typeface="+mj-lt"/>
                        </a:rPr>
                        <a:t>VGG-16(Base+FFNN + Data Aug)</a:t>
                      </a:r>
                    </a:p>
                    <a:p>
                      <a:endParaRPr lang="en-US" sz="1000" dirty="0">
                        <a:latin typeface="+mj-lt"/>
                      </a:endParaRPr>
                    </a:p>
                  </a:txBody>
                  <a:tcPr/>
                </a:tc>
                <a:extLst>
                  <a:ext uri="{0D108BD9-81ED-4DB2-BD59-A6C34878D82A}">
                    <a16:rowId xmlns:a16="http://schemas.microsoft.com/office/drawing/2014/main" val="612895562"/>
                  </a:ext>
                </a:extLst>
              </a:tr>
              <a:tr h="212439">
                <a:tc>
                  <a:txBody>
                    <a:bodyPr/>
                    <a:lstStyle/>
                    <a:p>
                      <a:r>
                        <a:rPr lang="en-US" sz="1000" b="1" dirty="0">
                          <a:latin typeface="+mj-lt"/>
                        </a:rPr>
                        <a:t>Accuracy</a:t>
                      </a:r>
                    </a:p>
                  </a:txBody>
                  <a:tcPr/>
                </a:tc>
                <a:tc>
                  <a:txBody>
                    <a:bodyPr/>
                    <a:lstStyle/>
                    <a:p>
                      <a:r>
                        <a:rPr lang="en-US" sz="1000" dirty="0">
                          <a:latin typeface="+mj-lt"/>
                        </a:rPr>
                        <a:t>0.938492</a:t>
                      </a:r>
                    </a:p>
                  </a:txBody>
                  <a:tcPr/>
                </a:tc>
                <a:tc>
                  <a:txBody>
                    <a:bodyPr/>
                    <a:lstStyle/>
                    <a:p>
                      <a:r>
                        <a:rPr lang="en-US" sz="1000" dirty="0">
                          <a:latin typeface="+mj-lt"/>
                        </a:rPr>
                        <a:t>0.914683</a:t>
                      </a:r>
                    </a:p>
                  </a:txBody>
                  <a:tcPr/>
                </a:tc>
                <a:tc>
                  <a:txBody>
                    <a:bodyPr/>
                    <a:lstStyle/>
                    <a:p>
                      <a:r>
                        <a:rPr lang="en-US" sz="1000" dirty="0">
                          <a:latin typeface="+mj-lt"/>
                        </a:rPr>
                        <a:t>0.962302</a:t>
                      </a:r>
                    </a:p>
                  </a:txBody>
                  <a:tcPr/>
                </a:tc>
                <a:tc>
                  <a:txBody>
                    <a:bodyPr/>
                    <a:lstStyle/>
                    <a:p>
                      <a:r>
                        <a:rPr lang="en-US" sz="1000" dirty="0">
                          <a:latin typeface="+mj-lt"/>
                        </a:rPr>
                        <a:t>0.978175</a:t>
                      </a:r>
                    </a:p>
                  </a:txBody>
                  <a:tcPr/>
                </a:tc>
                <a:extLst>
                  <a:ext uri="{0D108BD9-81ED-4DB2-BD59-A6C34878D82A}">
                    <a16:rowId xmlns:a16="http://schemas.microsoft.com/office/drawing/2014/main" val="1033385968"/>
                  </a:ext>
                </a:extLst>
              </a:tr>
              <a:tr h="345213">
                <a:tc>
                  <a:txBody>
                    <a:bodyPr/>
                    <a:lstStyle/>
                    <a:p>
                      <a:r>
                        <a:rPr lang="en-US" sz="1000" b="1" dirty="0">
                          <a:latin typeface="+mj-lt"/>
                        </a:rPr>
                        <a:t>Recall</a:t>
                      </a:r>
                    </a:p>
                  </a:txBody>
                  <a:tcPr/>
                </a:tc>
                <a:tc>
                  <a:txBody>
                    <a:bodyPr/>
                    <a:lstStyle/>
                    <a:p>
                      <a:r>
                        <a:rPr lang="en-US" sz="1000" dirty="0">
                          <a:latin typeface="+mj-lt"/>
                        </a:rPr>
                        <a:t>0.938492</a:t>
                      </a:r>
                    </a:p>
                  </a:txBody>
                  <a:tcPr/>
                </a:tc>
                <a:tc>
                  <a:txBody>
                    <a:bodyPr/>
                    <a:lstStyle/>
                    <a:p>
                      <a:r>
                        <a:rPr lang="en-US" sz="1000" dirty="0">
                          <a:latin typeface="+mj-lt"/>
                        </a:rPr>
                        <a:t>0.914683</a:t>
                      </a:r>
                    </a:p>
                    <a:p>
                      <a:endParaRPr lang="en-US" sz="1000" dirty="0">
                        <a:latin typeface="+mj-lt"/>
                      </a:endParaRPr>
                    </a:p>
                  </a:txBody>
                  <a:tcPr/>
                </a:tc>
                <a:tc>
                  <a:txBody>
                    <a:bodyPr/>
                    <a:lstStyle/>
                    <a:p>
                      <a:r>
                        <a:rPr lang="en-US" sz="1000" dirty="0">
                          <a:latin typeface="+mj-lt"/>
                        </a:rPr>
                        <a:t>0.962302</a:t>
                      </a:r>
                    </a:p>
                  </a:txBody>
                  <a:tcPr/>
                </a:tc>
                <a:tc>
                  <a:txBody>
                    <a:bodyPr/>
                    <a:lstStyle/>
                    <a:p>
                      <a:r>
                        <a:rPr lang="en-US" sz="1000" dirty="0">
                          <a:latin typeface="+mj-lt"/>
                        </a:rPr>
                        <a:t>0.978175</a:t>
                      </a:r>
                    </a:p>
                  </a:txBody>
                  <a:tcPr/>
                </a:tc>
                <a:extLst>
                  <a:ext uri="{0D108BD9-81ED-4DB2-BD59-A6C34878D82A}">
                    <a16:rowId xmlns:a16="http://schemas.microsoft.com/office/drawing/2014/main" val="3792027269"/>
                  </a:ext>
                </a:extLst>
              </a:tr>
              <a:tr h="212439">
                <a:tc>
                  <a:txBody>
                    <a:bodyPr/>
                    <a:lstStyle/>
                    <a:p>
                      <a:r>
                        <a:rPr lang="en-US" sz="1000" b="1" dirty="0">
                          <a:latin typeface="+mj-lt"/>
                        </a:rPr>
                        <a:t>Precession</a:t>
                      </a:r>
                    </a:p>
                  </a:txBody>
                  <a:tcPr/>
                </a:tc>
                <a:tc>
                  <a:txBody>
                    <a:bodyPr/>
                    <a:lstStyle/>
                    <a:p>
                      <a:r>
                        <a:rPr lang="en-US" sz="1000" dirty="0">
                          <a:latin typeface="+mj-lt"/>
                        </a:rPr>
                        <a:t>0.942935</a:t>
                      </a:r>
                    </a:p>
                  </a:txBody>
                  <a:tcPr/>
                </a:tc>
                <a:tc>
                  <a:txBody>
                    <a:bodyPr/>
                    <a:lstStyle/>
                    <a:p>
                      <a:r>
                        <a:rPr lang="en-US" sz="1000" dirty="0">
                          <a:latin typeface="+mj-lt"/>
                        </a:rPr>
                        <a:t>0.926952</a:t>
                      </a:r>
                    </a:p>
                  </a:txBody>
                  <a:tcPr/>
                </a:tc>
                <a:tc>
                  <a:txBody>
                    <a:bodyPr/>
                    <a:lstStyle/>
                    <a:p>
                      <a:r>
                        <a:rPr lang="en-US" sz="1000" dirty="0">
                          <a:latin typeface="+mj-lt"/>
                        </a:rPr>
                        <a:t>0.964984</a:t>
                      </a:r>
                    </a:p>
                  </a:txBody>
                  <a:tcPr/>
                </a:tc>
                <a:tc>
                  <a:txBody>
                    <a:bodyPr/>
                    <a:lstStyle/>
                    <a:p>
                      <a:r>
                        <a:rPr lang="en-US" sz="1000" dirty="0">
                          <a:latin typeface="+mj-lt"/>
                        </a:rPr>
                        <a:t>0.978774</a:t>
                      </a:r>
                    </a:p>
                  </a:txBody>
                  <a:tcPr/>
                </a:tc>
                <a:extLst>
                  <a:ext uri="{0D108BD9-81ED-4DB2-BD59-A6C34878D82A}">
                    <a16:rowId xmlns:a16="http://schemas.microsoft.com/office/drawing/2014/main" val="695472846"/>
                  </a:ext>
                </a:extLst>
              </a:tr>
              <a:tr h="345213">
                <a:tc>
                  <a:txBody>
                    <a:bodyPr/>
                    <a:lstStyle/>
                    <a:p>
                      <a:r>
                        <a:rPr lang="en-US" sz="1000" b="1" dirty="0">
                          <a:latin typeface="+mj-lt"/>
                        </a:rPr>
                        <a:t>F1 Score</a:t>
                      </a:r>
                    </a:p>
                  </a:txBody>
                  <a:tcPr/>
                </a:tc>
                <a:tc>
                  <a:txBody>
                    <a:bodyPr/>
                    <a:lstStyle/>
                    <a:p>
                      <a:r>
                        <a:rPr lang="en-US" sz="1000" dirty="0">
                          <a:latin typeface="+mj-lt"/>
                        </a:rPr>
                        <a:t>0.938389</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mj-lt"/>
                          <a:cs typeface="Arial"/>
                          <a:sym typeface="Arial"/>
                        </a:rPr>
                        <a:t>0.913938</a:t>
                      </a:r>
                    </a:p>
                    <a:p>
                      <a:endParaRPr lang="en-US" sz="1000" dirty="0">
                        <a:latin typeface="+mj-lt"/>
                      </a:endParaRPr>
                    </a:p>
                  </a:txBody>
                  <a:tcPr/>
                </a:tc>
                <a:tc>
                  <a:txBody>
                    <a:bodyPr/>
                    <a:lstStyle/>
                    <a:p>
                      <a:r>
                        <a:rPr lang="en-US" sz="1000" dirty="0">
                          <a:latin typeface="+mj-lt"/>
                        </a:rPr>
                        <a:t>0.962271</a:t>
                      </a:r>
                    </a:p>
                  </a:txBody>
                  <a:tcPr/>
                </a:tc>
                <a:tc>
                  <a:txBody>
                    <a:bodyPr/>
                    <a:lstStyle/>
                    <a:p>
                      <a:r>
                        <a:rPr lang="en-US" sz="1000" dirty="0">
                          <a:latin typeface="+mj-lt"/>
                        </a:rPr>
                        <a:t>0.978161</a:t>
                      </a:r>
                    </a:p>
                  </a:txBody>
                  <a:tcPr/>
                </a:tc>
                <a:extLst>
                  <a:ext uri="{0D108BD9-81ED-4DB2-BD59-A6C34878D82A}">
                    <a16:rowId xmlns:a16="http://schemas.microsoft.com/office/drawing/2014/main" val="74644860"/>
                  </a:ext>
                </a:extLst>
              </a:tr>
            </a:tbl>
          </a:graphicData>
        </a:graphic>
      </p:graphicFrame>
      <p:sp>
        <p:nvSpPr>
          <p:cNvPr id="8" name="Google Shape;275;p47">
            <a:extLst>
              <a:ext uri="{FF2B5EF4-FFF2-40B4-BE49-F238E27FC236}">
                <a16:creationId xmlns:a16="http://schemas.microsoft.com/office/drawing/2014/main" id="{DE2C8F79-BBD9-7A28-0A41-46CF93302570}"/>
              </a:ext>
            </a:extLst>
          </p:cNvPr>
          <p:cNvSpPr txBox="1"/>
          <p:nvPr/>
        </p:nvSpPr>
        <p:spPr>
          <a:xfrm>
            <a:off x="146231" y="810990"/>
            <a:ext cx="1491738" cy="43239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b="1" dirty="0">
                <a:latin typeface="Nunito"/>
                <a:ea typeface="Nunito"/>
                <a:cs typeface="Nunito"/>
                <a:sym typeface="Nunito"/>
              </a:rPr>
              <a:t>Training   Data</a:t>
            </a:r>
            <a:endParaRPr b="0" i="1" u="none" strike="noStrike" cap="none" dirty="0">
              <a:solidFill>
                <a:srgbClr val="000000"/>
              </a:solidFill>
              <a:latin typeface="Nunito"/>
              <a:ea typeface="Nunito"/>
              <a:cs typeface="Nunito"/>
              <a:sym typeface="Nunito"/>
            </a:endParaRPr>
          </a:p>
        </p:txBody>
      </p:sp>
    </p:spTree>
    <p:extLst>
      <p:ext uri="{BB962C8B-B14F-4D97-AF65-F5344CB8AC3E}">
        <p14:creationId xmlns:p14="http://schemas.microsoft.com/office/powerpoint/2010/main" val="1969281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90C13CFA-C595-22D2-76D6-387273A28630}"/>
            </a:ext>
          </a:extLst>
        </p:cNvPr>
        <p:cNvGrpSpPr/>
        <p:nvPr/>
      </p:nvGrpSpPr>
      <p:grpSpPr>
        <a:xfrm>
          <a:off x="0" y="0"/>
          <a:ext cx="0" cy="0"/>
          <a:chOff x="0" y="0"/>
          <a:chExt cx="0" cy="0"/>
        </a:xfrm>
      </p:grpSpPr>
      <p:sp>
        <p:nvSpPr>
          <p:cNvPr id="274" name="Google Shape;274;p47">
            <a:extLst>
              <a:ext uri="{FF2B5EF4-FFF2-40B4-BE49-F238E27FC236}">
                <a16:creationId xmlns:a16="http://schemas.microsoft.com/office/drawing/2014/main" id="{766C38E2-F25F-D023-23FB-4A1AC32A788A}"/>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Final Model  Selection</a:t>
            </a:r>
            <a:endParaRPr sz="2400" dirty="0">
              <a:solidFill>
                <a:srgbClr val="0E39A9"/>
              </a:solidFill>
            </a:endParaRPr>
          </a:p>
        </p:txBody>
      </p:sp>
      <p:sp>
        <p:nvSpPr>
          <p:cNvPr id="275" name="Google Shape;275;p47">
            <a:extLst>
              <a:ext uri="{FF2B5EF4-FFF2-40B4-BE49-F238E27FC236}">
                <a16:creationId xmlns:a16="http://schemas.microsoft.com/office/drawing/2014/main" id="{B178F9B8-97D9-425B-AB6D-B4E016B82D6B}"/>
              </a:ext>
            </a:extLst>
          </p:cNvPr>
          <p:cNvSpPr txBox="1"/>
          <p:nvPr/>
        </p:nvSpPr>
        <p:spPr>
          <a:xfrm>
            <a:off x="202550" y="763583"/>
            <a:ext cx="8397900" cy="43239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b="1" u="none" strike="noStrike" cap="none" dirty="0">
                <a:solidFill>
                  <a:srgbClr val="000000"/>
                </a:solidFill>
                <a:latin typeface="Nunito"/>
                <a:ea typeface="Nunito"/>
                <a:cs typeface="Nunito"/>
                <a:sym typeface="Nunito"/>
              </a:rPr>
              <a:t>Difference between validation &amp; taring  performance </a:t>
            </a:r>
            <a:r>
              <a:rPr lang="en-US" b="1" u="none" strike="noStrike" cap="none" dirty="0">
                <a:solidFill>
                  <a:schemeClr val="tx1"/>
                </a:solidFill>
                <a:latin typeface="Nunito"/>
                <a:ea typeface="Nunito"/>
                <a:cs typeface="Nunito"/>
                <a:sym typeface="Nunito"/>
              </a:rPr>
              <a:t>Metrics</a:t>
            </a:r>
            <a:r>
              <a:rPr lang="en-US" b="1" u="none" strike="noStrike" cap="none" dirty="0">
                <a:solidFill>
                  <a:srgbClr val="C00000"/>
                </a:solidFill>
                <a:latin typeface="Nunito"/>
                <a:ea typeface="Nunito"/>
                <a:cs typeface="Nunito"/>
                <a:sym typeface="Nunito"/>
              </a:rPr>
              <a:t> </a:t>
            </a:r>
            <a:endParaRPr b="1" u="none" strike="noStrike" cap="none" dirty="0">
              <a:solidFill>
                <a:srgbClr val="C00000"/>
              </a:solidFill>
              <a:latin typeface="Nunito"/>
              <a:ea typeface="Nunito"/>
              <a:cs typeface="Nunito"/>
              <a:sym typeface="Nunito"/>
            </a:endParaRPr>
          </a:p>
        </p:txBody>
      </p:sp>
      <p:sp>
        <p:nvSpPr>
          <p:cNvPr id="4" name="TextBox 3">
            <a:extLst>
              <a:ext uri="{FF2B5EF4-FFF2-40B4-BE49-F238E27FC236}">
                <a16:creationId xmlns:a16="http://schemas.microsoft.com/office/drawing/2014/main" id="{9B852CEB-57AC-1B4D-C5BA-6CDFE3B9250B}"/>
              </a:ext>
            </a:extLst>
          </p:cNvPr>
          <p:cNvSpPr txBox="1"/>
          <p:nvPr/>
        </p:nvSpPr>
        <p:spPr>
          <a:xfrm>
            <a:off x="186647" y="3016070"/>
            <a:ext cx="9111855" cy="2262158"/>
          </a:xfrm>
          <a:prstGeom prst="rect">
            <a:avLst/>
          </a:prstGeom>
          <a:noFill/>
        </p:spPr>
        <p:txBody>
          <a:bodyPr wrap="square" rtlCol="0">
            <a:spAutoFit/>
          </a:bodyPr>
          <a:lstStyle/>
          <a:p>
            <a:r>
              <a:rPr lang="en-US" b="1" dirty="0">
                <a:latin typeface="Montserrat" panose="00000500000000000000" pitchFamily="2" charset="0"/>
              </a:rPr>
              <a:t>Best Model Recommendation </a:t>
            </a:r>
            <a:r>
              <a:rPr lang="en-US" dirty="0">
                <a:latin typeface="Montserrat" panose="00000500000000000000" pitchFamily="2" charset="0"/>
              </a:rPr>
              <a:t>: </a:t>
            </a:r>
            <a:r>
              <a:rPr lang="en-US" b="1" dirty="0">
                <a:solidFill>
                  <a:srgbClr val="00B050"/>
                </a:solidFill>
                <a:latin typeface="Montserrat" panose="00000500000000000000" pitchFamily="2" charset="0"/>
              </a:rPr>
              <a:t>VGG-16 (Base +FFNN)</a:t>
            </a:r>
          </a:p>
          <a:p>
            <a:endParaRPr lang="en-US" sz="1000" dirty="0">
              <a:latin typeface="Montserrat" panose="00000500000000000000" pitchFamily="2" charset="0"/>
            </a:endParaRPr>
          </a:p>
          <a:p>
            <a:r>
              <a:rPr lang="en-US" sz="1000" dirty="0">
                <a:latin typeface="Montserrat" panose="00000500000000000000" pitchFamily="2" charset="0"/>
              </a:rPr>
              <a:t>While the model with Data Augmentation has slightly higher training scores, the </a:t>
            </a:r>
            <a:r>
              <a:rPr lang="en-US" sz="1000" b="1" dirty="0">
                <a:latin typeface="Montserrat" panose="00000500000000000000" pitchFamily="2" charset="0"/>
              </a:rPr>
              <a:t>VGG-16 (Base + FFNN)</a:t>
            </a:r>
            <a:r>
              <a:rPr lang="en-US" sz="1000" dirty="0">
                <a:latin typeface="Montserrat" panose="00000500000000000000" pitchFamily="2" charset="0"/>
              </a:rPr>
              <a:t> is the winner because :</a:t>
            </a:r>
          </a:p>
          <a:p>
            <a:endParaRPr lang="en-US" sz="1000" dirty="0">
              <a:latin typeface="Montserrat" panose="00000500000000000000" pitchFamily="2" charset="0"/>
            </a:endParaRPr>
          </a:p>
          <a:p>
            <a:pPr marL="228600" indent="-228600">
              <a:buAutoNum type="arabicPeriod"/>
            </a:pPr>
            <a:r>
              <a:rPr lang="en-US" sz="1200" b="1" dirty="0">
                <a:latin typeface="Montserrat" panose="00000500000000000000" pitchFamily="2" charset="0"/>
              </a:rPr>
              <a:t>Superior Generalization </a:t>
            </a:r>
            <a:r>
              <a:rPr lang="en-US" sz="1100" b="1" dirty="0">
                <a:latin typeface="Montserrat" panose="00000500000000000000" pitchFamily="2" charset="0"/>
              </a:rPr>
              <a:t>:</a:t>
            </a:r>
          </a:p>
          <a:p>
            <a:endParaRPr lang="en-US" sz="1100" b="1" dirty="0">
              <a:latin typeface="Montserrat" panose="00000500000000000000" pitchFamily="2" charset="0"/>
            </a:endParaRPr>
          </a:p>
          <a:p>
            <a:pPr marL="171450" indent="-171450">
              <a:buFont typeface="Arial" panose="020B0604020202020204" pitchFamily="34" charset="0"/>
              <a:buChar char="•"/>
            </a:pPr>
            <a:r>
              <a:rPr lang="en-US" sz="1000" b="1" dirty="0">
                <a:latin typeface="Montserrat" panose="00000500000000000000" pitchFamily="2" charset="0"/>
              </a:rPr>
              <a:t>VGG-16 (Base + FFNN)</a:t>
            </a:r>
            <a:r>
              <a:rPr lang="en-US" sz="1000" dirty="0">
                <a:latin typeface="Montserrat" panose="00000500000000000000" pitchFamily="2" charset="0"/>
              </a:rPr>
              <a:t> achieved the highest </a:t>
            </a:r>
            <a:r>
              <a:rPr lang="en-US" sz="1000" b="1" dirty="0">
                <a:latin typeface="Montserrat" panose="00000500000000000000" pitchFamily="2" charset="0"/>
              </a:rPr>
              <a:t>Validation Accuracy (0.9841)</a:t>
            </a:r>
            <a:r>
              <a:rPr lang="en-US" sz="1000" dirty="0">
                <a:latin typeface="Montserrat" panose="00000500000000000000" pitchFamily="2" charset="0"/>
              </a:rPr>
              <a:t> and </a:t>
            </a:r>
            <a:r>
              <a:rPr lang="en-US" sz="1000" b="1" dirty="0">
                <a:latin typeface="Montserrat" panose="00000500000000000000" pitchFamily="2" charset="0"/>
              </a:rPr>
              <a:t>Validation F1-Score (0.9841)</a:t>
            </a:r>
          </a:p>
          <a:p>
            <a:endParaRPr lang="en-US" sz="1000" b="1" dirty="0">
              <a:latin typeface="Montserrat" panose="00000500000000000000" pitchFamily="2" charset="0"/>
            </a:endParaRPr>
          </a:p>
          <a:p>
            <a:pPr marL="171450" indent="-171450">
              <a:buFont typeface="Arial" panose="020B0604020202020204" pitchFamily="34" charset="0"/>
              <a:buChar char="•"/>
            </a:pPr>
            <a:r>
              <a:rPr lang="en-US" sz="1000" dirty="0">
                <a:latin typeface="Montserrat" panose="00000500000000000000" pitchFamily="2" charset="0"/>
              </a:rPr>
              <a:t>It actually performed </a:t>
            </a:r>
            <a:r>
              <a:rPr lang="en-US" sz="1000" b="1" dirty="0">
                <a:latin typeface="Montserrat" panose="00000500000000000000" pitchFamily="2" charset="0"/>
              </a:rPr>
              <a:t>better on the validation </a:t>
            </a:r>
            <a:r>
              <a:rPr lang="en-US" sz="1000" dirty="0">
                <a:latin typeface="Montserrat" panose="00000500000000000000" pitchFamily="2" charset="0"/>
              </a:rPr>
              <a:t>set than </a:t>
            </a:r>
            <a:r>
              <a:rPr lang="en-US" sz="1000" b="1" dirty="0">
                <a:latin typeface="Montserrat" panose="00000500000000000000" pitchFamily="2" charset="0"/>
              </a:rPr>
              <a:t>the training set (0.9623)</a:t>
            </a:r>
            <a:r>
              <a:rPr lang="en-US" sz="1000" dirty="0">
                <a:latin typeface="Montserrat" panose="00000500000000000000" pitchFamily="2" charset="0"/>
              </a:rPr>
              <a:t>, which suggests it is </a:t>
            </a:r>
            <a:r>
              <a:rPr lang="en-US" sz="1000" b="1" dirty="0">
                <a:latin typeface="Montserrat" panose="00000500000000000000" pitchFamily="2" charset="0"/>
              </a:rPr>
              <a:t>extremely robust and has captured the underlying patterns without memorizing noise</a:t>
            </a:r>
          </a:p>
          <a:p>
            <a:endParaRPr lang="en-US" sz="1000" b="1" dirty="0">
              <a:latin typeface="Montserrat" panose="00000500000000000000" pitchFamily="2" charset="0"/>
            </a:endParaRPr>
          </a:p>
          <a:p>
            <a:r>
              <a:rPr lang="en-US" sz="1000" dirty="0">
                <a:latin typeface="Montserrat" panose="00000500000000000000" pitchFamily="2" charset="0"/>
              </a:rPr>
              <a:t>2</a:t>
            </a:r>
            <a:endParaRPr lang="en-US" sz="1000" dirty="0"/>
          </a:p>
          <a:p>
            <a:r>
              <a:rPr lang="en-US" dirty="0"/>
              <a:t>  </a:t>
            </a:r>
          </a:p>
        </p:txBody>
      </p:sp>
      <p:graphicFrame>
        <p:nvGraphicFramePr>
          <p:cNvPr id="5" name="Table 4">
            <a:extLst>
              <a:ext uri="{FF2B5EF4-FFF2-40B4-BE49-F238E27FC236}">
                <a16:creationId xmlns:a16="http://schemas.microsoft.com/office/drawing/2014/main" id="{0D5BD32B-17E4-B661-1920-6E181B6BE633}"/>
              </a:ext>
            </a:extLst>
          </p:cNvPr>
          <p:cNvGraphicFramePr>
            <a:graphicFrameLocks noGrp="1"/>
          </p:cNvGraphicFramePr>
          <p:nvPr>
            <p:extLst>
              <p:ext uri="{D42A27DB-BD31-4B8C-83A1-F6EECF244321}">
                <p14:modId xmlns:p14="http://schemas.microsoft.com/office/powerpoint/2010/main" val="2152424082"/>
              </p:ext>
            </p:extLst>
          </p:nvPr>
        </p:nvGraphicFramePr>
        <p:xfrm>
          <a:off x="300952" y="1096378"/>
          <a:ext cx="8542095" cy="1851660"/>
        </p:xfrm>
        <a:graphic>
          <a:graphicData uri="http://schemas.openxmlformats.org/drawingml/2006/table">
            <a:tbl>
              <a:tblPr firstRow="1" bandRow="1">
                <a:tableStyleId>{A1BBC871-F89B-45A3-A074-B200C202542C}</a:tableStyleId>
              </a:tblPr>
              <a:tblGrid>
                <a:gridCol w="1708419">
                  <a:extLst>
                    <a:ext uri="{9D8B030D-6E8A-4147-A177-3AD203B41FA5}">
                      <a16:colId xmlns:a16="http://schemas.microsoft.com/office/drawing/2014/main" val="3636173673"/>
                    </a:ext>
                  </a:extLst>
                </a:gridCol>
                <a:gridCol w="1708419">
                  <a:extLst>
                    <a:ext uri="{9D8B030D-6E8A-4147-A177-3AD203B41FA5}">
                      <a16:colId xmlns:a16="http://schemas.microsoft.com/office/drawing/2014/main" val="1249874323"/>
                    </a:ext>
                  </a:extLst>
                </a:gridCol>
                <a:gridCol w="1254433">
                  <a:extLst>
                    <a:ext uri="{9D8B030D-6E8A-4147-A177-3AD203B41FA5}">
                      <a16:colId xmlns:a16="http://schemas.microsoft.com/office/drawing/2014/main" val="2136973078"/>
                    </a:ext>
                  </a:extLst>
                </a:gridCol>
                <a:gridCol w="1510100">
                  <a:extLst>
                    <a:ext uri="{9D8B030D-6E8A-4147-A177-3AD203B41FA5}">
                      <a16:colId xmlns:a16="http://schemas.microsoft.com/office/drawing/2014/main" val="2705340560"/>
                    </a:ext>
                  </a:extLst>
                </a:gridCol>
                <a:gridCol w="2360724">
                  <a:extLst>
                    <a:ext uri="{9D8B030D-6E8A-4147-A177-3AD203B41FA5}">
                      <a16:colId xmlns:a16="http://schemas.microsoft.com/office/drawing/2014/main" val="3970232238"/>
                    </a:ext>
                  </a:extLst>
                </a:gridCol>
              </a:tblGrid>
              <a:tr h="372159">
                <a:tc>
                  <a:txBody>
                    <a:bodyPr/>
                    <a:lstStyle/>
                    <a:p>
                      <a:r>
                        <a:rPr lang="en-US" sz="1000" dirty="0">
                          <a:latin typeface="+mj-lt"/>
                        </a:rPr>
                        <a:t>Performance </a:t>
                      </a:r>
                    </a:p>
                    <a:p>
                      <a:r>
                        <a:rPr lang="en-US" sz="1000" dirty="0">
                          <a:latin typeface="+mj-lt"/>
                        </a:rPr>
                        <a:t>Metrics</a:t>
                      </a:r>
                    </a:p>
                  </a:txBody>
                  <a:tcPr/>
                </a:tc>
                <a:tc>
                  <a:txBody>
                    <a:bodyPr/>
                    <a:lstStyle/>
                    <a:p>
                      <a:r>
                        <a:rPr lang="en-US" sz="1000" dirty="0">
                          <a:latin typeface="+mj-lt"/>
                        </a:rPr>
                        <a:t>CNN</a:t>
                      </a:r>
                    </a:p>
                  </a:txBody>
                  <a:tcPr/>
                </a:tc>
                <a:tc>
                  <a:txBody>
                    <a:bodyPr/>
                    <a:lstStyle/>
                    <a:p>
                      <a:r>
                        <a:rPr lang="en-US" sz="1000" dirty="0">
                          <a:latin typeface="+mj-lt"/>
                        </a:rPr>
                        <a:t>VGG-16(Base)</a:t>
                      </a:r>
                    </a:p>
                  </a:txBody>
                  <a:tcPr/>
                </a:tc>
                <a:tc>
                  <a:txBody>
                    <a:bodyPr/>
                    <a:lstStyle/>
                    <a:p>
                      <a:r>
                        <a:rPr lang="en-US" sz="1050" dirty="0">
                          <a:solidFill>
                            <a:srgbClr val="00B050"/>
                          </a:solidFill>
                          <a:latin typeface="+mj-lt"/>
                        </a:rPr>
                        <a:t>VGG-16(</a:t>
                      </a:r>
                      <a:r>
                        <a:rPr lang="en-US" sz="1050" dirty="0" err="1">
                          <a:solidFill>
                            <a:srgbClr val="00B050"/>
                          </a:solidFill>
                          <a:latin typeface="+mj-lt"/>
                        </a:rPr>
                        <a:t>Base+FFNN</a:t>
                      </a:r>
                      <a:r>
                        <a:rPr lang="en-US" sz="1050" dirty="0">
                          <a:solidFill>
                            <a:srgbClr val="00B050"/>
                          </a:solidFill>
                          <a:latin typeface="+mj-lt"/>
                        </a:rPr>
                        <a:t>)</a:t>
                      </a:r>
                    </a:p>
                  </a:txBody>
                  <a:tcPr/>
                </a:tc>
                <a:tc>
                  <a:txBody>
                    <a:bodyPr/>
                    <a:lstStyle/>
                    <a:p>
                      <a:r>
                        <a:rPr lang="en-US" sz="1000" dirty="0">
                          <a:latin typeface="+mj-lt"/>
                        </a:rPr>
                        <a:t>VGG-16(Base+FFNN + Data Aug)</a:t>
                      </a:r>
                    </a:p>
                    <a:p>
                      <a:endParaRPr lang="en-US" sz="1000" dirty="0">
                        <a:latin typeface="+mj-lt"/>
                      </a:endParaRPr>
                    </a:p>
                  </a:txBody>
                  <a:tcPr/>
                </a:tc>
                <a:extLst>
                  <a:ext uri="{0D108BD9-81ED-4DB2-BD59-A6C34878D82A}">
                    <a16:rowId xmlns:a16="http://schemas.microsoft.com/office/drawing/2014/main" val="612895562"/>
                  </a:ext>
                </a:extLst>
              </a:tr>
              <a:tr h="236178">
                <a:tc>
                  <a:txBody>
                    <a:bodyPr/>
                    <a:lstStyle/>
                    <a:p>
                      <a:r>
                        <a:rPr lang="en-US" sz="1000" b="1" dirty="0">
                          <a:latin typeface="+mj-lt"/>
                        </a:rPr>
                        <a:t>Accuracy</a:t>
                      </a:r>
                    </a:p>
                  </a:txBody>
                  <a:tcPr/>
                </a:tc>
                <a:tc>
                  <a:txBody>
                    <a:bodyPr/>
                    <a:lstStyle/>
                    <a:p>
                      <a:r>
                        <a:rPr lang="en-US" sz="1000" dirty="0">
                          <a:latin typeface="+mj-lt"/>
                        </a:rPr>
                        <a:t>-0.013889</a:t>
                      </a:r>
                    </a:p>
                  </a:txBody>
                  <a:tcPr/>
                </a:tc>
                <a:tc>
                  <a:txBody>
                    <a:bodyPr/>
                    <a:lstStyle/>
                    <a:p>
                      <a:r>
                        <a:rPr lang="en-US" sz="1000" dirty="0">
                          <a:latin typeface="+mj-lt"/>
                        </a:rPr>
                        <a:t>0.025794</a:t>
                      </a:r>
                    </a:p>
                  </a:txBody>
                  <a:tcPr/>
                </a:tc>
                <a:tc>
                  <a:txBody>
                    <a:bodyPr/>
                    <a:lstStyle/>
                    <a:p>
                      <a:r>
                        <a:rPr lang="en-US" sz="1050" b="1" dirty="0">
                          <a:solidFill>
                            <a:srgbClr val="00B050"/>
                          </a:solidFill>
                          <a:latin typeface="+mj-lt"/>
                        </a:rPr>
                        <a:t>-0.021825</a:t>
                      </a:r>
                    </a:p>
                  </a:txBody>
                  <a:tcPr/>
                </a:tc>
                <a:tc>
                  <a:txBody>
                    <a:bodyPr/>
                    <a:lstStyle/>
                    <a:p>
                      <a:r>
                        <a:rPr lang="en-US" sz="1000" dirty="0">
                          <a:latin typeface="+mj-lt"/>
                        </a:rPr>
                        <a:t>0.009921</a:t>
                      </a:r>
                    </a:p>
                  </a:txBody>
                  <a:tcPr/>
                </a:tc>
                <a:extLst>
                  <a:ext uri="{0D108BD9-81ED-4DB2-BD59-A6C34878D82A}">
                    <a16:rowId xmlns:a16="http://schemas.microsoft.com/office/drawing/2014/main" val="1033385968"/>
                  </a:ext>
                </a:extLst>
              </a:tr>
              <a:tr h="372159">
                <a:tc>
                  <a:txBody>
                    <a:bodyPr/>
                    <a:lstStyle/>
                    <a:p>
                      <a:r>
                        <a:rPr lang="en-US" sz="1000" b="1" dirty="0">
                          <a:latin typeface="+mj-lt"/>
                        </a:rPr>
                        <a:t>Recall</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rgbClr val="000000"/>
                          </a:solidFill>
                          <a:latin typeface="+mj-lt"/>
                          <a:ea typeface="Arial"/>
                          <a:cs typeface="Arial"/>
                          <a:sym typeface="Arial"/>
                        </a:rPr>
                        <a:t>-0.013889</a:t>
                      </a:r>
                    </a:p>
                  </a:txBody>
                  <a:tcPr/>
                </a:tc>
                <a:tc>
                  <a:txBody>
                    <a:bodyPr/>
                    <a:lstStyle/>
                    <a:p>
                      <a:r>
                        <a:rPr lang="en-US" sz="1000" dirty="0">
                          <a:latin typeface="+mj-lt"/>
                        </a:rPr>
                        <a:t>0.025794</a:t>
                      </a:r>
                    </a:p>
                    <a:p>
                      <a:endParaRPr lang="en-US" sz="1000" dirty="0">
                        <a:latin typeface="+mj-lt"/>
                      </a:endParaRPr>
                    </a:p>
                  </a:txBody>
                  <a:tcPr/>
                </a:tc>
                <a:tc>
                  <a:txBody>
                    <a:bodyPr/>
                    <a:lstStyle/>
                    <a:p>
                      <a:r>
                        <a:rPr lang="en-US" sz="1050" b="1" dirty="0">
                          <a:solidFill>
                            <a:srgbClr val="00B050"/>
                          </a:solidFill>
                          <a:latin typeface="+mj-lt"/>
                        </a:rPr>
                        <a:t>-0.021825</a:t>
                      </a:r>
                    </a:p>
                  </a:txBody>
                  <a:tcPr/>
                </a:tc>
                <a:tc>
                  <a:txBody>
                    <a:bodyPr/>
                    <a:lstStyle/>
                    <a:p>
                      <a:r>
                        <a:rPr lang="en-US" sz="1000" dirty="0">
                          <a:latin typeface="+mj-lt"/>
                        </a:rPr>
                        <a:t>0.009921</a:t>
                      </a:r>
                    </a:p>
                  </a:txBody>
                  <a:tcPr/>
                </a:tc>
                <a:extLst>
                  <a:ext uri="{0D108BD9-81ED-4DB2-BD59-A6C34878D82A}">
                    <a16:rowId xmlns:a16="http://schemas.microsoft.com/office/drawing/2014/main" val="3792027269"/>
                  </a:ext>
                </a:extLst>
              </a:tr>
              <a:tr h="372159">
                <a:tc>
                  <a:txBody>
                    <a:bodyPr/>
                    <a:lstStyle/>
                    <a:p>
                      <a:r>
                        <a:rPr lang="en-US" sz="1000" b="1" dirty="0">
                          <a:latin typeface="+mj-lt"/>
                        </a:rPr>
                        <a:t>Precession</a:t>
                      </a:r>
                    </a:p>
                  </a:txBody>
                  <a:tcPr/>
                </a:tc>
                <a:tc>
                  <a:txBody>
                    <a:bodyPr/>
                    <a:lstStyle/>
                    <a:p>
                      <a:r>
                        <a:rPr lang="en-US" sz="1000" dirty="0">
                          <a:latin typeface="+mj-lt"/>
                        </a:rPr>
                        <a:t>-0.013648</a:t>
                      </a:r>
                    </a:p>
                    <a:p>
                      <a:endParaRPr lang="en-US" sz="1000" dirty="0">
                        <a:latin typeface="+mj-lt"/>
                      </a:endParaRPr>
                    </a:p>
                  </a:txBody>
                  <a:tcPr/>
                </a:tc>
                <a:tc>
                  <a:txBody>
                    <a:bodyPr/>
                    <a:lstStyle/>
                    <a:p>
                      <a:r>
                        <a:rPr lang="en-US" sz="1000" dirty="0">
                          <a:latin typeface="+mj-lt"/>
                        </a:rPr>
                        <a:t>0.018120</a:t>
                      </a:r>
                    </a:p>
                  </a:txBody>
                  <a:tcPr/>
                </a:tc>
                <a:tc>
                  <a:txBody>
                    <a:bodyPr/>
                    <a:lstStyle/>
                    <a:p>
                      <a:r>
                        <a:rPr lang="en-US" sz="1050" b="1" dirty="0">
                          <a:solidFill>
                            <a:srgbClr val="00B050"/>
                          </a:solidFill>
                          <a:latin typeface="+mj-lt"/>
                        </a:rPr>
                        <a:t>-0.019639</a:t>
                      </a:r>
                    </a:p>
                  </a:txBody>
                  <a:tcPr/>
                </a:tc>
                <a:tc>
                  <a:txBody>
                    <a:bodyPr/>
                    <a:lstStyle/>
                    <a:p>
                      <a:r>
                        <a:rPr lang="en-US" sz="1000" dirty="0">
                          <a:latin typeface="+mj-lt"/>
                        </a:rPr>
                        <a:t>0.008652</a:t>
                      </a:r>
                    </a:p>
                  </a:txBody>
                  <a:tcPr/>
                </a:tc>
                <a:extLst>
                  <a:ext uri="{0D108BD9-81ED-4DB2-BD59-A6C34878D82A}">
                    <a16:rowId xmlns:a16="http://schemas.microsoft.com/office/drawing/2014/main" val="695472846"/>
                  </a:ext>
                </a:extLst>
              </a:tr>
              <a:tr h="372159">
                <a:tc>
                  <a:txBody>
                    <a:bodyPr/>
                    <a:lstStyle/>
                    <a:p>
                      <a:r>
                        <a:rPr lang="en-US" sz="1000" b="1" dirty="0">
                          <a:latin typeface="+mj-lt"/>
                        </a:rPr>
                        <a:t>F1 Score</a:t>
                      </a:r>
                    </a:p>
                  </a:txBody>
                  <a:tcPr/>
                </a:tc>
                <a:tc>
                  <a:txBody>
                    <a:bodyPr/>
                    <a:lstStyle/>
                    <a:p>
                      <a:r>
                        <a:rPr lang="en-US" sz="1000" dirty="0">
                          <a:latin typeface="+mj-lt"/>
                        </a:rPr>
                        <a:t>-0.013920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mj-lt"/>
                          <a:cs typeface="Arial"/>
                          <a:sym typeface="Arial"/>
                        </a:rPr>
                        <a:t>0.026643</a:t>
                      </a:r>
                    </a:p>
                    <a:p>
                      <a:endParaRPr lang="en-US" sz="1000" dirty="0">
                        <a:latin typeface="+mj-lt"/>
                      </a:endParaRPr>
                    </a:p>
                  </a:txBody>
                  <a:tcPr/>
                </a:tc>
                <a:tc>
                  <a:txBody>
                    <a:bodyPr/>
                    <a:lstStyle/>
                    <a:p>
                      <a:r>
                        <a:rPr lang="en-US" sz="1050" b="1" dirty="0">
                          <a:solidFill>
                            <a:srgbClr val="00B050"/>
                          </a:solidFill>
                          <a:latin typeface="+mj-lt"/>
                        </a:rPr>
                        <a:t>-0.021856</a:t>
                      </a:r>
                    </a:p>
                  </a:txBody>
                  <a:tcPr/>
                </a:tc>
                <a:tc>
                  <a:txBody>
                    <a:bodyPr/>
                    <a:lstStyle/>
                    <a:p>
                      <a:r>
                        <a:rPr lang="en-US" sz="1000" dirty="0">
                          <a:latin typeface="+mj-lt"/>
                        </a:rPr>
                        <a:t>0.009956</a:t>
                      </a:r>
                    </a:p>
                  </a:txBody>
                  <a:tcPr/>
                </a:tc>
                <a:extLst>
                  <a:ext uri="{0D108BD9-81ED-4DB2-BD59-A6C34878D82A}">
                    <a16:rowId xmlns:a16="http://schemas.microsoft.com/office/drawing/2014/main" val="74644860"/>
                  </a:ext>
                </a:extLst>
              </a:tr>
            </a:tbl>
          </a:graphicData>
        </a:graphic>
      </p:graphicFrame>
    </p:spTree>
    <p:extLst>
      <p:ext uri="{BB962C8B-B14F-4D97-AF65-F5344CB8AC3E}">
        <p14:creationId xmlns:p14="http://schemas.microsoft.com/office/powerpoint/2010/main" val="422392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23190EE2-120B-78EA-D4ED-5A58D13596EB}"/>
            </a:ext>
          </a:extLst>
        </p:cNvPr>
        <p:cNvGrpSpPr/>
        <p:nvPr/>
      </p:nvGrpSpPr>
      <p:grpSpPr>
        <a:xfrm>
          <a:off x="0" y="0"/>
          <a:ext cx="0" cy="0"/>
          <a:chOff x="0" y="0"/>
          <a:chExt cx="0" cy="0"/>
        </a:xfrm>
      </p:grpSpPr>
      <p:sp>
        <p:nvSpPr>
          <p:cNvPr id="274" name="Google Shape;274;p47">
            <a:extLst>
              <a:ext uri="{FF2B5EF4-FFF2-40B4-BE49-F238E27FC236}">
                <a16:creationId xmlns:a16="http://schemas.microsoft.com/office/drawing/2014/main" id="{F842E4A0-3753-6075-40CE-13816CAAC51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Final Model Selection</a:t>
            </a:r>
            <a:endParaRPr sz="2400" dirty="0">
              <a:solidFill>
                <a:srgbClr val="0E39A9"/>
              </a:solidFill>
            </a:endParaRPr>
          </a:p>
        </p:txBody>
      </p:sp>
      <p:sp>
        <p:nvSpPr>
          <p:cNvPr id="275" name="Google Shape;275;p47">
            <a:extLst>
              <a:ext uri="{FF2B5EF4-FFF2-40B4-BE49-F238E27FC236}">
                <a16:creationId xmlns:a16="http://schemas.microsoft.com/office/drawing/2014/main" id="{2CF33C40-16FB-79B2-546D-DD004460F512}"/>
              </a:ext>
            </a:extLst>
          </p:cNvPr>
          <p:cNvSpPr txBox="1"/>
          <p:nvPr/>
        </p:nvSpPr>
        <p:spPr>
          <a:xfrm>
            <a:off x="211349" y="2134498"/>
            <a:ext cx="8397900" cy="43239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b="1" dirty="0">
                <a:solidFill>
                  <a:schemeClr val="tx1"/>
                </a:solidFill>
                <a:latin typeface="Nunito"/>
                <a:ea typeface="Nunito"/>
                <a:cs typeface="Nunito"/>
                <a:sym typeface="Nunito"/>
              </a:rPr>
              <a:t>Comparative Analysis with other models </a:t>
            </a:r>
            <a:r>
              <a:rPr lang="en-US" b="1" u="none" strike="noStrike" cap="none" dirty="0">
                <a:solidFill>
                  <a:srgbClr val="C00000"/>
                </a:solidFill>
                <a:latin typeface="Nunito"/>
                <a:ea typeface="Nunito"/>
                <a:cs typeface="Nunito"/>
                <a:sym typeface="Nunito"/>
              </a:rPr>
              <a:t> </a:t>
            </a:r>
            <a:endParaRPr b="1" u="none" strike="noStrike" cap="none" dirty="0">
              <a:solidFill>
                <a:srgbClr val="C00000"/>
              </a:solidFill>
              <a:latin typeface="Nunito"/>
              <a:ea typeface="Nunito"/>
              <a:cs typeface="Nunito"/>
              <a:sym typeface="Nunito"/>
            </a:endParaRPr>
          </a:p>
        </p:txBody>
      </p:sp>
      <p:graphicFrame>
        <p:nvGraphicFramePr>
          <p:cNvPr id="2" name="Table 1">
            <a:extLst>
              <a:ext uri="{FF2B5EF4-FFF2-40B4-BE49-F238E27FC236}">
                <a16:creationId xmlns:a16="http://schemas.microsoft.com/office/drawing/2014/main" id="{6D63CB7E-E60D-CD44-E5B4-026A25B74D83}"/>
              </a:ext>
            </a:extLst>
          </p:cNvPr>
          <p:cNvGraphicFramePr>
            <a:graphicFrameLocks noGrp="1"/>
          </p:cNvGraphicFramePr>
          <p:nvPr>
            <p:extLst>
              <p:ext uri="{D42A27DB-BD31-4B8C-83A1-F6EECF244321}">
                <p14:modId xmlns:p14="http://schemas.microsoft.com/office/powerpoint/2010/main" val="316469851"/>
              </p:ext>
            </p:extLst>
          </p:nvPr>
        </p:nvGraphicFramePr>
        <p:xfrm>
          <a:off x="239387" y="2571750"/>
          <a:ext cx="8324225" cy="2291080"/>
        </p:xfrm>
        <a:graphic>
          <a:graphicData uri="http://schemas.openxmlformats.org/drawingml/2006/table">
            <a:tbl>
              <a:tblPr firstRow="1" bandRow="1">
                <a:tableStyleId>{A1BBC871-F89B-45A3-A074-B200C202542C}</a:tableStyleId>
              </a:tblPr>
              <a:tblGrid>
                <a:gridCol w="1914179">
                  <a:extLst>
                    <a:ext uri="{9D8B030D-6E8A-4147-A177-3AD203B41FA5}">
                      <a16:colId xmlns:a16="http://schemas.microsoft.com/office/drawing/2014/main" val="2177679952"/>
                    </a:ext>
                  </a:extLst>
                </a:gridCol>
                <a:gridCol w="1747302">
                  <a:extLst>
                    <a:ext uri="{9D8B030D-6E8A-4147-A177-3AD203B41FA5}">
                      <a16:colId xmlns:a16="http://schemas.microsoft.com/office/drawing/2014/main" val="1337131310"/>
                    </a:ext>
                  </a:extLst>
                </a:gridCol>
                <a:gridCol w="4662744">
                  <a:extLst>
                    <a:ext uri="{9D8B030D-6E8A-4147-A177-3AD203B41FA5}">
                      <a16:colId xmlns:a16="http://schemas.microsoft.com/office/drawing/2014/main" val="1886790312"/>
                    </a:ext>
                  </a:extLst>
                </a:gridCol>
              </a:tblGrid>
              <a:tr h="370840">
                <a:tc>
                  <a:txBody>
                    <a:bodyPr/>
                    <a:lstStyle/>
                    <a:p>
                      <a:r>
                        <a:rPr lang="en-US" sz="1200" dirty="0"/>
                        <a:t>Model </a:t>
                      </a:r>
                    </a:p>
                  </a:txBody>
                  <a:tcPr/>
                </a:tc>
                <a:tc>
                  <a:txBody>
                    <a:bodyPr/>
                    <a:lstStyle/>
                    <a:p>
                      <a:r>
                        <a:rPr lang="en-US" sz="1200" dirty="0"/>
                        <a:t>Status </a:t>
                      </a:r>
                    </a:p>
                  </a:txBody>
                  <a:tcPr/>
                </a:tc>
                <a:tc>
                  <a:txBody>
                    <a:bodyPr/>
                    <a:lstStyle/>
                    <a:p>
                      <a:r>
                        <a:rPr lang="en-US" sz="1200" dirty="0"/>
                        <a:t>Comments</a:t>
                      </a:r>
                    </a:p>
                  </a:txBody>
                  <a:tcPr/>
                </a:tc>
                <a:extLst>
                  <a:ext uri="{0D108BD9-81ED-4DB2-BD59-A6C34878D82A}">
                    <a16:rowId xmlns:a16="http://schemas.microsoft.com/office/drawing/2014/main" val="876136205"/>
                  </a:ext>
                </a:extLst>
              </a:tr>
              <a:tr h="370840">
                <a:tc>
                  <a:txBody>
                    <a:bodyPr/>
                    <a:lstStyle/>
                    <a:p>
                      <a:r>
                        <a:rPr lang="en-US" sz="1200" b="1" dirty="0"/>
                        <a:t>CNN (Basic)</a:t>
                      </a:r>
                    </a:p>
                  </a:txBody>
                  <a:tcPr/>
                </a:tc>
                <a:tc>
                  <a:txBody>
                    <a:bodyPr/>
                    <a:lstStyle/>
                    <a:p>
                      <a:r>
                        <a:rPr lang="en-US" sz="1200" dirty="0"/>
                        <a:t>Underperforming</a:t>
                      </a:r>
                    </a:p>
                  </a:txBody>
                  <a:tcPr/>
                </a:tc>
                <a:tc>
                  <a:txBody>
                    <a:bodyPr/>
                    <a:lstStyle/>
                    <a:p>
                      <a:r>
                        <a:rPr lang="en-US" sz="1200" dirty="0"/>
                        <a:t>Decent, but lacks the depth of VGG-16 to capture complex features</a:t>
                      </a:r>
                    </a:p>
                  </a:txBody>
                  <a:tcPr/>
                </a:tc>
                <a:extLst>
                  <a:ext uri="{0D108BD9-81ED-4DB2-BD59-A6C34878D82A}">
                    <a16:rowId xmlns:a16="http://schemas.microsoft.com/office/drawing/2014/main" val="3024561894"/>
                  </a:ext>
                </a:extLst>
              </a:tr>
              <a:tr h="370840">
                <a:tc>
                  <a:txBody>
                    <a:bodyPr/>
                    <a:lstStyle/>
                    <a:p>
                      <a:r>
                        <a:rPr lang="en-US" sz="1200" b="1" dirty="0"/>
                        <a:t>VGG-16(Base)</a:t>
                      </a:r>
                    </a:p>
                  </a:txBody>
                  <a:tcPr/>
                </a:tc>
                <a:tc>
                  <a:txBody>
                    <a:bodyPr/>
                    <a:lstStyle/>
                    <a:p>
                      <a:r>
                        <a:rPr lang="en-US" sz="1200" dirty="0"/>
                        <a:t>Underfit</a:t>
                      </a:r>
                    </a:p>
                  </a:txBody>
                  <a:tcPr/>
                </a:tc>
                <a:tc>
                  <a:txBody>
                    <a:bodyPr/>
                    <a:lstStyle/>
                    <a:p>
                      <a:r>
                        <a:rPr lang="en-US" sz="1200" dirty="0"/>
                        <a:t>This model likely lacks enough complexity in its "head" (classification layers) to make sense of the VGG features, leading to the lowest scores.</a:t>
                      </a:r>
                    </a:p>
                  </a:txBody>
                  <a:tcPr/>
                </a:tc>
                <a:extLst>
                  <a:ext uri="{0D108BD9-81ED-4DB2-BD59-A6C34878D82A}">
                    <a16:rowId xmlns:a16="http://schemas.microsoft.com/office/drawing/2014/main" val="4007647899"/>
                  </a:ext>
                </a:extLst>
              </a:tr>
              <a:tr h="370840">
                <a:tc>
                  <a:txBody>
                    <a:bodyPr/>
                    <a:lstStyle/>
                    <a:p>
                      <a:r>
                        <a:rPr lang="en-US" sz="1200" b="1" dirty="0"/>
                        <a:t>VGG-16+FFNN+Data Aug</a:t>
                      </a:r>
                    </a:p>
                  </a:txBody>
                  <a:tcPr/>
                </a:tc>
                <a:tc>
                  <a:txBody>
                    <a:bodyPr/>
                    <a:lstStyle/>
                    <a:p>
                      <a:r>
                        <a:rPr lang="en-US" sz="1200" dirty="0"/>
                        <a:t>Slightly Overfit</a:t>
                      </a:r>
                    </a:p>
                  </a:txBody>
                  <a:tcPr/>
                </a:tc>
                <a:tc>
                  <a:txBody>
                    <a:bodyPr/>
                    <a:lstStyle/>
                    <a:p>
                      <a:r>
                        <a:rPr lang="en-US" sz="1200" dirty="0"/>
                        <a:t>While the training accuracy is the highest (0.978), the validation accuracy (0.968) is lower. The gap between training and validation indicates it’s starting to "memorize" the augmented data rather than learning general rules</a:t>
                      </a:r>
                    </a:p>
                  </a:txBody>
                  <a:tcPr/>
                </a:tc>
                <a:extLst>
                  <a:ext uri="{0D108BD9-81ED-4DB2-BD59-A6C34878D82A}">
                    <a16:rowId xmlns:a16="http://schemas.microsoft.com/office/drawing/2014/main" val="2286643987"/>
                  </a:ext>
                </a:extLst>
              </a:tr>
            </a:tbl>
          </a:graphicData>
        </a:graphic>
      </p:graphicFrame>
      <p:sp>
        <p:nvSpPr>
          <p:cNvPr id="3" name="TextBox 2">
            <a:extLst>
              <a:ext uri="{FF2B5EF4-FFF2-40B4-BE49-F238E27FC236}">
                <a16:creationId xmlns:a16="http://schemas.microsoft.com/office/drawing/2014/main" id="{1627D849-5B00-95B1-34DF-56F10FEFF513}"/>
              </a:ext>
            </a:extLst>
          </p:cNvPr>
          <p:cNvSpPr txBox="1"/>
          <p:nvPr/>
        </p:nvSpPr>
        <p:spPr>
          <a:xfrm>
            <a:off x="202550" y="738017"/>
            <a:ext cx="8324225" cy="1862048"/>
          </a:xfrm>
          <a:prstGeom prst="rect">
            <a:avLst/>
          </a:prstGeom>
          <a:noFill/>
        </p:spPr>
        <p:txBody>
          <a:bodyPr wrap="square" rtlCol="0">
            <a:spAutoFit/>
          </a:bodyPr>
          <a:lstStyle/>
          <a:p>
            <a:r>
              <a:rPr lang="en-US" sz="1100" b="1" dirty="0">
                <a:latin typeface="Montserrat" panose="00000500000000000000" pitchFamily="2" charset="0"/>
              </a:rPr>
              <a:t>2. Balanced Precession and Recall </a:t>
            </a:r>
          </a:p>
          <a:p>
            <a:r>
              <a:rPr lang="en-US" sz="1000" dirty="0">
                <a:latin typeface="Montserrat" panose="00000500000000000000" pitchFamily="2" charset="0"/>
              </a:rPr>
              <a:t>This model shows a perfect balance between its ability to find all </a:t>
            </a:r>
            <a:r>
              <a:rPr lang="en-US" sz="1000" b="1" dirty="0">
                <a:latin typeface="Montserrat" panose="00000500000000000000" pitchFamily="2" charset="0"/>
              </a:rPr>
              <a:t>positive cases (Recall) </a:t>
            </a:r>
            <a:r>
              <a:rPr lang="en-US" sz="1000" dirty="0">
                <a:latin typeface="Montserrat" panose="00000500000000000000" pitchFamily="2" charset="0"/>
              </a:rPr>
              <a:t>and ensures general reliability of the system </a:t>
            </a:r>
            <a:r>
              <a:rPr lang="en-US" sz="1000" b="1" dirty="0">
                <a:latin typeface="Montserrat" panose="00000500000000000000" pitchFamily="2" charset="0"/>
              </a:rPr>
              <a:t>Accuracy</a:t>
            </a:r>
            <a:r>
              <a:rPr lang="en-US" sz="1000" dirty="0">
                <a:latin typeface="Montserrat" panose="00000500000000000000" pitchFamily="2" charset="0"/>
              </a:rPr>
              <a:t> </a:t>
            </a:r>
          </a:p>
          <a:p>
            <a:endParaRPr lang="en-US" sz="1000" b="1" dirty="0">
              <a:latin typeface="Montserrat" panose="00000500000000000000" pitchFamily="2" charset="0"/>
            </a:endParaRPr>
          </a:p>
          <a:p>
            <a:pPr marL="171450" lvl="1" indent="-171450">
              <a:buFont typeface="Wingdings" panose="05000000000000000000" pitchFamily="2" charset="2"/>
              <a:buChar char="ü"/>
            </a:pPr>
            <a:r>
              <a:rPr lang="en-US" sz="1000" b="1" dirty="0">
                <a:latin typeface="Montserrat" panose="00000500000000000000" pitchFamily="2" charset="0"/>
              </a:rPr>
              <a:t>Validation Recall:</a:t>
            </a:r>
            <a:r>
              <a:rPr lang="en-US" sz="1000" dirty="0">
                <a:latin typeface="Montserrat" panose="00000500000000000000" pitchFamily="2" charset="0"/>
              </a:rPr>
              <a:t> </a:t>
            </a:r>
            <a:r>
              <a:rPr lang="en-US" sz="1000" b="1" dirty="0">
                <a:latin typeface="Montserrat" panose="00000500000000000000" pitchFamily="2" charset="0"/>
              </a:rPr>
              <a:t>0.984127</a:t>
            </a:r>
            <a:r>
              <a:rPr lang="en-US" sz="1000" dirty="0">
                <a:latin typeface="Montserrat" panose="00000500000000000000" pitchFamily="2" charset="0"/>
              </a:rPr>
              <a:t>  This balance is essential because it means the model isn't "cheating" by over-predicting one class to get a higher score.</a:t>
            </a:r>
          </a:p>
          <a:p>
            <a:pPr marL="171450" lvl="1" indent="-171450">
              <a:buFont typeface="Wingdings" panose="05000000000000000000" pitchFamily="2" charset="2"/>
              <a:buChar char="ü"/>
            </a:pPr>
            <a:r>
              <a:rPr lang="en-US" sz="1000" b="1" dirty="0">
                <a:latin typeface="Montserrat" panose="00000500000000000000" pitchFamily="2" charset="0"/>
              </a:rPr>
              <a:t>Validation F1 Score :0.984127 </a:t>
            </a:r>
            <a:r>
              <a:rPr lang="en-US" sz="1000" dirty="0"/>
              <a:t>is the </a:t>
            </a:r>
            <a:r>
              <a:rPr lang="en-US" sz="1000" b="1" dirty="0"/>
              <a:t>harmonic mean</a:t>
            </a:r>
            <a:r>
              <a:rPr lang="en-US" sz="1000" dirty="0"/>
              <a:t> of Precision and Recall.</a:t>
            </a:r>
          </a:p>
          <a:p>
            <a:pPr lvl="1"/>
            <a:endParaRPr lang="en-US" sz="1000" dirty="0"/>
          </a:p>
          <a:p>
            <a:pPr marL="171450" lvl="1" indent="-171450">
              <a:buFont typeface="Wingdings" panose="05000000000000000000" pitchFamily="2" charset="2"/>
              <a:buChar char="ü"/>
            </a:pPr>
            <a:r>
              <a:rPr lang="en-US" sz="1000" b="1" dirty="0">
                <a:latin typeface="Montserrat" panose="00000500000000000000" pitchFamily="2" charset="0"/>
              </a:rPr>
              <a:t>Validation Accuracy :</a:t>
            </a:r>
            <a:r>
              <a:rPr lang="en-US" sz="1000" dirty="0">
                <a:latin typeface="Montserrat" panose="00000500000000000000" pitchFamily="2" charset="0"/>
              </a:rPr>
              <a:t> </a:t>
            </a:r>
            <a:r>
              <a:rPr lang="en-US" sz="1000" b="1" dirty="0">
                <a:latin typeface="Montserrat" panose="00000500000000000000" pitchFamily="2" charset="0"/>
              </a:rPr>
              <a:t>0.984127</a:t>
            </a:r>
            <a:r>
              <a:rPr lang="en-US" sz="1000" dirty="0">
                <a:latin typeface="Montserrat" panose="00000500000000000000" pitchFamily="2" charset="0"/>
              </a:rPr>
              <a:t> it is making sure the general reliability of the system fully perfect </a:t>
            </a:r>
          </a:p>
          <a:p>
            <a:pPr marL="171450" lvl="1" indent="-171450">
              <a:buFont typeface="Wingdings" panose="05000000000000000000" pitchFamily="2" charset="2"/>
              <a:buChar char="ü"/>
            </a:pPr>
            <a:endParaRPr lang="en-US" sz="1000" dirty="0">
              <a:latin typeface="Montserrat" panose="00000500000000000000" pitchFamily="2" charset="0"/>
            </a:endParaRPr>
          </a:p>
          <a:p>
            <a:pPr marL="171450" lvl="1" indent="-171450">
              <a:buFont typeface="Wingdings" panose="05000000000000000000" pitchFamily="2" charset="2"/>
              <a:buChar char="ü"/>
            </a:pPr>
            <a:endParaRPr lang="en-US" dirty="0"/>
          </a:p>
        </p:txBody>
      </p:sp>
    </p:spTree>
    <p:extLst>
      <p:ext uri="{BB962C8B-B14F-4D97-AF65-F5344CB8AC3E}">
        <p14:creationId xmlns:p14="http://schemas.microsoft.com/office/powerpoint/2010/main" val="3632156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413026AD-62C1-716C-99B8-8272DC20A422}"/>
            </a:ext>
          </a:extLst>
        </p:cNvPr>
        <p:cNvGrpSpPr/>
        <p:nvPr/>
      </p:nvGrpSpPr>
      <p:grpSpPr>
        <a:xfrm>
          <a:off x="0" y="0"/>
          <a:ext cx="0" cy="0"/>
          <a:chOff x="0" y="0"/>
          <a:chExt cx="0" cy="0"/>
        </a:xfrm>
      </p:grpSpPr>
      <p:sp>
        <p:nvSpPr>
          <p:cNvPr id="274" name="Google Shape;274;p47">
            <a:extLst>
              <a:ext uri="{FF2B5EF4-FFF2-40B4-BE49-F238E27FC236}">
                <a16:creationId xmlns:a16="http://schemas.microsoft.com/office/drawing/2014/main" id="{2541B213-9966-6397-8342-0606779E405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Final model with Test Data </a:t>
            </a:r>
            <a:endParaRPr sz="2400" dirty="0">
              <a:solidFill>
                <a:srgbClr val="0E39A9"/>
              </a:solidFill>
            </a:endParaRPr>
          </a:p>
          <a:p>
            <a:pPr marL="0" lvl="0" indent="0" algn="l" rtl="0">
              <a:lnSpc>
                <a:spcPct val="100000"/>
              </a:lnSpc>
              <a:spcBef>
                <a:spcPts val="0"/>
              </a:spcBef>
              <a:spcAft>
                <a:spcPts val="0"/>
              </a:spcAft>
              <a:buSzPts val="2200"/>
              <a:buNone/>
            </a:pPr>
            <a:endParaRPr sz="2400" dirty="0">
              <a:solidFill>
                <a:srgbClr val="0E39A9"/>
              </a:solidFill>
            </a:endParaRPr>
          </a:p>
        </p:txBody>
      </p:sp>
      <p:sp>
        <p:nvSpPr>
          <p:cNvPr id="4" name="TextBox 3">
            <a:extLst>
              <a:ext uri="{FF2B5EF4-FFF2-40B4-BE49-F238E27FC236}">
                <a16:creationId xmlns:a16="http://schemas.microsoft.com/office/drawing/2014/main" id="{213D31BB-DFA4-C13F-7E3E-2510F2015350}"/>
              </a:ext>
            </a:extLst>
          </p:cNvPr>
          <p:cNvSpPr txBox="1"/>
          <p:nvPr/>
        </p:nvSpPr>
        <p:spPr>
          <a:xfrm>
            <a:off x="202550" y="1009650"/>
            <a:ext cx="3140725" cy="314325"/>
          </a:xfrm>
          <a:prstGeom prst="rect">
            <a:avLst/>
          </a:prstGeom>
          <a:noFill/>
        </p:spPr>
        <p:txBody>
          <a:bodyPr wrap="square" rtlCol="0">
            <a:spAutoFit/>
          </a:bodyPr>
          <a:lstStyle/>
          <a:p>
            <a:r>
              <a:rPr lang="en-US" b="1" dirty="0">
                <a:latin typeface="Nunito" pitchFamily="2" charset="0"/>
              </a:rPr>
              <a:t>Performance Metrics  </a:t>
            </a:r>
          </a:p>
        </p:txBody>
      </p:sp>
      <p:pic>
        <p:nvPicPr>
          <p:cNvPr id="5" name="Picture 4">
            <a:extLst>
              <a:ext uri="{FF2B5EF4-FFF2-40B4-BE49-F238E27FC236}">
                <a16:creationId xmlns:a16="http://schemas.microsoft.com/office/drawing/2014/main" id="{1C00312E-82C4-2A59-FD1C-EB527E0B9E39}"/>
              </a:ext>
            </a:extLst>
          </p:cNvPr>
          <p:cNvPicPr>
            <a:picLocks noChangeAspect="1"/>
          </p:cNvPicPr>
          <p:nvPr/>
        </p:nvPicPr>
        <p:blipFill>
          <a:blip r:embed="rId3"/>
          <a:stretch>
            <a:fillRect/>
          </a:stretch>
        </p:blipFill>
        <p:spPr>
          <a:xfrm>
            <a:off x="126350" y="1474555"/>
            <a:ext cx="4143953" cy="838317"/>
          </a:xfrm>
          <a:prstGeom prst="rect">
            <a:avLst/>
          </a:prstGeom>
        </p:spPr>
      </p:pic>
      <p:sp>
        <p:nvSpPr>
          <p:cNvPr id="9" name="TextBox 8">
            <a:extLst>
              <a:ext uri="{FF2B5EF4-FFF2-40B4-BE49-F238E27FC236}">
                <a16:creationId xmlns:a16="http://schemas.microsoft.com/office/drawing/2014/main" id="{F9F0A4C1-6CCF-65FF-13F6-60A4523E2B97}"/>
              </a:ext>
            </a:extLst>
          </p:cNvPr>
          <p:cNvSpPr txBox="1"/>
          <p:nvPr/>
        </p:nvSpPr>
        <p:spPr>
          <a:xfrm>
            <a:off x="4349364" y="621489"/>
            <a:ext cx="4731026" cy="3785652"/>
          </a:xfrm>
          <a:prstGeom prst="rect">
            <a:avLst/>
          </a:prstGeom>
          <a:noFill/>
        </p:spPr>
        <p:txBody>
          <a:bodyPr wrap="square" rtlCol="0">
            <a:spAutoFit/>
          </a:bodyPr>
          <a:lstStyle/>
          <a:p>
            <a:r>
              <a:rPr lang="en-US" b="1" dirty="0">
                <a:latin typeface="Montserrat" panose="00000500000000000000" pitchFamily="2" charset="0"/>
              </a:rPr>
              <a:t>Comments: </a:t>
            </a:r>
          </a:p>
          <a:p>
            <a:endParaRPr lang="en-US" b="1" dirty="0">
              <a:latin typeface="Montserrat" panose="00000500000000000000" pitchFamily="2" charset="0"/>
            </a:endParaRPr>
          </a:p>
          <a:p>
            <a:pPr marL="285750" indent="-285750">
              <a:buFont typeface="Wingdings" panose="05000000000000000000" pitchFamily="2" charset="2"/>
              <a:buChar char="ü"/>
            </a:pPr>
            <a:r>
              <a:rPr lang="en-US" sz="1100" b="1" dirty="0">
                <a:latin typeface="Montserrat" panose="00000500000000000000" pitchFamily="2" charset="0"/>
              </a:rPr>
              <a:t>Exceptional Generalization Performance</a:t>
            </a:r>
            <a:r>
              <a:rPr lang="en-US" sz="1100" dirty="0">
                <a:latin typeface="Montserrat" panose="00000500000000000000" pitchFamily="2" charset="0"/>
              </a:rPr>
              <a:t>: </a:t>
            </a:r>
            <a:r>
              <a:rPr lang="en-US" sz="1050" dirty="0">
                <a:latin typeface="Montserrat" panose="00000500000000000000" pitchFamily="2" charset="0"/>
              </a:rPr>
              <a:t>The model </a:t>
            </a:r>
            <a:r>
              <a:rPr lang="en-US" sz="1000" dirty="0">
                <a:latin typeface="Montserrat" panose="00000500000000000000" pitchFamily="2" charset="0"/>
              </a:rPr>
              <a:t>demonstrates </a:t>
            </a:r>
            <a:r>
              <a:rPr lang="en-US" sz="1000" b="1" dirty="0">
                <a:latin typeface="Montserrat" panose="00000500000000000000" pitchFamily="2" charset="0"/>
              </a:rPr>
              <a:t>flawless classification</a:t>
            </a:r>
            <a:r>
              <a:rPr lang="en-US" sz="1000" dirty="0">
                <a:latin typeface="Montserrat" panose="00000500000000000000" pitchFamily="2" charset="0"/>
              </a:rPr>
              <a:t> on the test set, achieving a </a:t>
            </a:r>
            <a:r>
              <a:rPr lang="en-US" sz="1000" b="1" dirty="0">
                <a:latin typeface="Montserrat" panose="00000500000000000000" pitchFamily="2" charset="0"/>
              </a:rPr>
              <a:t>perfect score of 1.0 across all key metrics including Accuracy, Precision, Recall, and F1-score</a:t>
            </a:r>
            <a:r>
              <a:rPr lang="en-US" sz="1000" dirty="0">
                <a:latin typeface="Montserrat" panose="00000500000000000000" pitchFamily="2" charset="0"/>
              </a:rPr>
              <a:t>. This confirms that the VGG-16 base successfully extracted robust features, while the custom FFNN head accurately mapped them to the target classes.</a:t>
            </a:r>
          </a:p>
          <a:p>
            <a:endParaRPr lang="en-US" sz="1100" dirty="0">
              <a:latin typeface="Montserrat" panose="00000500000000000000" pitchFamily="2" charset="0"/>
            </a:endParaRPr>
          </a:p>
          <a:p>
            <a:pPr marL="171450" indent="-171450">
              <a:buFont typeface="Wingdings" panose="05000000000000000000" pitchFamily="2" charset="2"/>
              <a:buChar char="ü"/>
            </a:pPr>
            <a:r>
              <a:rPr lang="en-US" sz="1100" b="1" dirty="0">
                <a:latin typeface="Montserrat" panose="00000500000000000000" pitchFamily="2" charset="0"/>
              </a:rPr>
              <a:t>Optimal Balance and Robustness</a:t>
            </a:r>
            <a:r>
              <a:rPr lang="en-US" sz="1100" dirty="0">
                <a:latin typeface="Montserrat" panose="00000500000000000000" pitchFamily="2" charset="0"/>
              </a:rPr>
              <a:t>: </a:t>
            </a:r>
            <a:r>
              <a:rPr lang="en-US" sz="1000" dirty="0">
                <a:latin typeface="Montserrat" panose="00000500000000000000" pitchFamily="2" charset="0"/>
              </a:rPr>
              <a:t>Achieving an F1-score of 1.0 indicates an ideal harmonic mean, where the model eliminated both false positives and false negatives during testing. This perfect balance validates that the selected architecture is </a:t>
            </a:r>
            <a:r>
              <a:rPr lang="en-US" sz="1000" b="1" dirty="0">
                <a:latin typeface="Montserrat" panose="00000500000000000000" pitchFamily="2" charset="0"/>
              </a:rPr>
              <a:t>highly reliable for this specific dataset and its underlying distribution.</a:t>
            </a:r>
          </a:p>
          <a:p>
            <a:endParaRPr lang="en-US" sz="1100" dirty="0">
              <a:latin typeface="Montserrat" panose="00000500000000000000" pitchFamily="2" charset="0"/>
            </a:endParaRPr>
          </a:p>
          <a:p>
            <a:pPr marL="171450" indent="-171450">
              <a:buFont typeface="Wingdings" panose="05000000000000000000" pitchFamily="2" charset="2"/>
              <a:buChar char="ü"/>
            </a:pPr>
            <a:r>
              <a:rPr lang="en-US" sz="1100" b="1" dirty="0">
                <a:latin typeface="Montserrat" panose="00000500000000000000" pitchFamily="2" charset="0"/>
              </a:rPr>
              <a:t>Validation of Architecture Selection</a:t>
            </a:r>
            <a:r>
              <a:rPr lang="en-US" sz="1100" dirty="0">
                <a:latin typeface="Montserrat" panose="00000500000000000000" pitchFamily="2" charset="0"/>
              </a:rPr>
              <a:t>: </a:t>
            </a:r>
            <a:r>
              <a:rPr lang="en-US" sz="1000" dirty="0">
                <a:latin typeface="Montserrat" panose="00000500000000000000" pitchFamily="2" charset="0"/>
              </a:rPr>
              <a:t>These results justify the choice of </a:t>
            </a:r>
            <a:r>
              <a:rPr lang="en-US" sz="1000" b="1" dirty="0">
                <a:latin typeface="Montserrat" panose="00000500000000000000" pitchFamily="2" charset="0"/>
              </a:rPr>
              <a:t>VGG-16 with an added FFNN, as the model's performance successfully translated from high validation scores to a perfect test outcome</a:t>
            </a:r>
            <a:r>
              <a:rPr lang="en-US" sz="1000" dirty="0">
                <a:latin typeface="Montserrat" panose="00000500000000000000" pitchFamily="2" charset="0"/>
              </a:rPr>
              <a:t>. This suggests the model has reached its maximum theoretical discriminative capacity for the current test environment.</a:t>
            </a:r>
          </a:p>
          <a:p>
            <a:endParaRPr lang="en-US" b="1" dirty="0">
              <a:latin typeface="Nunito" pitchFamily="2" charset="0"/>
            </a:endParaRPr>
          </a:p>
        </p:txBody>
      </p:sp>
    </p:spTree>
    <p:extLst>
      <p:ext uri="{BB962C8B-B14F-4D97-AF65-F5344CB8AC3E}">
        <p14:creationId xmlns:p14="http://schemas.microsoft.com/office/powerpoint/2010/main" val="603505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BA9944DB-B7CC-21A9-C981-24C68BC3EA20}"/>
            </a:ext>
          </a:extLst>
        </p:cNvPr>
        <p:cNvGrpSpPr/>
        <p:nvPr/>
      </p:nvGrpSpPr>
      <p:grpSpPr>
        <a:xfrm>
          <a:off x="0" y="0"/>
          <a:ext cx="0" cy="0"/>
          <a:chOff x="0" y="0"/>
          <a:chExt cx="0" cy="0"/>
        </a:xfrm>
      </p:grpSpPr>
      <p:sp>
        <p:nvSpPr>
          <p:cNvPr id="274" name="Google Shape;274;p47">
            <a:extLst>
              <a:ext uri="{FF2B5EF4-FFF2-40B4-BE49-F238E27FC236}">
                <a16:creationId xmlns:a16="http://schemas.microsoft.com/office/drawing/2014/main" id="{70DE4E85-E855-5D38-8264-A0B5A2DEB5F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Final model with Test Data </a:t>
            </a:r>
            <a:endParaRPr sz="2400" dirty="0">
              <a:solidFill>
                <a:srgbClr val="0E39A9"/>
              </a:solidFill>
            </a:endParaRPr>
          </a:p>
          <a:p>
            <a:pPr marL="0" lvl="0" indent="0" algn="l" rtl="0">
              <a:lnSpc>
                <a:spcPct val="100000"/>
              </a:lnSpc>
              <a:spcBef>
                <a:spcPts val="0"/>
              </a:spcBef>
              <a:spcAft>
                <a:spcPts val="0"/>
              </a:spcAft>
              <a:buSzPts val="2200"/>
              <a:buNone/>
            </a:pPr>
            <a:endParaRPr sz="2400" dirty="0">
              <a:solidFill>
                <a:srgbClr val="0E39A9"/>
              </a:solidFill>
            </a:endParaRPr>
          </a:p>
        </p:txBody>
      </p:sp>
      <p:pic>
        <p:nvPicPr>
          <p:cNvPr id="7" name="Picture 6">
            <a:extLst>
              <a:ext uri="{FF2B5EF4-FFF2-40B4-BE49-F238E27FC236}">
                <a16:creationId xmlns:a16="http://schemas.microsoft.com/office/drawing/2014/main" id="{69DF3996-EB8F-6E44-1AE3-2DAD00D9E7E4}"/>
              </a:ext>
            </a:extLst>
          </p:cNvPr>
          <p:cNvPicPr>
            <a:picLocks noChangeAspect="1"/>
          </p:cNvPicPr>
          <p:nvPr/>
        </p:nvPicPr>
        <p:blipFill>
          <a:blip r:embed="rId3"/>
          <a:stretch>
            <a:fillRect/>
          </a:stretch>
        </p:blipFill>
        <p:spPr>
          <a:xfrm>
            <a:off x="182463" y="1009650"/>
            <a:ext cx="3760763" cy="3069369"/>
          </a:xfrm>
          <a:prstGeom prst="rect">
            <a:avLst/>
          </a:prstGeom>
        </p:spPr>
      </p:pic>
      <p:sp>
        <p:nvSpPr>
          <p:cNvPr id="8" name="TextBox 7">
            <a:extLst>
              <a:ext uri="{FF2B5EF4-FFF2-40B4-BE49-F238E27FC236}">
                <a16:creationId xmlns:a16="http://schemas.microsoft.com/office/drawing/2014/main" id="{55090801-5433-B283-7074-1309098A21F5}"/>
              </a:ext>
            </a:extLst>
          </p:cNvPr>
          <p:cNvSpPr txBox="1"/>
          <p:nvPr/>
        </p:nvSpPr>
        <p:spPr>
          <a:xfrm>
            <a:off x="182462" y="690645"/>
            <a:ext cx="3140725" cy="314325"/>
          </a:xfrm>
          <a:prstGeom prst="rect">
            <a:avLst/>
          </a:prstGeom>
          <a:noFill/>
        </p:spPr>
        <p:txBody>
          <a:bodyPr wrap="square" rtlCol="0">
            <a:spAutoFit/>
          </a:bodyPr>
          <a:lstStyle/>
          <a:p>
            <a:r>
              <a:rPr lang="en-US" b="1" dirty="0">
                <a:latin typeface="Nunito" pitchFamily="2" charset="0"/>
              </a:rPr>
              <a:t>Confusion Metrics  </a:t>
            </a:r>
          </a:p>
        </p:txBody>
      </p:sp>
      <p:sp>
        <p:nvSpPr>
          <p:cNvPr id="2" name="TextBox 1">
            <a:extLst>
              <a:ext uri="{FF2B5EF4-FFF2-40B4-BE49-F238E27FC236}">
                <a16:creationId xmlns:a16="http://schemas.microsoft.com/office/drawing/2014/main" id="{5C26E5F1-CD76-B46D-5C56-337FAB281777}"/>
              </a:ext>
            </a:extLst>
          </p:cNvPr>
          <p:cNvSpPr txBox="1"/>
          <p:nvPr/>
        </p:nvSpPr>
        <p:spPr>
          <a:xfrm>
            <a:off x="4309608" y="946205"/>
            <a:ext cx="4770782" cy="3177793"/>
          </a:xfrm>
          <a:prstGeom prst="rect">
            <a:avLst/>
          </a:prstGeom>
          <a:noFill/>
        </p:spPr>
        <p:txBody>
          <a:bodyPr wrap="square" rtlCol="0">
            <a:spAutoFit/>
          </a:bodyPr>
          <a:lstStyle/>
          <a:p>
            <a:r>
              <a:rPr lang="en-US" sz="1200" b="1" dirty="0">
                <a:latin typeface="Montserrat" panose="00000500000000000000" pitchFamily="2" charset="0"/>
              </a:rPr>
              <a:t>Comments : </a:t>
            </a:r>
            <a:br>
              <a:rPr lang="en-US" dirty="0"/>
            </a:br>
            <a:endParaRPr lang="en-US" dirty="0"/>
          </a:p>
          <a:p>
            <a:r>
              <a:rPr lang="en-US" sz="1000" b="1" i="1" dirty="0">
                <a:latin typeface="Montserrat" panose="00000500000000000000" pitchFamily="2" charset="0"/>
              </a:rPr>
              <a:t>An incredible result! Seeing a diagonal confusion matrix with zeros on the off-diagonal</a:t>
            </a:r>
          </a:p>
          <a:p>
            <a:endParaRPr lang="en-US" dirty="0"/>
          </a:p>
          <a:p>
            <a:pPr marL="171450" indent="-171450">
              <a:buFont typeface="Wingdings" panose="05000000000000000000" pitchFamily="2" charset="2"/>
              <a:buChar char="ü"/>
            </a:pPr>
            <a:r>
              <a:rPr lang="en-US" sz="1000" b="1" dirty="0">
                <a:latin typeface="Montserrat" panose="00000500000000000000" pitchFamily="2" charset="0"/>
              </a:rPr>
              <a:t>Perfect Classification Accuracy:</a:t>
            </a:r>
            <a:r>
              <a:rPr lang="en-US" sz="1000" dirty="0">
                <a:latin typeface="Montserrat" panose="00000500000000000000" pitchFamily="2" charset="0"/>
              </a:rPr>
              <a:t> The confusion matrix confirms a $100\%$ classification rate, where all 64 test samples were correctly identified with zero false positives or false negatives.</a:t>
            </a:r>
          </a:p>
          <a:p>
            <a:pPr marL="171450" indent="-171450">
              <a:buFont typeface="Wingdings" panose="05000000000000000000" pitchFamily="2" charset="2"/>
              <a:buChar char="ü"/>
            </a:pPr>
            <a:endParaRPr lang="en-US" sz="1000" dirty="0">
              <a:latin typeface="Montserrat" panose="00000500000000000000" pitchFamily="2" charset="0"/>
            </a:endParaRPr>
          </a:p>
          <a:p>
            <a:pPr marL="171450" indent="-171450">
              <a:buFont typeface="Wingdings" panose="05000000000000000000" pitchFamily="2" charset="2"/>
              <a:buChar char="ü"/>
            </a:pPr>
            <a:r>
              <a:rPr lang="en-US" sz="1000" b="1" dirty="0">
                <a:latin typeface="Montserrat" panose="00000500000000000000" pitchFamily="2" charset="0"/>
              </a:rPr>
              <a:t>Robust Feature Discriminability:</a:t>
            </a:r>
            <a:r>
              <a:rPr lang="en-US" sz="1000" dirty="0">
                <a:latin typeface="Montserrat" panose="00000500000000000000" pitchFamily="2" charset="0"/>
              </a:rPr>
              <a:t> Such clear separation in the test data indicates that the VGG-16 feature extractor, paired with your custom FFNN, has learned highly distinct decision boundaries for these specific classes.</a:t>
            </a:r>
          </a:p>
          <a:p>
            <a:pPr marL="171450" indent="-171450">
              <a:buFont typeface="Wingdings" panose="05000000000000000000" pitchFamily="2" charset="2"/>
              <a:buChar char="ü"/>
            </a:pPr>
            <a:endParaRPr lang="en-US" sz="1000" dirty="0">
              <a:latin typeface="Montserrat" panose="00000500000000000000" pitchFamily="2" charset="0"/>
            </a:endParaRPr>
          </a:p>
          <a:p>
            <a:pPr marL="171450" indent="-171450">
              <a:buFont typeface="Wingdings" panose="05000000000000000000" pitchFamily="2" charset="2"/>
              <a:buChar char="ü"/>
            </a:pPr>
            <a:r>
              <a:rPr lang="en-US" sz="1000" b="1" dirty="0">
                <a:latin typeface="Montserrat" panose="00000500000000000000" pitchFamily="2" charset="0"/>
              </a:rPr>
              <a:t>High Model Reliability:</a:t>
            </a:r>
            <a:r>
              <a:rPr lang="en-US" sz="1000" dirty="0">
                <a:latin typeface="Montserrat" panose="00000500000000000000" pitchFamily="2" charset="0"/>
              </a:rPr>
              <a:t> Achieving a perfect score of </a:t>
            </a:r>
            <a:r>
              <a:rPr lang="en-US" sz="1000" b="1" dirty="0">
                <a:latin typeface="Montserrat" panose="00000500000000000000" pitchFamily="2" charset="0"/>
              </a:rPr>
              <a:t>1.0</a:t>
            </a:r>
            <a:r>
              <a:rPr lang="en-US" sz="1000" dirty="0">
                <a:latin typeface="Montserrat" panose="00000500000000000000" pitchFamily="2" charset="0"/>
              </a:rPr>
              <a:t> across Accuracy, Precision, Recall, and F1-score demonstrates that the model generalizes exceptionally well from the training phase to unseen data.</a:t>
            </a:r>
          </a:p>
          <a:p>
            <a:endParaRPr lang="en-US" sz="1050" dirty="0"/>
          </a:p>
        </p:txBody>
      </p:sp>
    </p:spTree>
    <p:extLst>
      <p:ext uri="{BB962C8B-B14F-4D97-AF65-F5344CB8AC3E}">
        <p14:creationId xmlns:p14="http://schemas.microsoft.com/office/powerpoint/2010/main" val="4221846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xfrm>
            <a:off x="202550" y="26785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Background and Contents</a:t>
            </a:r>
            <a:endParaRPr sz="2400">
              <a:solidFill>
                <a:srgbClr val="0E39A9"/>
              </a:solidFill>
            </a:endParaRPr>
          </a:p>
        </p:txBody>
      </p:sp>
      <p:sp>
        <p:nvSpPr>
          <p:cNvPr id="2" name="TextBox 1">
            <a:extLst>
              <a:ext uri="{FF2B5EF4-FFF2-40B4-BE49-F238E27FC236}">
                <a16:creationId xmlns:a16="http://schemas.microsoft.com/office/drawing/2014/main" id="{B597065E-F2DE-19BA-4889-C3A9906EACCB}"/>
              </a:ext>
            </a:extLst>
          </p:cNvPr>
          <p:cNvSpPr txBox="1"/>
          <p:nvPr/>
        </p:nvSpPr>
        <p:spPr>
          <a:xfrm>
            <a:off x="357808" y="914400"/>
            <a:ext cx="7768425" cy="3916457"/>
          </a:xfrm>
          <a:prstGeom prst="rect">
            <a:avLst/>
          </a:prstGeom>
          <a:noFill/>
        </p:spPr>
        <p:txBody>
          <a:bodyPr wrap="square" rtlCol="0">
            <a:spAutoFit/>
          </a:bodyPr>
          <a:lstStyle/>
          <a:p>
            <a:r>
              <a:rPr lang="en-US" sz="1200" b="1" dirty="0">
                <a:latin typeface="Montserrat" panose="00000500000000000000" pitchFamily="2" charset="0"/>
              </a:rPr>
              <a:t>Data Background :</a:t>
            </a:r>
          </a:p>
          <a:p>
            <a:r>
              <a:rPr lang="en-US" sz="1100" dirty="0">
                <a:latin typeface="Montserrat" panose="00000500000000000000" pitchFamily="2" charset="0"/>
              </a:rPr>
              <a:t>This dataset is designed for </a:t>
            </a:r>
            <a:r>
              <a:rPr lang="en-US" sz="1100" b="1" dirty="0">
                <a:latin typeface="Montserrat" panose="00000500000000000000" pitchFamily="2" charset="0"/>
              </a:rPr>
              <a:t>Industrial Safety Monitoring</a:t>
            </a:r>
            <a:r>
              <a:rPr lang="en-US" sz="1100" dirty="0">
                <a:latin typeface="Montserrat" panose="00000500000000000000" pitchFamily="2" charset="0"/>
              </a:rPr>
              <a:t> (specifically, Workplace Safety Compliance). It aims to automate the detection of </a:t>
            </a:r>
            <a:r>
              <a:rPr lang="en-US" sz="1100" b="1" dirty="0">
                <a:latin typeface="Montserrat" panose="00000500000000000000" pitchFamily="2" charset="0"/>
              </a:rPr>
              <a:t>Personal Protective Equipment (PPE)</a:t>
            </a:r>
            <a:r>
              <a:rPr lang="en-US" sz="1100" dirty="0">
                <a:latin typeface="Montserrat" panose="00000500000000000000" pitchFamily="2" charset="0"/>
              </a:rPr>
              <a:t> by identifying whether workers are wearing safety helmets in high-risk environments like construction sites and factories. </a:t>
            </a:r>
            <a:br>
              <a:rPr lang="en-US" sz="1100" dirty="0">
                <a:latin typeface="Montserrat" panose="00000500000000000000" pitchFamily="2" charset="0"/>
              </a:rPr>
            </a:br>
            <a:br>
              <a:rPr lang="en-US" dirty="0">
                <a:latin typeface="Montserrat" panose="00000500000000000000" pitchFamily="2" charset="0"/>
              </a:rPr>
            </a:br>
            <a:r>
              <a:rPr lang="en-US" sz="1200" b="1" dirty="0">
                <a:latin typeface="Montserrat" panose="00000500000000000000" pitchFamily="2" charset="0"/>
              </a:rPr>
              <a:t>Data Contents : </a:t>
            </a:r>
          </a:p>
          <a:p>
            <a:r>
              <a:rPr lang="en-US" sz="1050" dirty="0">
                <a:latin typeface="Montserrat" panose="00000500000000000000" pitchFamily="2" charset="0"/>
              </a:rPr>
              <a:t>The dataset contains a total of 631 images. It is a balanced dataset, meaning it has a nearly equal distribution between two classes:</a:t>
            </a:r>
          </a:p>
          <a:p>
            <a:endParaRPr lang="en-US"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With Helmet: 311 images (Positive class)</a:t>
            </a:r>
          </a:p>
          <a:p>
            <a:pPr marL="171450" indent="-171450">
              <a:buFont typeface="Wingdings" panose="05000000000000000000" pitchFamily="2" charset="2"/>
              <a:buChar char="§"/>
            </a:pPr>
            <a:endParaRPr lang="en-US" sz="1000" dirty="0">
              <a:latin typeface="Montserrat" panose="00000500000000000000" pitchFamily="2" charset="0"/>
            </a:endParaRPr>
          </a:p>
          <a:p>
            <a:pPr marL="171450" indent="-171450">
              <a:buFont typeface="Wingdings" panose="05000000000000000000" pitchFamily="2" charset="2"/>
              <a:buChar char="§"/>
            </a:pPr>
            <a:r>
              <a:rPr lang="en-US" sz="1000" b="1" dirty="0">
                <a:latin typeface="Montserrat" panose="00000500000000000000" pitchFamily="2" charset="0"/>
              </a:rPr>
              <a:t>Without Helmet: 320 images (Negative class)</a:t>
            </a:r>
          </a:p>
          <a:p>
            <a:endParaRPr lang="en-US" dirty="0">
              <a:latin typeface="Montserrat" panose="00000500000000000000" pitchFamily="2" charset="0"/>
            </a:endParaRPr>
          </a:p>
          <a:p>
            <a:r>
              <a:rPr lang="en-US" sz="1200" b="1" dirty="0">
                <a:latin typeface="Montserrat" panose="00000500000000000000" pitchFamily="2" charset="0"/>
              </a:rPr>
              <a:t>Dataset Characteristics :</a:t>
            </a:r>
          </a:p>
          <a:p>
            <a:pPr marL="171450" indent="-171450">
              <a:buFont typeface="Wingdings" panose="05000000000000000000" pitchFamily="2" charset="2"/>
              <a:buChar char="§"/>
            </a:pPr>
            <a:r>
              <a:rPr lang="en-US" sz="1000" b="1" dirty="0">
                <a:latin typeface="Montserrat" panose="00000500000000000000" pitchFamily="2" charset="0"/>
              </a:rPr>
              <a:t>Environmental Diversity:</a:t>
            </a:r>
            <a:r>
              <a:rPr lang="en-US" sz="1000" dirty="0">
                <a:latin typeface="Montserrat" panose="00000500000000000000" pitchFamily="2" charset="0"/>
              </a:rPr>
              <a:t> Various lighting conditions and industrial backgrounds.</a:t>
            </a:r>
          </a:p>
          <a:p>
            <a:pPr marL="171450" indent="-171450">
              <a:buFont typeface="Wingdings" panose="05000000000000000000" pitchFamily="2" charset="2"/>
              <a:buChar char="§"/>
            </a:pPr>
            <a:r>
              <a:rPr lang="en-US" sz="1000" b="1" dirty="0">
                <a:latin typeface="Montserrat" panose="00000500000000000000" pitchFamily="2" charset="0"/>
              </a:rPr>
              <a:t>Postural Variation:</a:t>
            </a:r>
            <a:r>
              <a:rPr lang="en-US" sz="1000" dirty="0">
                <a:latin typeface="Montserrat" panose="00000500000000000000" pitchFamily="2" charset="0"/>
              </a:rPr>
              <a:t> Workers are captured in different poses (standing, moving, working) and from multiple camera angles.</a:t>
            </a:r>
          </a:p>
          <a:p>
            <a:pPr marL="171450" indent="-171450">
              <a:buFont typeface="Wingdings" panose="05000000000000000000" pitchFamily="2" charset="2"/>
              <a:buChar char="§"/>
            </a:pPr>
            <a:r>
              <a:rPr lang="en-US" sz="1000" b="1" dirty="0">
                <a:latin typeface="Montserrat" panose="00000500000000000000" pitchFamily="2" charset="0"/>
              </a:rPr>
              <a:t>Action-Oriented:</a:t>
            </a:r>
            <a:r>
              <a:rPr lang="en-US" sz="1000" dirty="0">
                <a:latin typeface="Montserrat" panose="00000500000000000000" pitchFamily="2" charset="0"/>
              </a:rPr>
              <a:t> The images include workers actively using tools, ensuring the model doesn't just learn to recognize a "posed" human, but a worker in action.</a:t>
            </a:r>
          </a:p>
          <a:p>
            <a:endParaRPr lang="en-US" dirty="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0"/>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303" name="Google Shape;303;p50"/>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32</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6846</TotalTime>
  <Words>4367</Words>
  <Application>Microsoft Office PowerPoint</Application>
  <PresentationFormat>On-screen Show (16:9)</PresentationFormat>
  <Paragraphs>488</Paragraphs>
  <Slides>32</Slides>
  <Notes>32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32</vt:i4>
      </vt:variant>
    </vt:vector>
  </HeadingPairs>
  <TitlesOfParts>
    <vt:vector size="42" baseType="lpstr">
      <vt:lpstr>Nunito</vt:lpstr>
      <vt:lpstr>Nunito SemiBold</vt:lpstr>
      <vt:lpstr>Montserrat</vt:lpstr>
      <vt:lpstr>Arial</vt:lpstr>
      <vt:lpstr>Calibri</vt:lpstr>
      <vt:lpstr>Wingdings</vt:lpstr>
      <vt:lpstr>Nunito ExtraBold</vt:lpstr>
      <vt:lpstr>Century Gothic</vt:lpstr>
      <vt:lpstr>Just Logo</vt:lpstr>
      <vt:lpstr>Just Logo</vt:lpstr>
      <vt:lpstr>PowerPoint Presentation</vt:lpstr>
      <vt:lpstr>Contents / Agenda</vt:lpstr>
      <vt:lpstr>Executive Summary: HelmNet Safety Compliance System</vt:lpstr>
      <vt:lpstr>Executive Summary: HelmNet Safety Compliance System</vt:lpstr>
      <vt:lpstr>Executive Summary: HelmNet Safety Compliance System</vt:lpstr>
      <vt:lpstr>Business Problem - HelmNet</vt:lpstr>
      <vt:lpstr>Business Problem - HelmNet</vt:lpstr>
      <vt:lpstr>Solution Approach</vt:lpstr>
      <vt:lpstr>Solution Approach</vt:lpstr>
      <vt:lpstr>Solution Approach</vt:lpstr>
      <vt:lpstr>Data Overview</vt:lpstr>
      <vt:lpstr>Exploratory Data Analysis</vt:lpstr>
      <vt:lpstr>Data Pre-processing</vt:lpstr>
      <vt:lpstr>Basic Convolutional Neural Network- MODEL1C</vt:lpstr>
      <vt:lpstr>Basic Convolutional Neural Network- MODEL1C</vt:lpstr>
      <vt:lpstr>Basic Convolutional Neural Network- MODEL1C</vt:lpstr>
      <vt:lpstr>VGG-16 Model- Model  model2</vt:lpstr>
      <vt:lpstr>VGG-16 Model- Model   Model 2</vt:lpstr>
      <vt:lpstr>VGG-16 Model- Model   Model2 Confusion Metrics</vt:lpstr>
      <vt:lpstr>VGG-16 with FFNN-Model model3C </vt:lpstr>
      <vt:lpstr>VGG-16 with FFNN-Model model3C </vt:lpstr>
      <vt:lpstr>VGG-16 with FFNN-Model  Model3C Confusion Metrics </vt:lpstr>
      <vt:lpstr>VGG-16 with Data Augmentation- Model4E</vt:lpstr>
      <vt:lpstr>VGG-16 with Data Augmentation Model 4</vt:lpstr>
      <vt:lpstr>VGG-16 with Data Augmentation-Model 4 Confusion Metrics </vt:lpstr>
      <vt:lpstr>Model Performance Comparison</vt:lpstr>
      <vt:lpstr>Final Model  Selection</vt:lpstr>
      <vt:lpstr>Final Model Selection</vt:lpstr>
      <vt:lpstr>Final model with Test Data  </vt:lpstr>
      <vt:lpstr>Final model with Test Data  </vt:lpstr>
      <vt:lpstr>Data Background and Contents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Yashpal Singh (ALLYIS INC)</cp:lastModifiedBy>
  <cp:revision>1</cp:revision>
  <cp:lastPrinted>2026-01-24T22:07:46Z</cp:lastPrinted>
  <dcterms:modified xsi:type="dcterms:W3CDTF">2026-01-24T22:14:54Z</dcterms:modified>
</cp:coreProperties>
</file>